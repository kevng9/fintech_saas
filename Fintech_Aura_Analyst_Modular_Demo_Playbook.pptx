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C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9EF5F"/>
          </a:solidFill>
          <a:ln>
            <a:solidFill>
              <a:srgbClr val="B9E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3035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B9EF5F"/>
                </a:solidFill>
                <a:latin typeface="Aptos"/>
              </a:rPr>
              <a:t>SINGLESTORE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813816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Aura Analyst for</a:t>
            </a:r>
            <a:br/>
            <a:r>
              <a:t>Financial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337560"/>
            <a:ext cx="7680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2D3CC"/>
                </a:solidFill>
                <a:latin typeface="Aptos"/>
              </a:rPr>
              <a:t>From live business signals to governed, evidence-backed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06840" y="1143000"/>
            <a:ext cx="2240280" cy="4343400"/>
          </a:xfrm>
          <a:prstGeom prst="roundRect">
            <a:avLst/>
          </a:prstGeom>
          <a:solidFill>
            <a:srgbClr val="0F3A31"/>
          </a:solidFill>
          <a:ln>
            <a:solidFill>
              <a:srgbClr val="0F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81160" y="150876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B9EF5F"/>
                </a:solidFill>
                <a:latin typeface="Aptos"/>
              </a:rPr>
              <a:t>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48088" y="19019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82A496"/>
                </a:solidFill>
                <a:latin typeface="Aptos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242316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GOVERN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48088" y="28163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82A496"/>
                </a:solidFill>
                <a:latin typeface="Aptos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333756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EXECUTE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8088" y="3730752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82A496"/>
                </a:solidFill>
                <a:latin typeface="Aptos"/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1160" y="4251960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98932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A496"/>
                </a:solidFill>
                <a:latin typeface="Aptos"/>
              </a:rPr>
              <a:t>Customer discussion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EF5F"/>
          </a:solidFill>
          <a:ln>
            <a:solidFill>
              <a:srgbClr val="B9E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5775B"/>
                </a:solidFill>
                <a:latin typeface="Aptos"/>
              </a:rPr>
              <a:t>AURA ANALYST FOR FINANCIAL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29184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0625B"/>
                </a:solidFill>
                <a:latin typeface="Apto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88136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71C17"/>
                </a:solidFill>
                <a:latin typeface="Aptos"/>
              </a:rPr>
              <a:t>Financial teams lose time between a changing signal and a confident response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865376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83080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Revenue, risk, liquidity, and customer experience can change before scheduled reports reveal the movement.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78608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96312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Investigations often cross operational systems, analytical copies, dashboards, and specialist queues.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291839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09544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Business teams wait while data teams repeatedly translate terms, rebuild joins, and reconcile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4005072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922776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The opportunity: shorten time-to-answer without weakening governance or moving accountability away from people.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788152"/>
            <a:ext cx="11000232" cy="603504"/>
          </a:xfrm>
          <a:prstGeom prst="roundRect">
            <a:avLst/>
          </a:prstGeom>
          <a:solidFill>
            <a:srgbClr val="071C17"/>
          </a:solidFill>
          <a:ln>
            <a:solidFill>
              <a:srgbClr val="071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934456"/>
            <a:ext cx="104241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Reduce the wait between signal and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EF5F"/>
          </a:solidFill>
          <a:ln>
            <a:solidFill>
              <a:srgbClr val="B9E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5775B"/>
                </a:solidFill>
                <a:latin typeface="Aptos"/>
              </a:rPr>
              <a:t>AURA ANALYST FOR FINANCIAL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29184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0625B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88136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71C17"/>
                </a:solidFill>
                <a:latin typeface="Aptos"/>
              </a:rPr>
              <a:t>Aura Analyst turns natural-language questions into governed analysis on SingleStore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865376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83080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Business users ask questions in familiar language.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78608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96312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A configured Domain supplies approved descriptions, metrics, relationships, and instructions.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291839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09544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Aura generates and executes SQL against curated SingleStore views.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4005072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922776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Answers return as summaries, tables, or visualizations and can be refined through follow-up questions.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718304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636008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SingleStore keeps current operational and analytical data queryable in one real-time foundation.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788152"/>
            <a:ext cx="11000232" cy="603504"/>
          </a:xfrm>
          <a:prstGeom prst="roundRect">
            <a:avLst/>
          </a:prstGeom>
          <a:solidFill>
            <a:srgbClr val="071C17"/>
          </a:solidFill>
          <a:ln>
            <a:solidFill>
              <a:srgbClr val="071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34456"/>
            <a:ext cx="104241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Question → governed context → SQL → evidence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EF5F"/>
          </a:solidFill>
          <a:ln>
            <a:solidFill>
              <a:srgbClr val="B9E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5775B"/>
                </a:solidFill>
                <a:latin typeface="Aptos"/>
              </a:rPr>
              <a:t>AURA ANALYST FOR FINANCIAL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29184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0625B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88136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71C17"/>
                </a:solidFill>
                <a:latin typeface="Aptos"/>
              </a:rPr>
              <a:t>This is more than a general-purpose LLM connected to warehouse tables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55648"/>
            <a:ext cx="5330952" cy="4005072"/>
          </a:xfrm>
          <a:prstGeom prst="roundRect">
            <a:avLst/>
          </a:prstGeom>
          <a:solidFill>
            <a:srgbClr val="F5EEE1"/>
          </a:solidFill>
          <a:ln>
            <a:solidFill>
              <a:srgbClr val="F5E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BE7919"/>
                </a:solidFill>
                <a:latin typeface="Aptos"/>
              </a:rPr>
              <a:t>GENERAL-PURPOSE LLM PATTERN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615184"/>
            <a:ext cx="91440" cy="91440"/>
          </a:xfrm>
          <a:prstGeom prst="roundRect">
            <a:avLst/>
          </a:prstGeom>
          <a:solidFill>
            <a:srgbClr val="BE7919"/>
          </a:solidFill>
          <a:ln>
            <a:solidFill>
              <a:srgbClr val="BE7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2542032"/>
            <a:ext cx="4343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Starts with raw schemas and prompt instructions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3209544"/>
            <a:ext cx="91440" cy="91440"/>
          </a:xfrm>
          <a:prstGeom prst="roundRect">
            <a:avLst/>
          </a:prstGeom>
          <a:solidFill>
            <a:srgbClr val="BE7919"/>
          </a:solidFill>
          <a:ln>
            <a:solidFill>
              <a:srgbClr val="BE7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136391"/>
            <a:ext cx="4343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May invent joins or select an unapproved definition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3803904"/>
            <a:ext cx="91440" cy="91440"/>
          </a:xfrm>
          <a:prstGeom prst="roundRect">
            <a:avLst/>
          </a:prstGeom>
          <a:solidFill>
            <a:srgbClr val="BE7919"/>
          </a:solidFill>
          <a:ln>
            <a:solidFill>
              <a:srgbClr val="BE7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730752"/>
            <a:ext cx="4343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Often queries a separate analytical copy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" y="4398264"/>
            <a:ext cx="91440" cy="91440"/>
          </a:xfrm>
          <a:prstGeom prst="roundRect">
            <a:avLst/>
          </a:prstGeom>
          <a:solidFill>
            <a:srgbClr val="BE7919"/>
          </a:solidFill>
          <a:ln>
            <a:solidFill>
              <a:srgbClr val="BE7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4325112"/>
            <a:ext cx="4343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Can produce answers that are difficult to verify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" y="4992624"/>
            <a:ext cx="91440" cy="91440"/>
          </a:xfrm>
          <a:prstGeom prst="roundRect">
            <a:avLst/>
          </a:prstGeom>
          <a:solidFill>
            <a:srgbClr val="BE7919"/>
          </a:solidFill>
          <a:ln>
            <a:solidFill>
              <a:srgbClr val="BE7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4919472"/>
            <a:ext cx="4343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Leaves access and decision boundaries to custom prompting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755648"/>
            <a:ext cx="5330952" cy="4005072"/>
          </a:xfrm>
          <a:prstGeom prst="roundRect">
            <a:avLst/>
          </a:prstGeom>
          <a:solidFill>
            <a:srgbClr val="DEF5EB"/>
          </a:solidFill>
          <a:ln>
            <a:solidFill>
              <a:srgbClr val="DEF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2011680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5775B"/>
                </a:solidFill>
                <a:latin typeface="Aptos"/>
              </a:rPr>
              <a:t>AURA ANALYST ON SINGLESTORE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6248" y="2615184"/>
            <a:ext cx="91440" cy="91440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2542032"/>
            <a:ext cx="4343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Starts with configured business meaning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56248" y="3209544"/>
            <a:ext cx="91440" cy="91440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84848" y="3136391"/>
            <a:ext cx="4343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Uses documented metrics and relationships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56248" y="3803904"/>
            <a:ext cx="91440" cy="91440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4848" y="3730752"/>
            <a:ext cx="4343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Executes against curated views on the live foundation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56248" y="4398264"/>
            <a:ext cx="91440" cy="91440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4325112"/>
            <a:ext cx="4343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Can expose generated SQL and supporting rows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6248" y="4992624"/>
            <a:ext cx="91440" cy="91440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84848" y="4919472"/>
            <a:ext cx="43434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Uses scoped Domains while people retain decisions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053328"/>
            <a:ext cx="10835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71C17"/>
                </a:solidFill>
                <a:latin typeface="Aptos"/>
              </a:rPr>
              <a:t>Governed context. Live execution. Inspectable evidence.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EF5F"/>
          </a:solidFill>
          <a:ln>
            <a:solidFill>
              <a:srgbClr val="B9E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5775B"/>
                </a:solidFill>
                <a:latin typeface="Aptos"/>
              </a:rPr>
              <a:t>AURA ANALYST FOR FINANCIAL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29184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0625B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88136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71C17"/>
                </a:solidFill>
                <a:latin typeface="Aptos"/>
              </a:rPr>
              <a:t>Improve digital conversion by finding where high-intent journeys stall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865376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83080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See account-opening progress by channel, journey step, and review path.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78608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96312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Compare straight-through and manual-review experiences against the institution’s own baseline.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291839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09544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Move from aggregate abandonment to the affected intent cohort and its supporting journey events.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4005072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922776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Give digital, operations, and risk teams one shared evidence set for deciding what to investigate next.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788152"/>
            <a:ext cx="11000232" cy="603504"/>
          </a:xfrm>
          <a:prstGeom prst="roundRect">
            <a:avLst/>
          </a:prstGeom>
          <a:solidFill>
            <a:srgbClr val="071C17"/>
          </a:solidFill>
          <a:ln>
            <a:solidFill>
              <a:srgbClr val="071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934456"/>
            <a:ext cx="104241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Measure completion, abandonment, time to open, and investigation cycle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EF5F"/>
          </a:solidFill>
          <a:ln>
            <a:solidFill>
              <a:srgbClr val="B9E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5775B"/>
                </a:solidFill>
                <a:latin typeface="Aptos"/>
              </a:rPr>
              <a:t>AURA ANALYST FOR FINANCIAL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29184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0625B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88136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71C17"/>
                </a:solidFill>
                <a:latin typeface="Aptos"/>
              </a:rPr>
              <a:t>Protect payment revenue by isolating authorization and latency changes quickly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865376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83080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Monitor authorization rate, latency, and decline mix across processors, rails, regions, and merchant categories.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78608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96312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Detect a changing payment lane before a portfolio average hides the deterioration.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291839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09544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Use follow-up questions to identify the response codes and segments behind the movement.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4005072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922776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Reach individual authorization events while payment operations retains routing and partner decisions.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788152"/>
            <a:ext cx="11000232" cy="603504"/>
          </a:xfrm>
          <a:prstGeom prst="roundRect">
            <a:avLst/>
          </a:prstGeom>
          <a:solidFill>
            <a:srgbClr val="071C17"/>
          </a:solidFill>
          <a:ln>
            <a:solidFill>
              <a:srgbClr val="071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934456"/>
            <a:ext cx="104241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Move from portfolio signal to affected lane and supporting events.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EF5F"/>
          </a:solidFill>
          <a:ln>
            <a:solidFill>
              <a:srgbClr val="B9E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5775B"/>
                </a:solidFill>
                <a:latin typeface="Aptos"/>
              </a:rPr>
              <a:t>AURA ANALYST FOR FINANCIAL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29184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0625B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88136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71C17"/>
                </a:solidFill>
                <a:latin typeface="Aptos"/>
              </a:rPr>
              <a:t>Assemble evidence faster across fraud, AML, and disputes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865376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83080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Trace fraud loss from the aggregate to contributing channels, segments, and cases.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78608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96312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Connect an AML alert to transaction value, counterparties, geographies, and prior activity.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291839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09544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Identify dispute queues approaching service-level risk and open the timeline behind an individual case.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4005072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922776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Keep investigation, escalation, filing, and adjudication decisions with authorized teams.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788152"/>
            <a:ext cx="11000232" cy="603504"/>
          </a:xfrm>
          <a:prstGeom prst="roundRect">
            <a:avLst/>
          </a:prstGeom>
          <a:solidFill>
            <a:srgbClr val="071C17"/>
          </a:solidFill>
          <a:ln>
            <a:solidFill>
              <a:srgbClr val="071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934456"/>
            <a:ext cx="104241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Find the evidence faster. Keep the decision with the responsible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EF5F"/>
          </a:solidFill>
          <a:ln>
            <a:solidFill>
              <a:srgbClr val="B9E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5775B"/>
                </a:solidFill>
                <a:latin typeface="Aptos"/>
              </a:rPr>
              <a:t>AURA ANALYST FOR FINANCIAL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29184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0625B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88136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71C17"/>
                </a:solidFill>
                <a:latin typeface="Aptos"/>
              </a:rPr>
              <a:t>Give finance and credit teams current context without automating regulated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865376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83080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Compare liquidity positions, forecast variance, queued payments, and upcoming funding windows.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78608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96312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Review application evidence and identify items that remain unverified.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291839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09544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Compare pending requests with portfolio concentration as an explicitly illustrative view.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4005072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922776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Preserve treasury, credit, pricing, approval, and adverse-action ownership with responsible professionals.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788152"/>
            <a:ext cx="11000232" cy="603504"/>
          </a:xfrm>
          <a:prstGeom prst="roundRect">
            <a:avLst/>
          </a:prstGeom>
          <a:solidFill>
            <a:srgbClr val="071C17"/>
          </a:solidFill>
          <a:ln>
            <a:solidFill>
              <a:srgbClr val="071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934456"/>
            <a:ext cx="104241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Current context for faster review, not autonomous financial decisions.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EF5F"/>
          </a:solidFill>
          <a:ln>
            <a:solidFill>
              <a:srgbClr val="B9E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5775B"/>
                </a:solidFill>
                <a:latin typeface="Aptos"/>
              </a:rPr>
              <a:t>AURA ANALYST FOR FINANCIAL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29184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0625B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88136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71C17"/>
                </a:solidFill>
                <a:latin typeface="Aptos"/>
              </a:rPr>
              <a:t>Bring governed explanations into the customer experience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865376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83080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Embed streamed analytical answers inside a bank or fintech application.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78608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96312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Explain spending changes with the transactions that support the answer.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291839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09544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Continue a conversation without forcing the customer to restate context.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4005072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922776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Restrict the experience to the authorized customer and configured Domain.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718304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636008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Let the institution own authentication, product experience, telemetry, and downstream actions.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788152"/>
            <a:ext cx="11000232" cy="603504"/>
          </a:xfrm>
          <a:prstGeom prst="roundRect">
            <a:avLst/>
          </a:prstGeom>
          <a:solidFill>
            <a:srgbClr val="071C17"/>
          </a:solidFill>
          <a:ln>
            <a:solidFill>
              <a:srgbClr val="071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34456"/>
            <a:ext cx="104241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Turn governed analysis into an experience customers can understand.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EF5F"/>
          </a:solidFill>
          <a:ln>
            <a:solidFill>
              <a:srgbClr val="B9E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5775B"/>
                </a:solidFill>
                <a:latin typeface="Aptos"/>
              </a:rPr>
              <a:t>AURA ANALYST FOR FINANCIAL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29184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0625B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88136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71C17"/>
                </a:solidFill>
                <a:latin typeface="Aptos"/>
              </a:rPr>
              <a:t>Trust is designed into the path from question to answer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783080"/>
            <a:ext cx="3493008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7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93392"/>
            <a:ext cx="30358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5775B"/>
                </a:solidFill>
                <a:latin typeface="Aptos"/>
              </a:rPr>
              <a:t>GOVERNED MEANING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50008"/>
            <a:ext cx="30358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72420"/>
                </a:solidFill>
                <a:latin typeface="Aptos"/>
              </a:rPr>
              <a:t>Domain definitions and relationships shape business terms.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83080"/>
            <a:ext cx="3493008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7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993392"/>
            <a:ext cx="30358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5775B"/>
                </a:solidFill>
                <a:latin typeface="Aptos"/>
              </a:rPr>
              <a:t>SCOPED 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350008"/>
            <a:ext cx="30358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72420"/>
                </a:solidFill>
                <a:latin typeface="Aptos"/>
              </a:rPr>
              <a:t>Each integration is authorized for its configured Domain.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783080"/>
            <a:ext cx="3493008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7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93392"/>
            <a:ext cx="30358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5775B"/>
                </a:solidFill>
                <a:latin typeface="Aptos"/>
              </a:rPr>
              <a:t>INSPECTABLE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350008"/>
            <a:ext cx="30358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72420"/>
                </a:solidFill>
                <a:latin typeface="Aptos"/>
              </a:rPr>
              <a:t>Generated SQL and returned data support human review.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355848"/>
            <a:ext cx="3493008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7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66160"/>
            <a:ext cx="303580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5775B"/>
                </a:solidFill>
                <a:latin typeface="Aptos"/>
              </a:rPr>
              <a:t>CURRENT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922776"/>
            <a:ext cx="303580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72420"/>
                </a:solidFill>
                <a:latin typeface="Aptos"/>
              </a:rPr>
              <a:t>Curated views expose queryable business state, not a stale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355848"/>
            <a:ext cx="7242048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7E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3566160"/>
            <a:ext cx="6784848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5775B"/>
                </a:solidFill>
                <a:latin typeface="Aptos"/>
              </a:rPr>
              <a:t>HUMAN ACCOUNTABILITY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922776"/>
            <a:ext cx="678484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72420"/>
                </a:solidFill>
                <a:latin typeface="Aptos"/>
              </a:rPr>
              <a:t>People own regulated and customer-impacting actions.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084064"/>
            <a:ext cx="11000232" cy="1005840"/>
          </a:xfrm>
          <a:prstGeom prst="roundRect">
            <a:avLst/>
          </a:prstGeom>
          <a:solidFill>
            <a:srgbClr val="071C17"/>
          </a:solidFill>
          <a:ln>
            <a:solidFill>
              <a:srgbClr val="071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330952"/>
            <a:ext cx="10442448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Aura Analyst and its APIs are Preview capabilities. Production use requires validation of security, quality, performance, and operating controls.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EF5F"/>
          </a:solidFill>
          <a:ln>
            <a:solidFill>
              <a:srgbClr val="B9E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5775B"/>
                </a:solidFill>
                <a:latin typeface="Aptos"/>
              </a:rPr>
              <a:t>AURA ANALYST FOR FINANCIAL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29184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0625B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88136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71C17"/>
                </a:solidFill>
                <a:latin typeface="Aptos"/>
              </a:rPr>
              <a:t>One data foundation can also improve the economics of AI at scale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865376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83080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AI operating cost includes both model consumption and the data platforms each question repeatedly queries.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78608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96312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Fragmented architectures add operational storage, ETL, analytical copies, warehouse compute, and model tokens.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3291839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09544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SingleStore can serve current operational data and curated analytical views from one engine.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4005072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922776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Domain context narrows questions to approved data and meaning instead of broad schema exploration.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718304"/>
            <a:ext cx="109728" cy="109728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636008"/>
            <a:ext cx="10469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72420"/>
                </a:solidFill>
                <a:latin typeface="Aptos"/>
              </a:rPr>
              <a:t>The same governed path can support an operator, an API integration, or an embedded customer experience.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788152"/>
            <a:ext cx="11000232" cy="603504"/>
          </a:xfrm>
          <a:prstGeom prst="roundRect">
            <a:avLst/>
          </a:prstGeom>
          <a:solidFill>
            <a:srgbClr val="071C17"/>
          </a:solidFill>
          <a:ln>
            <a:solidFill>
              <a:srgbClr val="071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934456"/>
            <a:ext cx="104241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Validate savings with your actual model, warehouse, pipeline, and operations baseline.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9EF5F"/>
          </a:solidFill>
          <a:ln>
            <a:solidFill>
              <a:srgbClr val="B9EF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15775B"/>
                </a:solidFill>
                <a:latin typeface="Aptos"/>
              </a:rPr>
              <a:t>AURA ANALYST FOR FINANCIAL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329184"/>
            <a:ext cx="502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1">
                <a:solidFill>
                  <a:srgbClr val="50625B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88136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071C17"/>
                </a:solidFill>
                <a:latin typeface="Aptos"/>
              </a:rPr>
              <a:t>Validate one valuable decision with your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19072"/>
            <a:ext cx="530352" cy="530352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92224"/>
            <a:ext cx="5303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73736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71C17"/>
                </a:solidFill>
                <a:latin typeface="Aptos"/>
              </a:rPr>
              <a:t>Choose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1719072"/>
            <a:ext cx="8915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Select a decision where faster time-to-answer has measurable value.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2432304"/>
            <a:ext cx="530352" cy="530352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505456"/>
            <a:ext cx="5303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5059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71C17"/>
                </a:solidFill>
                <a:latin typeface="Aptos"/>
              </a:rPr>
              <a:t>Connect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2432304"/>
            <a:ext cx="8915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Bring the required data and define the governed business context.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145536"/>
            <a:ext cx="530352" cy="530352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18688"/>
            <a:ext cx="5303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6382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71C17"/>
                </a:solidFill>
                <a:latin typeface="Aptos"/>
              </a:rPr>
              <a:t>Agree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3160" y="3145536"/>
            <a:ext cx="8915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Set representative questions, access boundaries, and quality criteria.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3858768"/>
            <a:ext cx="530352" cy="530352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931920"/>
            <a:ext cx="5303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877056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71C17"/>
                </a:solidFill>
                <a:latin typeface="Aptos"/>
              </a:rPr>
              <a:t>Measure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858768"/>
            <a:ext cx="8915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Compare the current baseline with the proposed analytical path.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572000"/>
            <a:ext cx="530352" cy="530352"/>
          </a:xfrm>
          <a:prstGeom prst="roundRect">
            <a:avLst/>
          </a:prstGeom>
          <a:solidFill>
            <a:srgbClr val="15775B"/>
          </a:solidFill>
          <a:ln>
            <a:solidFill>
              <a:srgbClr val="1577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4645152"/>
            <a:ext cx="5303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590288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71C17"/>
                </a:solidFill>
                <a:latin typeface="Aptos"/>
              </a:rPr>
              <a:t>Decide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572000"/>
            <a:ext cx="8915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72420"/>
                </a:solidFill>
                <a:latin typeface="Aptos"/>
              </a:rPr>
              <a:t>Evaluate value, feasibility, security, and ownership before expanding.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468112"/>
            <a:ext cx="11000232" cy="804672"/>
          </a:xfrm>
          <a:prstGeom prst="roundRect">
            <a:avLst/>
          </a:prstGeom>
          <a:solidFill>
            <a:srgbClr val="071C17"/>
          </a:solidFill>
          <a:ln>
            <a:solidFill>
              <a:srgbClr val="071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660136"/>
            <a:ext cx="1044244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Next step: schedule a joint value-and-data workshop with the business, data, security, and executive owners.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SingleStore Aura Analyst for Financial Services</dc:title>
  <dc:subject>Customer-facing business value and validation deck</dc:subject>
  <dc:creator>SingleStore</dc:creator>
  <cp:keywords>Aura Analyst, SingleStore, financial services, governed analytics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