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Ask which decision grows more valuable if time-to-know falls.
• Anchor on cost of delay before showing any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Validate which conversion outcome has the highest value, the current baseline, and the event creating the deadline.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Validate the revenue thresholds, revenue-at-risk calculation, and upcoming 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Validate the priority loss category, acceptable false-positive trade-off, and deadline 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Validate the policy outcome at risk, backlog targets, and examination or milestone.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Validate the highest-exposure SLA, cost drivers, and volume or scrutiny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Validate the measure driving action, cost of delayed visibility, and settlement or funding event.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Validate the delayed decision stage, concentration thresholds, and review or policy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Validate high-volume customer questions, the monetization behavior, and release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/assets/wordmark_footer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6382512"/>
            <a:ext cx="1225296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0B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/assets/wordmark_footer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6382512"/>
            <a:ext cx="1225296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AA5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502920"/>
            <a:ext cx="11018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8"/>
              </a:lnSpc>
              <a:buNone/>
            </a:pPr>
            <a:r>
              <a:rPr lang="en-US" sz="26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Discovery demos earn attention by making one costly decision materially faster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85216" y="1783080"/>
            <a:ext cx="11018520" cy="12802"/>
          </a:xfrm>
          <a:prstGeom prst="rect">
            <a:avLst/>
          </a:prstGeom>
          <a:solidFill>
            <a:srgbClr val="D9D6DE"/>
          </a:solidFill>
          <a:ln/>
        </p:spPr>
      </p:sp>
      <p:sp>
        <p:nvSpPr>
          <p:cNvPr id="4" name="Text 2"/>
          <p:cNvSpPr/>
          <p:nvPr/>
        </p:nvSpPr>
        <p:spPr>
          <a:xfrm>
            <a:off x="585216" y="2148840"/>
            <a:ext cx="5074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68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 with a consequential customer decision, its current time-to-know, and the cost of delay.</a:t>
            </a:r>
            <a:endParaRPr lang="en-US" sz="1400" dirty="0"/>
          </a:p>
          <a:p>
            <a:pPr algn="l" marL="152400" indent="-152400">
              <a:lnSpc>
                <a:spcPts val="168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 the observable customer delta before selecting capabilities or screens.</a:t>
            </a:r>
            <a:endParaRPr lang="en-US" sz="1400" dirty="0"/>
          </a:p>
          <a:p>
            <a:pPr algn="l" marL="152400" indent="-152400">
              <a:lnSpc>
                <a:spcPts val="168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 business outcome, regulated risk, and technical feasibility from the first minute.</a:t>
            </a:r>
            <a:endParaRPr lang="en-US" sz="1400" dirty="0"/>
          </a:p>
          <a:p>
            <a:pPr algn="l" marL="152400" indent="-152400">
              <a:lnSpc>
                <a:spcPts val="168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Treat every business delta as a hypothesis until customer owners validate it.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126480" y="2057400"/>
            <a:ext cx="5440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DECISION LATENCY: SIGNAL TO ACTION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126480" y="2651760"/>
            <a:ext cx="1236726" cy="566928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0" y="2651760"/>
            <a:ext cx="12367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Signal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63206" y="2935224"/>
            <a:ext cx="164592" cy="0"/>
          </a:xfrm>
          <a:prstGeom prst="line">
            <a:avLst/>
          </a:prstGeom>
          <a:noFill/>
          <a:ln w="15875">
            <a:solidFill>
              <a:srgbClr val="52525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527798" y="2651760"/>
            <a:ext cx="1236726" cy="566928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27798" y="2651760"/>
            <a:ext cx="12367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Investigation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764524" y="2935224"/>
            <a:ext cx="164592" cy="0"/>
          </a:xfrm>
          <a:prstGeom prst="line">
            <a:avLst/>
          </a:prstGeom>
          <a:noFill/>
          <a:ln w="15875">
            <a:solidFill>
              <a:srgbClr val="52525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929116" y="2651760"/>
            <a:ext cx="1236726" cy="566928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29116" y="2651760"/>
            <a:ext cx="12367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Decision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165842" y="2935224"/>
            <a:ext cx="164592" cy="0"/>
          </a:xfrm>
          <a:prstGeom prst="line">
            <a:avLst/>
          </a:prstGeom>
          <a:noFill/>
          <a:ln w="15875">
            <a:solidFill>
              <a:srgbClr val="52525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330434" y="2651760"/>
            <a:ext cx="1236726" cy="566928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0434" y="2651760"/>
            <a:ext cx="123672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Action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26480" y="3703320"/>
            <a:ext cx="5440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525252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CURRENT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3922776"/>
            <a:ext cx="5440680" cy="310896"/>
          </a:xfrm>
          <a:prstGeom prst="rect">
            <a:avLst/>
          </a:prstGeom>
          <a:solidFill>
            <a:srgbClr val="D9D6DE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3922776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Days to weeks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4480560"/>
            <a:ext cx="5440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TARGET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26480" y="4700016"/>
            <a:ext cx="1849831" cy="310896"/>
          </a:xfrm>
          <a:prstGeom prst="rect">
            <a:avLst/>
          </a:prstGeom>
          <a:solidFill>
            <a:srgbClr val="820DDF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4700016"/>
            <a:ext cx="18498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Minutes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516636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Falling time-to-know is the demo's central promise.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502920"/>
            <a:ext cx="11018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92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 modular system connects eight customer decisions to eight reusable proofs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85216" y="1691640"/>
            <a:ext cx="11018520" cy="12802"/>
          </a:xfrm>
          <a:prstGeom prst="rect">
            <a:avLst/>
          </a:prstGeom>
          <a:solidFill>
            <a:srgbClr val="2A2A33"/>
          </a:solidFill>
          <a:ln/>
        </p:spPr>
      </p:sp>
      <p:sp>
        <p:nvSpPr>
          <p:cNvPr id="4" name="Text 2"/>
          <p:cNvSpPr/>
          <p:nvPr/>
        </p:nvSpPr>
        <p:spPr>
          <a:xfrm>
            <a:off x="585216" y="1965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50" kern="0" dirty="0">
                <a:solidFill>
                  <a:srgbClr val="D199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ANCHORS — CUSTOMER DECISIONS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85216" y="2395728"/>
            <a:ext cx="4572000" cy="365760"/>
          </a:xfrm>
          <a:prstGeom prst="rect">
            <a:avLst/>
          </a:prstGeom>
          <a:solidFill>
            <a:srgbClr val="15151C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2395728"/>
            <a:ext cx="566928" cy="365760"/>
          </a:xfrm>
          <a:prstGeom prst="rect">
            <a:avLst/>
          </a:prstGeom>
          <a:solidFill>
            <a:srgbClr val="D199FF"/>
          </a:solidFill>
          <a:ln/>
        </p:spPr>
      </p:sp>
      <p:sp>
        <p:nvSpPr>
          <p:cNvPr id="7" name="Text 5"/>
          <p:cNvSpPr/>
          <p:nvPr/>
        </p:nvSpPr>
        <p:spPr>
          <a:xfrm>
            <a:off x="585216" y="239572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98448" y="23957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Digital Journey Intelligence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5216" y="2830068"/>
            <a:ext cx="4572000" cy="365760"/>
          </a:xfrm>
          <a:prstGeom prst="rect">
            <a:avLst/>
          </a:prstGeom>
          <a:solidFill>
            <a:srgbClr val="15151C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5216" y="2830068"/>
            <a:ext cx="566928" cy="365760"/>
          </a:xfrm>
          <a:prstGeom prst="rect">
            <a:avLst/>
          </a:prstGeom>
          <a:solidFill>
            <a:srgbClr val="D199FF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" y="283006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98448" y="28300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Payment Pulse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5216" y="3264408"/>
            <a:ext cx="4572000" cy="365760"/>
          </a:xfrm>
          <a:prstGeom prst="rect">
            <a:avLst/>
          </a:prstGeom>
          <a:solidFill>
            <a:srgbClr val="15151C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" y="3264408"/>
            <a:ext cx="566928" cy="365760"/>
          </a:xfrm>
          <a:prstGeom prst="rect">
            <a:avLst/>
          </a:prstGeom>
          <a:solidFill>
            <a:srgbClr val="D199FF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" y="326440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98448" y="32644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Trace the Loss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85216" y="3698748"/>
            <a:ext cx="4572000" cy="365760"/>
          </a:xfrm>
          <a:prstGeom prst="rect">
            <a:avLst/>
          </a:prstGeom>
          <a:solidFill>
            <a:srgbClr val="15151C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216" y="3698748"/>
            <a:ext cx="566928" cy="365760"/>
          </a:xfrm>
          <a:prstGeom prst="rect">
            <a:avLst/>
          </a:prstGeom>
          <a:solidFill>
            <a:srgbClr val="D199FF"/>
          </a:solidFill>
          <a:ln/>
        </p:spPr>
      </p:sp>
      <p:sp>
        <p:nvSpPr>
          <p:cNvPr id="19" name="Text 17"/>
          <p:cNvSpPr/>
          <p:nvPr/>
        </p:nvSpPr>
        <p:spPr>
          <a:xfrm>
            <a:off x="585216" y="369874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98448" y="36987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Alert-to-Evidence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85216" y="4133088"/>
            <a:ext cx="4572000" cy="365760"/>
          </a:xfrm>
          <a:prstGeom prst="rect">
            <a:avLst/>
          </a:prstGeom>
          <a:solidFill>
            <a:srgbClr val="15151C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" y="4133088"/>
            <a:ext cx="566928" cy="365760"/>
          </a:xfrm>
          <a:prstGeom prst="rect">
            <a:avLst/>
          </a:prstGeom>
          <a:solidFill>
            <a:srgbClr val="D199FF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" y="413308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98448" y="41330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Dispute Resolution Lens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85216" y="4567428"/>
            <a:ext cx="4572000" cy="365760"/>
          </a:xfrm>
          <a:prstGeom prst="rect">
            <a:avLst/>
          </a:prstGeom>
          <a:solidFill>
            <a:srgbClr val="15151C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5216" y="4567428"/>
            <a:ext cx="566928" cy="365760"/>
          </a:xfrm>
          <a:prstGeom prst="rect">
            <a:avLst/>
          </a:prstGeom>
          <a:solidFill>
            <a:srgbClr val="D199FF"/>
          </a:solidFill>
          <a:ln/>
        </p:spPr>
      </p:sp>
      <p:sp>
        <p:nvSpPr>
          <p:cNvPr id="27" name="Text 25"/>
          <p:cNvSpPr/>
          <p:nvPr/>
        </p:nvSpPr>
        <p:spPr>
          <a:xfrm>
            <a:off x="585216" y="456742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98448" y="45674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Liquidity Command Center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85216" y="5001768"/>
            <a:ext cx="4572000" cy="365760"/>
          </a:xfrm>
          <a:prstGeom prst="rect">
            <a:avLst/>
          </a:prstGeom>
          <a:solidFill>
            <a:srgbClr val="15151C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5216" y="5001768"/>
            <a:ext cx="566928" cy="365760"/>
          </a:xfrm>
          <a:prstGeom prst="rect">
            <a:avLst/>
          </a:prstGeom>
          <a:solidFill>
            <a:srgbClr val="D199FF"/>
          </a:solidFill>
          <a:ln/>
        </p:spPr>
      </p:sp>
      <p:sp>
        <p:nvSpPr>
          <p:cNvPr id="31" name="Text 29"/>
          <p:cNvSpPr/>
          <p:nvPr/>
        </p:nvSpPr>
        <p:spPr>
          <a:xfrm>
            <a:off x="585216" y="500176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98448" y="50017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Credit Risk Pulse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85216" y="5436108"/>
            <a:ext cx="4572000" cy="365760"/>
          </a:xfrm>
          <a:prstGeom prst="rect">
            <a:avLst/>
          </a:prstGeom>
          <a:solidFill>
            <a:srgbClr val="15151C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5216" y="5436108"/>
            <a:ext cx="566928" cy="365760"/>
          </a:xfrm>
          <a:prstGeom prst="rect">
            <a:avLst/>
          </a:prstGeom>
          <a:solidFill>
            <a:srgbClr val="D199FF"/>
          </a:solidFill>
          <a:ln/>
        </p:spPr>
      </p:sp>
      <p:sp>
        <p:nvSpPr>
          <p:cNvPr id="35" name="Text 33"/>
          <p:cNvSpPr/>
          <p:nvPr/>
        </p:nvSpPr>
        <p:spPr>
          <a:xfrm>
            <a:off x="585216" y="543610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298448" y="54361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Explain My Money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031736" y="1965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50" kern="0" dirty="0">
                <a:solidFill>
                  <a:srgbClr val="FFCB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PROOFS — REUSABLE CAPABILITIES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031736" y="2395728"/>
            <a:ext cx="4572000" cy="365760"/>
          </a:xfrm>
          <a:prstGeom prst="rect">
            <a:avLst/>
          </a:prstGeom>
          <a:solidFill>
            <a:srgbClr val="15151C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31736" y="2395728"/>
            <a:ext cx="566928" cy="365760"/>
          </a:xfrm>
          <a:prstGeom prst="rect">
            <a:avLst/>
          </a:prstGeom>
          <a:solidFill>
            <a:srgbClr val="FFCB2E"/>
          </a:solidFill>
          <a:ln/>
        </p:spPr>
      </p:sp>
      <p:sp>
        <p:nvSpPr>
          <p:cNvPr id="40" name="Text 38"/>
          <p:cNvSpPr/>
          <p:nvPr/>
        </p:nvSpPr>
        <p:spPr>
          <a:xfrm>
            <a:off x="7031736" y="239572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P1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744968" y="23957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Conversational Drill-Down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031736" y="2830068"/>
            <a:ext cx="4572000" cy="365760"/>
          </a:xfrm>
          <a:prstGeom prst="rect">
            <a:avLst/>
          </a:prstGeom>
          <a:solidFill>
            <a:srgbClr val="15151C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031736" y="2830068"/>
            <a:ext cx="566928" cy="365760"/>
          </a:xfrm>
          <a:prstGeom prst="rect">
            <a:avLst/>
          </a:prstGeom>
          <a:solidFill>
            <a:srgbClr val="FFCB2E"/>
          </a:solidFill>
          <a:ln/>
        </p:spPr>
      </p:sp>
      <p:sp>
        <p:nvSpPr>
          <p:cNvPr id="44" name="Text 42"/>
          <p:cNvSpPr/>
          <p:nvPr/>
        </p:nvSpPr>
        <p:spPr>
          <a:xfrm>
            <a:off x="7031736" y="283006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P2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744968" y="28300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Event Impact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7031736" y="3264408"/>
            <a:ext cx="4572000" cy="365760"/>
          </a:xfrm>
          <a:prstGeom prst="rect">
            <a:avLst/>
          </a:prstGeom>
          <a:solidFill>
            <a:srgbClr val="15151C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031736" y="3264408"/>
            <a:ext cx="566928" cy="365760"/>
          </a:xfrm>
          <a:prstGeom prst="rect">
            <a:avLst/>
          </a:prstGeom>
          <a:solidFill>
            <a:srgbClr val="FFCB2E"/>
          </a:solidFill>
          <a:ln/>
        </p:spPr>
      </p:sp>
      <p:sp>
        <p:nvSpPr>
          <p:cNvPr id="48" name="Text 46"/>
          <p:cNvSpPr/>
          <p:nvPr/>
        </p:nvSpPr>
        <p:spPr>
          <a:xfrm>
            <a:off x="7031736" y="326440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P3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744968" y="32644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Transparent Answer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7031736" y="3698748"/>
            <a:ext cx="4572000" cy="365760"/>
          </a:xfrm>
          <a:prstGeom prst="rect">
            <a:avLst/>
          </a:prstGeom>
          <a:solidFill>
            <a:srgbClr val="15151C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31736" y="3698748"/>
            <a:ext cx="566928" cy="365760"/>
          </a:xfrm>
          <a:prstGeom prst="rect">
            <a:avLst/>
          </a:prstGeom>
          <a:solidFill>
            <a:srgbClr val="FFCB2E"/>
          </a:solidFill>
          <a:ln/>
        </p:spPr>
      </p:sp>
      <p:sp>
        <p:nvSpPr>
          <p:cNvPr id="52" name="Text 50"/>
          <p:cNvSpPr/>
          <p:nvPr/>
        </p:nvSpPr>
        <p:spPr>
          <a:xfrm>
            <a:off x="7031736" y="369874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P4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744968" y="36987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Governed Business Context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7031736" y="4133088"/>
            <a:ext cx="4572000" cy="365760"/>
          </a:xfrm>
          <a:prstGeom prst="rect">
            <a:avLst/>
          </a:prstGeom>
          <a:solidFill>
            <a:srgbClr val="15151C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031736" y="4133088"/>
            <a:ext cx="566928" cy="365760"/>
          </a:xfrm>
          <a:prstGeom prst="rect">
            <a:avLst/>
          </a:prstGeom>
          <a:solidFill>
            <a:srgbClr val="FFCB2E"/>
          </a:solidFill>
          <a:ln/>
        </p:spPr>
      </p:sp>
      <p:sp>
        <p:nvSpPr>
          <p:cNvPr id="56" name="Text 54"/>
          <p:cNvSpPr/>
          <p:nvPr/>
        </p:nvSpPr>
        <p:spPr>
          <a:xfrm>
            <a:off x="7031736" y="413308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P5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7744968" y="41330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Scoped Access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7031736" y="4567428"/>
            <a:ext cx="4572000" cy="365760"/>
          </a:xfrm>
          <a:prstGeom prst="rect">
            <a:avLst/>
          </a:prstGeom>
          <a:solidFill>
            <a:srgbClr val="15151C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031736" y="4567428"/>
            <a:ext cx="566928" cy="365760"/>
          </a:xfrm>
          <a:prstGeom prst="rect">
            <a:avLst/>
          </a:prstGeom>
          <a:solidFill>
            <a:srgbClr val="FFCB2E"/>
          </a:solidFill>
          <a:ln/>
        </p:spPr>
      </p:sp>
      <p:sp>
        <p:nvSpPr>
          <p:cNvPr id="60" name="Text 58"/>
          <p:cNvSpPr/>
          <p:nvPr/>
        </p:nvSpPr>
        <p:spPr>
          <a:xfrm>
            <a:off x="7031736" y="456742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P6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7744968" y="45674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Embedded Streaming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7031736" y="5001768"/>
            <a:ext cx="4572000" cy="365760"/>
          </a:xfrm>
          <a:prstGeom prst="rect">
            <a:avLst/>
          </a:prstGeom>
          <a:solidFill>
            <a:srgbClr val="15151C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031736" y="5001768"/>
            <a:ext cx="566928" cy="365760"/>
          </a:xfrm>
          <a:prstGeom prst="rect">
            <a:avLst/>
          </a:prstGeom>
          <a:solidFill>
            <a:srgbClr val="FFCB2E"/>
          </a:solidFill>
          <a:ln/>
        </p:spPr>
      </p:sp>
      <p:sp>
        <p:nvSpPr>
          <p:cNvPr id="64" name="Text 62"/>
          <p:cNvSpPr/>
          <p:nvPr/>
        </p:nvSpPr>
        <p:spPr>
          <a:xfrm>
            <a:off x="7031736" y="500176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P7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7744968" y="50017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Integration</a:t>
            </a:r>
            <a:endParaRPr lang="en-US" sz="1250" dirty="0"/>
          </a:p>
        </p:txBody>
      </p:sp>
      <p:sp>
        <p:nvSpPr>
          <p:cNvPr id="66" name="Shape 64"/>
          <p:cNvSpPr/>
          <p:nvPr/>
        </p:nvSpPr>
        <p:spPr>
          <a:xfrm>
            <a:off x="7031736" y="5436108"/>
            <a:ext cx="4572000" cy="365760"/>
          </a:xfrm>
          <a:prstGeom prst="rect">
            <a:avLst/>
          </a:prstGeom>
          <a:solidFill>
            <a:srgbClr val="15151C"/>
          </a:solidFill>
          <a:ln w="9525">
            <a:solidFill>
              <a:srgbClr val="2E2E3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031736" y="5436108"/>
            <a:ext cx="566928" cy="365760"/>
          </a:xfrm>
          <a:prstGeom prst="rect">
            <a:avLst/>
          </a:prstGeom>
          <a:solidFill>
            <a:srgbClr val="FFCB2E"/>
          </a:solidFill>
          <a:ln/>
        </p:spPr>
      </p:sp>
      <p:sp>
        <p:nvSpPr>
          <p:cNvPr id="68" name="Text 66"/>
          <p:cNvSpPr/>
          <p:nvPr/>
        </p:nvSpPr>
        <p:spPr>
          <a:xfrm>
            <a:off x="7031736" y="543610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P8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7744968" y="54361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Reusable Decision View</a:t>
            </a:r>
            <a:endParaRPr lang="en-US" sz="1250" dirty="0"/>
          </a:p>
        </p:txBody>
      </p:sp>
      <p:sp>
        <p:nvSpPr>
          <p:cNvPr id="70" name="Shape 68"/>
          <p:cNvSpPr/>
          <p:nvPr/>
        </p:nvSpPr>
        <p:spPr>
          <a:xfrm>
            <a:off x="5157216" y="2578608"/>
            <a:ext cx="1874520" cy="0"/>
          </a:xfrm>
          <a:prstGeom prst="line">
            <a:avLst/>
          </a:prstGeom>
          <a:noFill/>
          <a:ln w="12700">
            <a:solidFill>
              <a:srgbClr val="3A3A45"/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>
            <a:off x="5157216" y="3012948"/>
            <a:ext cx="1874520" cy="0"/>
          </a:xfrm>
          <a:prstGeom prst="line">
            <a:avLst/>
          </a:prstGeom>
          <a:noFill/>
          <a:ln w="12700">
            <a:solidFill>
              <a:srgbClr val="3A3A45"/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>
            <a:off x="5157216" y="3447288"/>
            <a:ext cx="1874520" cy="0"/>
          </a:xfrm>
          <a:prstGeom prst="line">
            <a:avLst/>
          </a:prstGeom>
          <a:noFill/>
          <a:ln w="12700">
            <a:solidFill>
              <a:srgbClr val="3A3A45"/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5157216" y="3881628"/>
            <a:ext cx="1874520" cy="0"/>
          </a:xfrm>
          <a:prstGeom prst="line">
            <a:avLst/>
          </a:prstGeom>
          <a:noFill/>
          <a:ln w="12700">
            <a:solidFill>
              <a:srgbClr val="3A3A45"/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5157216" y="4315968"/>
            <a:ext cx="1874520" cy="0"/>
          </a:xfrm>
          <a:prstGeom prst="line">
            <a:avLst/>
          </a:prstGeom>
          <a:noFill/>
          <a:ln w="12700">
            <a:solidFill>
              <a:srgbClr val="3A3A45"/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5157216" y="4750308"/>
            <a:ext cx="1874520" cy="0"/>
          </a:xfrm>
          <a:prstGeom prst="line">
            <a:avLst/>
          </a:prstGeom>
          <a:noFill/>
          <a:ln w="12700">
            <a:solidFill>
              <a:srgbClr val="3A3A45"/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>
            <a:off x="5157216" y="5184648"/>
            <a:ext cx="1874520" cy="0"/>
          </a:xfrm>
          <a:prstGeom prst="line">
            <a:avLst/>
          </a:prstGeom>
          <a:noFill/>
          <a:ln w="12700">
            <a:solidFill>
              <a:srgbClr val="3A3A45"/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>
            <a:off x="5157216" y="5618988"/>
            <a:ext cx="1874520" cy="0"/>
          </a:xfrm>
          <a:prstGeom prst="line">
            <a:avLst/>
          </a:prstGeom>
          <a:noFill/>
          <a:ln w="12700">
            <a:solidFill>
              <a:srgbClr val="3A3A45"/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>
            <a:off x="585216" y="6355080"/>
            <a:ext cx="11018520" cy="914"/>
          </a:xfrm>
          <a:prstGeom prst="rect">
            <a:avLst/>
          </a:prstGeom>
          <a:solidFill>
            <a:srgbClr val="0B0B0F"/>
          </a:solidFill>
          <a:ln/>
        </p:spPr>
      </p:sp>
      <p:sp>
        <p:nvSpPr>
          <p:cNvPr id="79" name="Text 77"/>
          <p:cNvSpPr/>
          <p:nvPr/>
        </p:nvSpPr>
        <p:spPr>
          <a:xfrm>
            <a:off x="585216" y="598932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AA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Assemble each path:  </a:t>
            </a:r>
            <a:pPr algn="ctr" indent="0" marL="0">
              <a:buNone/>
            </a:pPr>
            <a:r>
              <a:rPr lang="en-US" sz="1300" dirty="0">
                <a:solidFill>
                  <a:srgbClr val="D199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Anchor</a:t>
            </a:r>
            <a:pPr algn="ctr" indent="0" marL="0">
              <a:buNone/>
            </a:pPr>
            <a:r>
              <a:rPr lang="en-US" sz="1300" dirty="0">
                <a:solidFill>
                  <a:srgbClr val="9A9AA5"/>
                </a:solidFill>
              </a:rPr>
              <a:t>  →  </a:t>
            </a:r>
            <a:pPr algn="ctr" indent="0" marL="0">
              <a:buNone/>
            </a:pPr>
            <a:r>
              <a:rPr lang="en-US" sz="1300" dirty="0">
                <a:solidFill>
                  <a:srgbClr val="FFCB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Proof</a:t>
            </a:r>
            <a:pPr algn="ctr" indent="0" marL="0">
              <a:buNone/>
            </a:pPr>
            <a:r>
              <a:rPr lang="en-US" sz="1300" dirty="0">
                <a:solidFill>
                  <a:srgbClr val="9A9AA5"/>
                </a:solidFill>
              </a:rPr>
              <a:t>  →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Persona value</a:t>
            </a:r>
            <a:pPr algn="ctr" indent="0" marL="0">
              <a:buNone/>
            </a:pPr>
            <a:r>
              <a:rPr lang="en-US" sz="1300" dirty="0">
                <a:solidFill>
                  <a:srgbClr val="9A9AA5"/>
                </a:solidFill>
              </a:rPr>
              <a:t>  →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Validated delta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AA5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0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Head of Digital Banking needs to turn journey friction into conversion action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098280" y="45720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525252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TAKEAWAY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098280" y="658368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See Intent Earlier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85216" y="1572768"/>
            <a:ext cx="11018520" cy="12802"/>
          </a:xfrm>
          <a:prstGeom prst="rect">
            <a:avLst/>
          </a:prstGeom>
          <a:solidFill>
            <a:srgbClr val="D9D6DE"/>
          </a:solidFill>
          <a:ln/>
        </p:spPr>
      </p:sp>
      <p:sp>
        <p:nvSpPr>
          <p:cNvPr id="6" name="Text 4"/>
          <p:cNvSpPr/>
          <p:nvPr/>
        </p:nvSpPr>
        <p:spPr>
          <a:xfrm>
            <a:off x="585216" y="17007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JOB TITLE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85216" y="188366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Head of Digital Banking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216" y="2286000"/>
            <a:ext cx="11018520" cy="9144"/>
          </a:xfrm>
          <a:prstGeom prst="rect">
            <a:avLst/>
          </a:prstGeom>
          <a:solidFill>
            <a:srgbClr val="F5F3F7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2450592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BUSINESS ISSUE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5216" y="265176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7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 digital account-opening conversion and act on customer intent before opportunities are lost.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5216" y="338328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PROBLEMS / REASONS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5216" y="3584448"/>
            <a:ext cx="5257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Monthly reporting delays intervention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Onboarding, behavioral, and relationship data stay disconnected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Manual-review friction and affected cohorts are hard to isolate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5216" y="512064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DATE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5216" y="5321808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[campaign, product release, or planning date], because findings must inform the next journey or investment decision.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09360" y="2450592"/>
            <a:ext cx="528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SPECIFIC CAPABILITIES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09360" y="2651760"/>
            <a:ext cx="52852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the funnel by step and channel in natural language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straight-through and manual-review journeys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relationship-aware abandonment or intent cohorts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 governed results as tables, charts, and supporting data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09360" y="5102352"/>
            <a:ext cx="528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DELTA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09360" y="5321808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Question-to-answer time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29157" y="5321808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5696712"/>
            <a:ext cx="5285232" cy="9144"/>
          </a:xfrm>
          <a:prstGeom prst="rect">
            <a:avLst/>
          </a:prstGeom>
          <a:solidFill>
            <a:srgbClr val="F5F3F7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5705856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 requests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29157" y="5705856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6080760"/>
            <a:ext cx="5285232" cy="9144"/>
          </a:xfrm>
          <a:prstGeom prst="rect">
            <a:avLst/>
          </a:prstGeom>
          <a:solidFill>
            <a:srgbClr val="F5F3F7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6089904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Completion rate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29157" y="6089904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[baseline]%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[target]%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0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Head of Payments needs to identify revenue-impacting changes before customers feel them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098280" y="45720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525252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TAKEAWAY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098280" y="658368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Protect Every Payment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85216" y="1572768"/>
            <a:ext cx="11018520" cy="12802"/>
          </a:xfrm>
          <a:prstGeom prst="rect">
            <a:avLst/>
          </a:prstGeom>
          <a:solidFill>
            <a:srgbClr val="D9D6DE"/>
          </a:solidFill>
          <a:ln/>
        </p:spPr>
      </p:sp>
      <p:sp>
        <p:nvSpPr>
          <p:cNvPr id="6" name="Text 4"/>
          <p:cNvSpPr/>
          <p:nvPr/>
        </p:nvSpPr>
        <p:spPr>
          <a:xfrm>
            <a:off x="585216" y="17007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JOB TITLE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85216" y="188366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Head of Payments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216" y="2286000"/>
            <a:ext cx="11018520" cy="9144"/>
          </a:xfrm>
          <a:prstGeom prst="rect">
            <a:avLst/>
          </a:prstGeom>
          <a:solidFill>
            <a:srgbClr val="F5F3F7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2450592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BUSINESS ISSUE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5216" y="265176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7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Protect payment revenue and customer experience by keeping approval rates and latency within thresholds.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5216" y="338328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PROBLEMS / REASONS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5216" y="3584448"/>
            <a:ext cx="5257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Batch reports expose changes too late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Processor, rail, merchant, region, and decline data are fragmented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Operations cannot quickly isolate the affected window and segment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5216" y="512064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DATE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5216" y="5321808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[peak-volume event, processor migration, or contract renewal], because performance must be validated before the commercial commitment.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09360" y="2450592"/>
            <a:ext cx="528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SPECIFIC CAPABILITIES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09360" y="2651760"/>
            <a:ext cx="52852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Show hourly approval, latency, and decline trends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the affected period with a baseline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Rank processors and rails by performance change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Drill into merchant category, region, and response code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Expose the query without executing payment actions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09360" y="5102352"/>
            <a:ext cx="528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DELTA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09360" y="5321808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Approval rate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29157" y="5321808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[baseline]%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[target]%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5696712"/>
            <a:ext cx="5285232" cy="9144"/>
          </a:xfrm>
          <a:prstGeom prst="rect">
            <a:avLst/>
          </a:prstGeom>
          <a:solidFill>
            <a:srgbClr val="F5F3F7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5705856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at risk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29157" y="5705856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$[baseline]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$[target]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6080760"/>
            <a:ext cx="5285232" cy="9144"/>
          </a:xfrm>
          <a:prstGeom prst="rect">
            <a:avLst/>
          </a:prstGeom>
          <a:solidFill>
            <a:srgbClr val="F5F3F7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6089904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Investigation time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29157" y="6089904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 hrs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 min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0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VP of Fraud Strategy needs to reduce losses without blocking good customers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098280" y="45720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525252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TAKEAWAY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098280" y="658368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Trace Loss Faster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85216" y="1572768"/>
            <a:ext cx="11018520" cy="12802"/>
          </a:xfrm>
          <a:prstGeom prst="rect">
            <a:avLst/>
          </a:prstGeom>
          <a:solidFill>
            <a:srgbClr val="D9D6DE"/>
          </a:solidFill>
          <a:ln/>
        </p:spPr>
      </p:sp>
      <p:sp>
        <p:nvSpPr>
          <p:cNvPr id="6" name="Text 4"/>
          <p:cNvSpPr/>
          <p:nvPr/>
        </p:nvSpPr>
        <p:spPr>
          <a:xfrm>
            <a:off x="585216" y="17007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JOB TITLE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85216" y="188366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VP of Fraud Strategy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216" y="2286000"/>
            <a:ext cx="11018520" cy="9144"/>
          </a:xfrm>
          <a:prstGeom prst="rect">
            <a:avLst/>
          </a:prstGeom>
          <a:solidFill>
            <a:srgbClr val="F5F3F7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2450592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BUSINESS ISSUE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5216" y="265176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7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fraud loss while controlling false positives and preserving legitimate revenue.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5216" y="338328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PROBLEMS / REASONS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5216" y="3584448"/>
            <a:ext cx="5257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Fraud-type reporting obscures cross-channel patterns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Investigators lack merchant, device, account-age, and velocity context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segmentation delays response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5216" y="512064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DATE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5216" y="5321808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[seasonal peak, product launch, or fraud-strategy review], because controls must be validated before exposure increases.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09360" y="2450592"/>
            <a:ext cx="528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SPECIFIC CAPABILITIES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09360" y="2651760"/>
            <a:ext cx="52852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fraud loss and false-positive rates by segment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Drill across channel, merchant, device, account age, velocity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Produce an evidence-rich cohort for investigator review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Show supporting query and source data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Retain human case decisions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09360" y="5102352"/>
            <a:ext cx="528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DELTA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09360" y="5321808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Fraud loss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29157" y="5321808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$[baseline]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$[target]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5696712"/>
            <a:ext cx="5285232" cy="9144"/>
          </a:xfrm>
          <a:prstGeom prst="rect">
            <a:avLst/>
          </a:prstGeom>
          <a:solidFill>
            <a:srgbClr val="F5F3F7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5705856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False positives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29157" y="5705856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[baseline]%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[target]%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6080760"/>
            <a:ext cx="5285232" cy="9144"/>
          </a:xfrm>
          <a:prstGeom prst="rect">
            <a:avLst/>
          </a:prstGeom>
          <a:solidFill>
            <a:srgbClr val="F5F3F7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6089904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Pattern-isolation time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29157" y="6089904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0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Head of AML Operations needs reviewers working evidence, not gathering it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098280" y="45720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525252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TAKEAWAY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098280" y="658368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Assemble Evidence Faster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85216" y="1572768"/>
            <a:ext cx="11018520" cy="12802"/>
          </a:xfrm>
          <a:prstGeom prst="rect">
            <a:avLst/>
          </a:prstGeom>
          <a:solidFill>
            <a:srgbClr val="D9D6DE"/>
          </a:solidFill>
          <a:ln/>
        </p:spPr>
      </p:sp>
      <p:sp>
        <p:nvSpPr>
          <p:cNvPr id="6" name="Text 4"/>
          <p:cNvSpPr/>
          <p:nvPr/>
        </p:nvSpPr>
        <p:spPr>
          <a:xfrm>
            <a:off x="585216" y="17007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JOB TITLE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85216" y="188366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Head of AML Operations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216" y="2286000"/>
            <a:ext cx="11018520" cy="9144"/>
          </a:xfrm>
          <a:prstGeom prst="rect">
            <a:avLst/>
          </a:prstGeom>
          <a:solidFill>
            <a:srgbClr val="F5F3F7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2450592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BUSINESS ISSUE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5216" y="265176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7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Clear alerts within policy while improving review quality and preserving human disposition.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5216" y="338328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PROBLEMS / REASONS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5216" y="3584448"/>
            <a:ext cx="5257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Reviewers manually gather transactions, entities, counterparties, history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Aging backlogs obscure consequential cohorts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Fragmented evidence raises effort and inconsistent escalation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5216" y="512064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DATE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5216" y="5321808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[regulatory examination, policy review, or backlog milestone], because operations must show policy adherence and sufficient capacity.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09360" y="2450592"/>
            <a:ext cx="528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SPECIFIC CAPABILITIES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09360" y="2651760"/>
            <a:ext cx="52852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backlog by age, rule, risk band, and queue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 cohorts with customer-defined criteria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Assemble linked transactions, entities, counterparties, prior activity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Demonstrate scoped access and inspectable evidence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 structured evidence without recommending disposition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09360" y="5102352"/>
            <a:ext cx="528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DELTA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09360" y="5321808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time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29157" y="5321808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5696712"/>
            <a:ext cx="5285232" cy="9144"/>
          </a:xfrm>
          <a:prstGeom prst="rect">
            <a:avLst/>
          </a:prstGeom>
          <a:solidFill>
            <a:srgbClr val="F5F3F7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5705856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Median alert age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29157" y="5705856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6080760"/>
            <a:ext cx="5285232" cy="9144"/>
          </a:xfrm>
          <a:prstGeom prst="rect">
            <a:avLst/>
          </a:prstGeom>
          <a:solidFill>
            <a:srgbClr val="F5F3F7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6089904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Cases per reviewer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29157" y="6089904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0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VP of Disputes Operations needs to prevent breaches before cases age out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098280" y="45720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525252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TAKEAWAY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098280" y="658368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Resolve Cases Earlier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85216" y="1572768"/>
            <a:ext cx="11018520" cy="12802"/>
          </a:xfrm>
          <a:prstGeom prst="rect">
            <a:avLst/>
          </a:prstGeom>
          <a:solidFill>
            <a:srgbClr val="D9D6DE"/>
          </a:solidFill>
          <a:ln/>
        </p:spPr>
      </p:sp>
      <p:sp>
        <p:nvSpPr>
          <p:cNvPr id="6" name="Text 4"/>
          <p:cNvSpPr/>
          <p:nvPr/>
        </p:nvSpPr>
        <p:spPr>
          <a:xfrm>
            <a:off x="585216" y="17007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JOB TITLE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85216" y="188366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VP of Disputes Operations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216" y="2286000"/>
            <a:ext cx="11018520" cy="9144"/>
          </a:xfrm>
          <a:prstGeom prst="rect">
            <a:avLst/>
          </a:prstGeom>
          <a:solidFill>
            <a:srgbClr val="F5F3F7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2450592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BUSINESS ISSUE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5216" y="265176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7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Resolve disputes within SLA at lower cost while protecting customer trust.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5216" y="338328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PROBLEMS / REASONS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5216" y="3584448"/>
            <a:ext cx="5257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Queue, transaction, contact, and credit data sit in separate systems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Totals do not explain breach risk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Agents manually reconstruct customer and case timelines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5216" y="512064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DATE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5216" y="5321808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[peak dispute period, SLA review, or regulatory milestone], because capacity must be in place before case volume increases.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09360" y="2450592"/>
            <a:ext cx="528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SPECIFIC CAPABILITIES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09360" y="2651760"/>
            <a:ext cx="52852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 disputes approaching SLA breach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drivers by reason, age, volume, and workload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Join transaction, contact, credit, and case events into one timeline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Preserve decision context for reuse and audit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Retain authorized human resolution and credit decisions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09360" y="5102352"/>
            <a:ext cx="528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DELTA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09360" y="5321808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 time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29157" y="5321808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5696712"/>
            <a:ext cx="5285232" cy="9144"/>
          </a:xfrm>
          <a:prstGeom prst="rect">
            <a:avLst/>
          </a:prstGeom>
          <a:solidFill>
            <a:srgbClr val="F5F3F7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5705856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SLA breaches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29157" y="5705856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[baseline]%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[target]%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6080760"/>
            <a:ext cx="5285232" cy="9144"/>
          </a:xfrm>
          <a:prstGeom prst="rect">
            <a:avLst/>
          </a:prstGeom>
          <a:solidFill>
            <a:srgbClr val="F5F3F7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6089904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 per case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29157" y="6089904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$[baseline]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$[target]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0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Corporate Treasurer needs earlier visibility into funding pressure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098280" y="45720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525252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TAKEAWAY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098280" y="658368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See Funding Pressure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85216" y="1572768"/>
            <a:ext cx="11018520" cy="12802"/>
          </a:xfrm>
          <a:prstGeom prst="rect">
            <a:avLst/>
          </a:prstGeom>
          <a:solidFill>
            <a:srgbClr val="D9D6DE"/>
          </a:solidFill>
          <a:ln/>
        </p:spPr>
      </p:sp>
      <p:sp>
        <p:nvSpPr>
          <p:cNvPr id="6" name="Text 4"/>
          <p:cNvSpPr/>
          <p:nvPr/>
        </p:nvSpPr>
        <p:spPr>
          <a:xfrm>
            <a:off x="585216" y="17007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JOB TITLE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85216" y="188366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Corporate Treasurer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216" y="2286000"/>
            <a:ext cx="11018520" cy="9144"/>
          </a:xfrm>
          <a:prstGeom prst="rect">
            <a:avLst/>
          </a:prstGeom>
          <a:solidFill>
            <a:srgbClr val="F5F3F7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2450592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BUSINESS ISSUE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5216" y="265176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7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Maintain sufficient liquidity and meet settlement obligations at the lowest practical funding cost.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5216" y="338328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PROBLEMS / REASONS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5216" y="3584448"/>
            <a:ext cx="5257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Positions, settlements, queued payments, forecasts use separate reports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and expected cash diverge without explanation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Reconciliation delays conceal funding pressure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5216" y="512064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DATE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5216" y="5321808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[peak settlement cycle, funding window, or reporting date], because treasury needs time to act before obligations become exceptions.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09360" y="2450592"/>
            <a:ext cx="528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SPECIFIC CAPABILITIES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09360" y="2651760"/>
            <a:ext cx="52852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Show current positions by entity and currency with freshness timestamps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actual cash flow with forecast and rank variance drivers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payments inside the next funding window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new-event impact on liquidity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Enforce scoped access without releasing or stopping payments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09360" y="5102352"/>
            <a:ext cx="528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DELTA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09360" y="5321808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Position freshness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29157" y="5321808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5696712"/>
            <a:ext cx="5285232" cy="9144"/>
          </a:xfrm>
          <a:prstGeom prst="rect">
            <a:avLst/>
          </a:prstGeom>
          <a:solidFill>
            <a:srgbClr val="F5F3F7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5705856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Reconciliation time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29157" y="5705856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6080760"/>
            <a:ext cx="5285232" cy="9144"/>
          </a:xfrm>
          <a:prstGeom prst="rect">
            <a:avLst/>
          </a:prstGeom>
          <a:solidFill>
            <a:srgbClr val="F5F3F7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6089904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Emergency funding cost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29157" y="6089904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$[baseline]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$[target]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0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Chief Credit Officer needs complete evidence and portfolio context before a decision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098280" y="45720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525252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TAKEAWAY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098280" y="658368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Context Before Decision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85216" y="1572768"/>
            <a:ext cx="11018520" cy="12802"/>
          </a:xfrm>
          <a:prstGeom prst="rect">
            <a:avLst/>
          </a:prstGeom>
          <a:solidFill>
            <a:srgbClr val="D9D6DE"/>
          </a:solidFill>
          <a:ln/>
        </p:spPr>
      </p:sp>
      <p:sp>
        <p:nvSpPr>
          <p:cNvPr id="6" name="Text 4"/>
          <p:cNvSpPr/>
          <p:nvPr/>
        </p:nvSpPr>
        <p:spPr>
          <a:xfrm>
            <a:off x="585216" y="17007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JOB TITLE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85216" y="188366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Chief Credit Officer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216" y="2286000"/>
            <a:ext cx="11018520" cy="9144"/>
          </a:xfrm>
          <a:prstGeom prst="rect">
            <a:avLst/>
          </a:prstGeom>
          <a:solidFill>
            <a:srgbClr val="F5F3F7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2450592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BUSINESS ISSUE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5216" y="265176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7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Make timely, policy-compliant credit decisions while controlling concentration risk.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5216" y="338328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PROBLEMS / REASONS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5216" y="3584448"/>
            <a:ext cx="5257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Applicant evidence and portfolio exposure reside in separate tools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Missing evidence and manual review increase backlog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Concentration by industry, geography, and risk grade is hard to assess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5216" y="512064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DATE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5216" y="5321808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[portfolio review, policy update, examination, or planning date], because leadership must show timely decisions and controlled exposure.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09360" y="2450592"/>
            <a:ext cx="528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SPECIFIC CAPABILITIES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09360" y="2651760"/>
            <a:ext cx="52852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Show review volume, backlog, manual-review rate, and decision time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Summarize submitted evidence and flag missing items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Compare requested exposure with current portfolio concentration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Demonstrate Domain context, scoped access, supporting evidence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Exclude approval, decline, pricing, and policy decisions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09360" y="5102352"/>
            <a:ext cx="528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DELTA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09360" y="5321808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 time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29157" y="5321808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5696712"/>
            <a:ext cx="5285232" cy="9144"/>
          </a:xfrm>
          <a:prstGeom prst="rect">
            <a:avLst/>
          </a:prstGeom>
          <a:solidFill>
            <a:srgbClr val="F5F3F7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5705856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Missing-evidence cases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29157" y="5705856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[baseline]%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[target]%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6080760"/>
            <a:ext cx="5285232" cy="9144"/>
          </a:xfrm>
          <a:prstGeom prst="rect">
            <a:avLst/>
          </a:prstGeom>
          <a:solidFill>
            <a:srgbClr val="F5F3F7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6089904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Concentration off policy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29157" y="6089904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8412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0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Chief Product Officer needs personalized insight that fits inside the product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098280" y="457200"/>
            <a:ext cx="2487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525252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TAKEAWAY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098280" y="658368"/>
            <a:ext cx="24871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Explain Engage Monetize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85216" y="1572768"/>
            <a:ext cx="11018520" cy="12802"/>
          </a:xfrm>
          <a:prstGeom prst="rect">
            <a:avLst/>
          </a:prstGeom>
          <a:solidFill>
            <a:srgbClr val="D9D6DE"/>
          </a:solidFill>
          <a:ln/>
        </p:spPr>
      </p:sp>
      <p:sp>
        <p:nvSpPr>
          <p:cNvPr id="6" name="Text 4"/>
          <p:cNvSpPr/>
          <p:nvPr/>
        </p:nvSpPr>
        <p:spPr>
          <a:xfrm>
            <a:off x="585216" y="1700784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JOB TITLE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85216" y="188366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Chief Product Officer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5216" y="2286000"/>
            <a:ext cx="11018520" cy="9144"/>
          </a:xfrm>
          <a:prstGeom prst="rect">
            <a:avLst/>
          </a:prstGeom>
          <a:solidFill>
            <a:srgbClr val="F5F3F7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" y="2450592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BUSINESS ISSUE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85216" y="2651760"/>
            <a:ext cx="5257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37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Increase digital engagement and monetization through trusted, personalized financial explanations.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5216" y="338328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PROBLEMS / REASONS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85216" y="3584448"/>
            <a:ext cx="5257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Customers lack context for changes in financial activity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 repeatedly answers common analytical questions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Embedded experiences need scoped data, continuity, security, disclosures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5216" y="5120640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DATE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5216" y="5321808"/>
            <a:ext cx="5257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[digital release or premium-product launch], because security, disclosures, experience design, and measurement must be validated before rollout.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09360" y="2450592"/>
            <a:ext cx="528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SPECIFIC CAPABILITIES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09360" y="2651760"/>
            <a:ext cx="52852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 Aura Analyst through /chat with SSE streaming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Continue contextual multi-turn sessions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Restrict answers to the authenticated customer's Domain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 explanations with relevant data and charts</a:t>
            </a:r>
            <a:endParaRPr lang="en-US" sz="1150" dirty="0"/>
          </a:p>
          <a:p>
            <a:pPr algn="l" marL="152400" indent="-152400">
              <a:lnSpc>
                <a:spcPts val="1288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/query for structured output; fintech owns UI and actions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09360" y="5102352"/>
            <a:ext cx="5285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DELTA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09360" y="5321808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Engagement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29157" y="5321808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5696712"/>
            <a:ext cx="5285232" cy="9144"/>
          </a:xfrm>
          <a:prstGeom prst="rect">
            <a:avLst/>
          </a:prstGeom>
          <a:solidFill>
            <a:srgbClr val="F5F3F7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5705856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 deflection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29157" y="5705856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[baseline]%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[target]%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6080760"/>
            <a:ext cx="5285232" cy="9144"/>
          </a:xfrm>
          <a:prstGeom prst="rect">
            <a:avLst/>
          </a:prstGeom>
          <a:solidFill>
            <a:srgbClr val="F5F3F7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6089904"/>
            <a:ext cx="22197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Premium adoption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29157" y="6089904"/>
            <a:ext cx="30654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[baseline]%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  →  </a:t>
            </a:r>
            <a:pPr algn="l" indent="0" marL="0">
              <a:buNone/>
            </a:pPr>
            <a:r>
              <a:rPr lang="en-US" sz="115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[target]%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92"/>
              </a:lnSpc>
              <a:buNone/>
            </a:pPr>
            <a:r>
              <a:rPr lang="en-US" sz="24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Persona selection determines the question, evidence, and stopping point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85216" y="1417320"/>
            <a:ext cx="11018520" cy="12802"/>
          </a:xfrm>
          <a:prstGeom prst="rect">
            <a:avLst/>
          </a:prstGeom>
          <a:solidFill>
            <a:srgbClr val="D9D6DE"/>
          </a:solidFill>
          <a:ln/>
        </p:spPr>
      </p:sp>
      <p:sp>
        <p:nvSpPr>
          <p:cNvPr id="4" name="Shape 2"/>
          <p:cNvSpPr/>
          <p:nvPr/>
        </p:nvSpPr>
        <p:spPr>
          <a:xfrm>
            <a:off x="585216" y="1691640"/>
            <a:ext cx="3529584" cy="379476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1691640"/>
            <a:ext cx="3529584" cy="566928"/>
          </a:xfrm>
          <a:prstGeom prst="rect">
            <a:avLst/>
          </a:prstGeom>
          <a:solidFill>
            <a:srgbClr val="820DD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83794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52144" y="1691640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Business personas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2441448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Prioritizes growth, conversion, margin, liquidity, and decision speed.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04672" y="3657600"/>
            <a:ext cx="3090672" cy="12802"/>
          </a:xfrm>
          <a:prstGeom prst="rect">
            <a:avLst/>
          </a:prstGeom>
          <a:solidFill>
            <a:srgbClr val="D9D6DE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381304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Preferred proofs: P1, P2, P8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04672" y="4434840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Success signal: faster, higher-value decisions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34256" y="1691640"/>
            <a:ext cx="3529584" cy="379476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34256" y="1691640"/>
            <a:ext cx="3529584" cy="566928"/>
          </a:xfrm>
          <a:prstGeom prst="rect">
            <a:avLst/>
          </a:prstGeom>
          <a:solidFill>
            <a:srgbClr val="4B47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24" y="1837944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901184" y="1691640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Risk personas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553712" y="2441448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Prioritizes evidence, policy context, access scope, explainability, and accountable ownership.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553712" y="3657600"/>
            <a:ext cx="3090672" cy="12802"/>
          </a:xfrm>
          <a:prstGeom prst="rect">
            <a:avLst/>
          </a:prstGeom>
          <a:solidFill>
            <a:srgbClr val="D9D6DE"/>
          </a:solidFill>
          <a:ln/>
        </p:spPr>
      </p:sp>
      <p:sp>
        <p:nvSpPr>
          <p:cNvPr id="18" name="Text 14"/>
          <p:cNvSpPr/>
          <p:nvPr/>
        </p:nvSpPr>
        <p:spPr>
          <a:xfrm>
            <a:off x="4553712" y="381304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B47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Preferred proofs: P3, P4, P5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53712" y="4434840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Success signal: defensible, inspectable decisions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083296" y="1691640"/>
            <a:ext cx="3529584" cy="379476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083296" y="1691640"/>
            <a:ext cx="3529584" cy="566928"/>
          </a:xfrm>
          <a:prstGeom prst="rect">
            <a:avLst/>
          </a:prstGeom>
          <a:solidFill>
            <a:srgbClr val="FF6C02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1837944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650224" y="1691640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Technical personas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302752" y="2441448"/>
            <a:ext cx="3090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Prioritizes data paths, latency, concurrency, integration contracts, and operational boundaries.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8302752" y="3657600"/>
            <a:ext cx="3090672" cy="12802"/>
          </a:xfrm>
          <a:prstGeom prst="rect">
            <a:avLst/>
          </a:prstGeom>
          <a:solidFill>
            <a:srgbClr val="D9D6DE"/>
          </a:solidFill>
          <a:ln/>
        </p:spPr>
      </p:sp>
      <p:sp>
        <p:nvSpPr>
          <p:cNvPr id="26" name="Text 21"/>
          <p:cNvSpPr/>
          <p:nvPr/>
        </p:nvSpPr>
        <p:spPr>
          <a:xfrm>
            <a:off x="8302752" y="3813048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6C02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Preferred proofs: P6, P7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302752" y="4434840"/>
            <a:ext cx="3090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Success signal: feasible, ownable integration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85216" y="5715000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Choose one primary persona and no more than two supporting personas.  </a:t>
            </a:r>
            <a:pPr algn="l" indent="0" marL="0">
              <a:buNone/>
            </a:pPr>
            <a:r>
              <a:rPr lang="en-US" sz="12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Show Domain and access views only when they prove how context and permissions shape the decision.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92"/>
              </a:lnSpc>
              <a:buNone/>
            </a:pPr>
            <a:r>
              <a:rPr lang="en-US" sz="24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Eight proofs make each decision path credible, composable, and testable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85216" y="1417320"/>
            <a:ext cx="11018520" cy="12802"/>
          </a:xfrm>
          <a:prstGeom prst="rect">
            <a:avLst/>
          </a:prstGeom>
          <a:solidFill>
            <a:srgbClr val="D9D6DE"/>
          </a:solidFill>
          <a:ln/>
        </p:spPr>
      </p:sp>
      <p:sp>
        <p:nvSpPr>
          <p:cNvPr id="4" name="Text 2"/>
          <p:cNvSpPr/>
          <p:nvPr/>
        </p:nvSpPr>
        <p:spPr>
          <a:xfrm>
            <a:off x="585216" y="16916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INTERACTION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85216" y="1984248"/>
            <a:ext cx="2697480" cy="18288"/>
          </a:xfrm>
          <a:prstGeom prst="rect">
            <a:avLst/>
          </a:prstGeom>
          <a:solidFill>
            <a:srgbClr val="820DDF"/>
          </a:solidFill>
          <a:ln/>
        </p:spPr>
      </p:sp>
      <p:sp>
        <p:nvSpPr>
          <p:cNvPr id="6" name="Shape 4"/>
          <p:cNvSpPr/>
          <p:nvPr/>
        </p:nvSpPr>
        <p:spPr>
          <a:xfrm>
            <a:off x="585216" y="2148840"/>
            <a:ext cx="2697480" cy="169164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7685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2770632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Conversational Drill-Down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3374136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Investigative speed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85216" y="4023360"/>
            <a:ext cx="2697480" cy="169164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15137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4645152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Live Event Impact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5248656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Responsiveness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65576" y="16916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4B47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TRUST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65576" y="1984248"/>
            <a:ext cx="2697480" cy="18288"/>
          </a:xfrm>
          <a:prstGeom prst="rect">
            <a:avLst/>
          </a:prstGeom>
          <a:solidFill>
            <a:srgbClr val="4B47FF"/>
          </a:solidFill>
          <a:ln/>
        </p:spPr>
      </p:sp>
      <p:sp>
        <p:nvSpPr>
          <p:cNvPr id="16" name="Shape 14"/>
          <p:cNvSpPr/>
          <p:nvPr/>
        </p:nvSpPr>
        <p:spPr>
          <a:xfrm>
            <a:off x="3465576" y="2148840"/>
            <a:ext cx="2697480" cy="169164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227685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4B47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11880" y="2770632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Transparent Answer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611880" y="3374136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Inspectability, not guaranteed correctness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65576" y="4023360"/>
            <a:ext cx="2697480" cy="169164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415137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4B47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611880" y="4645152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Governed Business Context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611880" y="5248656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Configured business context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45936" y="16916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FF6C02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45936" y="1984248"/>
            <a:ext cx="2697480" cy="18288"/>
          </a:xfrm>
          <a:prstGeom prst="rect">
            <a:avLst/>
          </a:prstGeom>
          <a:solidFill>
            <a:srgbClr val="FF6C02"/>
          </a:solidFill>
          <a:ln/>
        </p:spPr>
      </p:sp>
      <p:sp>
        <p:nvSpPr>
          <p:cNvPr id="26" name="Shape 24"/>
          <p:cNvSpPr/>
          <p:nvPr/>
        </p:nvSpPr>
        <p:spPr>
          <a:xfrm>
            <a:off x="6345936" y="2148840"/>
            <a:ext cx="2697480" cy="169164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227685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6C02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492240" y="2770632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Scoped Access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92240" y="3374136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Configured permissions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45936" y="4023360"/>
            <a:ext cx="2697480" cy="169164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415137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6C02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492240" y="4645152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Embedded Streaming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92240" y="5248656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/chat, SSE, sessions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226296" y="16916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360061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REUSE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226296" y="1984248"/>
            <a:ext cx="2697480" cy="18288"/>
          </a:xfrm>
          <a:prstGeom prst="rect">
            <a:avLst/>
          </a:prstGeom>
          <a:solidFill>
            <a:srgbClr val="360061"/>
          </a:solidFill>
          <a:ln/>
        </p:spPr>
      </p:sp>
      <p:sp>
        <p:nvSpPr>
          <p:cNvPr id="36" name="Shape 34"/>
          <p:cNvSpPr/>
          <p:nvPr/>
        </p:nvSpPr>
        <p:spPr>
          <a:xfrm>
            <a:off x="9226296" y="2148840"/>
            <a:ext cx="2697480" cy="169164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72600" y="227685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360061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P7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372600" y="2770632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Structured Integration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9372600" y="3374136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/query, structured JSON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226296" y="4023360"/>
            <a:ext cx="2697480" cy="169164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72600" y="415137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360061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P8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9372600" y="4645152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Reusable Decision View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9372600" y="5248656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Repeat use and validation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22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Tell–Show–Tell turns a capability demonstration into a measurable decision story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85216" y="1417320"/>
            <a:ext cx="11018520" cy="12802"/>
          </a:xfrm>
          <a:prstGeom prst="rect">
            <a:avLst/>
          </a:prstGeom>
          <a:solidFill>
            <a:srgbClr val="D9D6DE"/>
          </a:solidFill>
          <a:ln/>
        </p:spPr>
      </p:sp>
      <p:sp>
        <p:nvSpPr>
          <p:cNvPr id="4" name="Shape 2"/>
          <p:cNvSpPr/>
          <p:nvPr/>
        </p:nvSpPr>
        <p:spPr>
          <a:xfrm>
            <a:off x="585216" y="1828800"/>
            <a:ext cx="3383280" cy="2011680"/>
          </a:xfrm>
          <a:prstGeom prst="rect">
            <a:avLst/>
          </a:prstGeom>
          <a:solidFill>
            <a:srgbClr val="F5F3F7"/>
          </a:solidFill>
          <a:ln w="12700">
            <a:solidFill>
              <a:srgbClr val="820D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2011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Tell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59536" y="260604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State the decision, baseline time-to-know, consequence, and hypothesized delta.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68496" y="2834640"/>
            <a:ext cx="548640" cy="0"/>
          </a:xfrm>
          <a:prstGeom prst="line">
            <a:avLst/>
          </a:prstGeom>
          <a:noFill/>
          <a:ln w="19050">
            <a:solidFill>
              <a:srgbClr val="52525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17136" y="1828800"/>
            <a:ext cx="3383280" cy="2011680"/>
          </a:xfrm>
          <a:prstGeom prst="rect">
            <a:avLst/>
          </a:prstGeom>
          <a:solidFill>
            <a:srgbClr val="F5F3F7"/>
          </a:solidFill>
          <a:ln w="12700">
            <a:solidFill>
              <a:srgbClr val="4B4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7136" y="2011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B47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Show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91456" y="260604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Follow one anchor-led path using only the proofs required to reach evidence.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00416" y="2834640"/>
            <a:ext cx="548640" cy="0"/>
          </a:xfrm>
          <a:prstGeom prst="line">
            <a:avLst/>
          </a:prstGeom>
          <a:noFill/>
          <a:ln w="19050">
            <a:solidFill>
              <a:srgbClr val="52525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449056" y="1828800"/>
            <a:ext cx="3383280" cy="2011680"/>
          </a:xfrm>
          <a:prstGeom prst="rect">
            <a:avLst/>
          </a:prstGeom>
          <a:solidFill>
            <a:srgbClr val="F5F3F7"/>
          </a:solidFill>
          <a:ln w="12700">
            <a:solidFill>
              <a:srgbClr val="820D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49056" y="2011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Tell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723376" y="260604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State what changed, who acts, and which customer-owned metric validates value.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5216" y="4297680"/>
            <a:ext cx="11018520" cy="1600200"/>
          </a:xfrm>
          <a:prstGeom prst="rect">
            <a:avLst/>
          </a:prstGeom>
          <a:solidFill>
            <a:srgbClr val="F7F4FB"/>
          </a:solidFill>
          <a:ln w="9525">
            <a:solidFill>
              <a:srgbClr val="D9D6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5262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MEASURE THE BEFORE-AND-AFTER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8680" y="47548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344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Investigation time and handoffs</a:t>
            </a:r>
            <a:endParaRPr lang="en-US" sz="1200" dirty="0"/>
          </a:p>
          <a:p>
            <a:pPr algn="l" marL="152400" indent="-152400">
              <a:lnSpc>
                <a:spcPts val="1344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Evidence retrieval effort</a:t>
            </a:r>
            <a:endParaRPr lang="en-US" sz="1200" dirty="0"/>
          </a:p>
          <a:p>
            <a:pPr algn="l" marL="152400" indent="-152400">
              <a:lnSpc>
                <a:spcPts val="1344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Decision-cycle duration</a:t>
            </a:r>
            <a:endParaRPr lang="en-US" sz="1200" dirty="0"/>
          </a:p>
          <a:p>
            <a:pPr algn="l" marL="152400" indent="-152400">
              <a:lnSpc>
                <a:spcPts val="1344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Avoided rework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45262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50" kern="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KEEP THE STORY TIGHT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0" y="47548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Remove anything that does not strengthen the decision-to-delta argument. Every proof shown must move the before-and-after time gauge.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68"/>
              </a:lnSpc>
              <a:buNone/>
            </a:pPr>
            <a:r>
              <a:rPr lang="en-US" sz="21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Trust requires explicit context, scoped access, inspectable evidence, and accountable humans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85216" y="1417320"/>
            <a:ext cx="11018520" cy="12802"/>
          </a:xfrm>
          <a:prstGeom prst="rect">
            <a:avLst/>
          </a:prstGeom>
          <a:solidFill>
            <a:srgbClr val="D9D6DE"/>
          </a:solidFill>
          <a:ln/>
        </p:spPr>
      </p:sp>
      <p:sp>
        <p:nvSpPr>
          <p:cNvPr id="4" name="Shape 2"/>
          <p:cNvSpPr/>
          <p:nvPr/>
        </p:nvSpPr>
        <p:spPr>
          <a:xfrm>
            <a:off x="585216" y="1783080"/>
            <a:ext cx="11018520" cy="1024128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1783080"/>
            <a:ext cx="82296" cy="1024128"/>
          </a:xfrm>
          <a:prstGeom prst="rect">
            <a:avLst/>
          </a:prstGeom>
          <a:solidFill>
            <a:srgbClr val="820DD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93976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83080"/>
            <a:ext cx="2743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Domain context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480560" y="192024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Make weak or missing Domain context visible rather than implying universal accuracy.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85216" y="2916936"/>
            <a:ext cx="11018520" cy="1024128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2916936"/>
            <a:ext cx="82296" cy="1024128"/>
          </a:xfrm>
          <a:prstGeom prst="rect">
            <a:avLst/>
          </a:prstGeom>
          <a:solidFill>
            <a:srgbClr val="4B47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22783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916936"/>
            <a:ext cx="2743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Scoped access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480560" y="3054096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Demonstrate scoped access rather than claiming universal governance; it depends on configuration, identity, policy, and deployment.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85216" y="4050792"/>
            <a:ext cx="11018520" cy="1024128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85216" y="4050792"/>
            <a:ext cx="82296" cy="1024128"/>
          </a:xfrm>
          <a:prstGeom prst="rect">
            <a:avLst/>
          </a:prstGeom>
          <a:solidFill>
            <a:srgbClr val="FF6C0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361688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50792"/>
            <a:ext cx="2743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Inspectable evidence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480560" y="4187952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inspectability to support review without presenting it as guaranteed correctness.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85216" y="5184648"/>
            <a:ext cx="11018520" cy="1024128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85216" y="5184648"/>
            <a:ext cx="82296" cy="1024128"/>
          </a:xfrm>
          <a:prstGeom prst="rect">
            <a:avLst/>
          </a:prstGeom>
          <a:solidFill>
            <a:srgbClr val="3600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495544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5184648"/>
            <a:ext cx="2743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Human ownership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4480560" y="5321808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regulated decisions with accountable humans; Preview capabilities are not autonomous controls.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68"/>
              </a:lnSpc>
              <a:buNone/>
            </a:pPr>
            <a:r>
              <a:rPr lang="en-US" sz="21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Native APIs supply intelligence while customer engineering owns the embedded experience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85216" y="1417320"/>
            <a:ext cx="11018520" cy="12802"/>
          </a:xfrm>
          <a:prstGeom prst="rect">
            <a:avLst/>
          </a:prstGeom>
          <a:solidFill>
            <a:srgbClr val="D9D6DE"/>
          </a:solidFill>
          <a:ln/>
        </p:spPr>
      </p:sp>
      <p:sp>
        <p:nvSpPr>
          <p:cNvPr id="4" name="Shape 2"/>
          <p:cNvSpPr/>
          <p:nvPr/>
        </p:nvSpPr>
        <p:spPr>
          <a:xfrm>
            <a:off x="585216" y="1737360"/>
            <a:ext cx="5212080" cy="3977640"/>
          </a:xfrm>
          <a:prstGeom prst="rect">
            <a:avLst/>
          </a:prstGeom>
          <a:solidFill>
            <a:srgbClr val="F7F4FB"/>
          </a:solidFill>
          <a:ln w="12700">
            <a:solidFill>
              <a:srgbClr val="820D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1737360"/>
            <a:ext cx="5212080" cy="548640"/>
          </a:xfrm>
          <a:prstGeom prst="rect">
            <a:avLst/>
          </a:prstGeom>
          <a:solidFill>
            <a:srgbClr val="820DDF"/>
          </a:solidFill>
          <a:ln/>
        </p:spPr>
      </p:sp>
      <p:sp>
        <p:nvSpPr>
          <p:cNvPr id="6" name="Text 4"/>
          <p:cNvSpPr/>
          <p:nvPr/>
        </p:nvSpPr>
        <p:spPr>
          <a:xfrm>
            <a:off x="813816" y="17373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Native Aura intelligence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3816" y="251460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56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/chat provides conversation, SSE streaming, and session continuity</a:t>
            </a:r>
            <a:endParaRPr lang="en-US" sz="1300" dirty="0"/>
          </a:p>
          <a:p>
            <a:pPr algn="l" marL="152400" indent="-152400">
              <a:lnSpc>
                <a:spcPts val="156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/query provides structured JSON for downstream rendering and integration</a:t>
            </a:r>
            <a:endParaRPr lang="en-US" sz="1300" dirty="0"/>
          </a:p>
          <a:p>
            <a:pPr algn="l" marL="152400" indent="-152400">
              <a:lnSpc>
                <a:spcPts val="156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 includes Aura Analyst and API response patterns</a:t>
            </a:r>
            <a:endParaRPr lang="en-US" sz="1300" dirty="0"/>
          </a:p>
          <a:p>
            <a:pPr algn="l" marL="152400" indent="-152400">
              <a:lnSpc>
                <a:spcPts val="156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capabilities remain Preview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91656" y="1737360"/>
            <a:ext cx="5212080" cy="3977640"/>
          </a:xfrm>
          <a:prstGeom prst="rect">
            <a:avLst/>
          </a:prstGeom>
          <a:solidFill>
            <a:srgbClr val="F5F3F7"/>
          </a:solidFill>
          <a:ln w="12700">
            <a:solidFill>
              <a:srgbClr val="5252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91656" y="1737360"/>
            <a:ext cx="5212080" cy="548640"/>
          </a:xfrm>
          <a:prstGeom prst="rect">
            <a:avLst/>
          </a:prstGeom>
          <a:solidFill>
            <a:srgbClr val="525252"/>
          </a:solidFill>
          <a:ln/>
        </p:spPr>
      </p:sp>
      <p:sp>
        <p:nvSpPr>
          <p:cNvPr id="10" name="Text 8"/>
          <p:cNvSpPr/>
          <p:nvPr/>
        </p:nvSpPr>
        <p:spPr>
          <a:xfrm>
            <a:off x="6620256" y="17373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Customer-owned experience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20256" y="251460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ts val="156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 UI and workflow actions</a:t>
            </a:r>
            <a:endParaRPr lang="en-US" sz="1300" dirty="0"/>
          </a:p>
          <a:p>
            <a:pPr algn="l" marL="152400" indent="-152400">
              <a:lnSpc>
                <a:spcPts val="156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Telemetry and downstream orchestration</a:t>
            </a:r>
            <a:endParaRPr lang="en-US" sz="1300" dirty="0"/>
          </a:p>
          <a:p>
            <a:pPr algn="l" marL="152400" indent="-152400">
              <a:lnSpc>
                <a:spcPts val="156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Security, disclosures, and approved actions</a:t>
            </a:r>
            <a:endParaRPr lang="en-US" sz="1300" dirty="0"/>
          </a:p>
          <a:p>
            <a:pPr algn="l" marL="152400" indent="-152400">
              <a:lnSpc>
                <a:spcPts val="156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Engineering, product, security, and operational work beyond the intelligence layer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97296" y="3726180"/>
            <a:ext cx="594360" cy="0"/>
          </a:xfrm>
          <a:prstGeom prst="line">
            <a:avLst/>
          </a:prstGeom>
          <a:noFill/>
          <a:ln w="19050">
            <a:solidFill>
              <a:srgbClr val="525252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5797296" y="347014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 boundary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5216" y="589788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Embedded delivery is a joint effort: native intelligence plus customer engineering, product, security, and operations.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84"/>
              </a:lnSpc>
              <a:buNone/>
            </a:pPr>
            <a:r>
              <a:rPr lang="en-US" sz="23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Variable-length recipes preserve one decision spine while changing proof depth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85216" y="1417320"/>
            <a:ext cx="11018520" cy="12802"/>
          </a:xfrm>
          <a:prstGeom prst="rect">
            <a:avLst/>
          </a:prstGeom>
          <a:solidFill>
            <a:srgbClr val="D9D6DE"/>
          </a:solidFill>
          <a:ln/>
        </p:spPr>
      </p:sp>
      <p:sp>
        <p:nvSpPr>
          <p:cNvPr id="4" name="Shape 2"/>
          <p:cNvSpPr/>
          <p:nvPr/>
        </p:nvSpPr>
        <p:spPr>
          <a:xfrm>
            <a:off x="585216" y="3337560"/>
            <a:ext cx="2084832" cy="2011680"/>
          </a:xfrm>
          <a:prstGeom prst="rect">
            <a:avLst/>
          </a:prstGeom>
          <a:solidFill>
            <a:srgbClr val="F7F4FB"/>
          </a:solidFill>
          <a:ln w="9525">
            <a:solidFill>
              <a:srgbClr val="820D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3337560"/>
            <a:ext cx="2084832" cy="457200"/>
          </a:xfrm>
          <a:prstGeom prst="rect">
            <a:avLst/>
          </a:prstGeom>
          <a:solidFill>
            <a:srgbClr val="820DDF"/>
          </a:solidFill>
          <a:ln/>
        </p:spPr>
      </p:sp>
      <p:sp>
        <p:nvSpPr>
          <p:cNvPr id="6" name="Text 4"/>
          <p:cNvSpPr/>
          <p:nvPr/>
        </p:nvSpPr>
        <p:spPr>
          <a:xfrm>
            <a:off x="585216" y="333756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5 min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904488"/>
            <a:ext cx="17922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persona, one anchor, one proof, and one delta hypothesis.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16352" y="2834640"/>
            <a:ext cx="2084832" cy="2514600"/>
          </a:xfrm>
          <a:prstGeom prst="rect">
            <a:avLst/>
          </a:prstGeom>
          <a:solidFill>
            <a:srgbClr val="EFE6FB"/>
          </a:solidFill>
          <a:ln w="9525">
            <a:solidFill>
              <a:srgbClr val="820D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16352" y="2834640"/>
            <a:ext cx="2084832" cy="457200"/>
          </a:xfrm>
          <a:prstGeom prst="rect">
            <a:avLst/>
          </a:prstGeom>
          <a:solidFill>
            <a:srgbClr val="820DDF"/>
          </a:solidFill>
          <a:ln/>
        </p:spPr>
      </p:sp>
      <p:sp>
        <p:nvSpPr>
          <p:cNvPr id="10" name="Text 8"/>
          <p:cNvSpPr/>
          <p:nvPr/>
        </p:nvSpPr>
        <p:spPr>
          <a:xfrm>
            <a:off x="2816352" y="283464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10 min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62656" y="3401568"/>
            <a:ext cx="17922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anchor, two proofs, Tell–Show–Tell, and one measurable delta.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47488" y="2331720"/>
            <a:ext cx="2084832" cy="3017520"/>
          </a:xfrm>
          <a:prstGeom prst="rect">
            <a:avLst/>
          </a:prstGeom>
          <a:solidFill>
            <a:srgbClr val="E7D8FB"/>
          </a:solidFill>
          <a:ln w="9525">
            <a:solidFill>
              <a:srgbClr val="820D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47488" y="2331720"/>
            <a:ext cx="2084832" cy="457200"/>
          </a:xfrm>
          <a:prstGeom prst="rect">
            <a:avLst/>
          </a:prstGeom>
          <a:solidFill>
            <a:srgbClr val="820DDF"/>
          </a:solidFill>
          <a:ln/>
        </p:spPr>
      </p:sp>
      <p:sp>
        <p:nvSpPr>
          <p:cNvPr id="14" name="Text 12"/>
          <p:cNvSpPr/>
          <p:nvPr/>
        </p:nvSpPr>
        <p:spPr>
          <a:xfrm>
            <a:off x="5047488" y="233172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15 min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93792" y="2898648"/>
            <a:ext cx="17922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Primary and supporting personas, one anchor, three proofs, and the native-versus-custom boundary.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78624" y="1828800"/>
            <a:ext cx="2084832" cy="3520440"/>
          </a:xfrm>
          <a:prstGeom prst="rect">
            <a:avLst/>
          </a:prstGeom>
          <a:solidFill>
            <a:srgbClr val="D9BFF6"/>
          </a:solidFill>
          <a:ln w="9525">
            <a:solidFill>
              <a:srgbClr val="820D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78624" y="1828800"/>
            <a:ext cx="2084832" cy="457200"/>
          </a:xfrm>
          <a:prstGeom prst="rect">
            <a:avLst/>
          </a:prstGeom>
          <a:solidFill>
            <a:srgbClr val="820DDF"/>
          </a:solidFill>
          <a:ln/>
        </p:spPr>
      </p:sp>
      <p:sp>
        <p:nvSpPr>
          <p:cNvPr id="18" name="Text 16"/>
          <p:cNvSpPr/>
          <p:nvPr/>
        </p:nvSpPr>
        <p:spPr>
          <a:xfrm>
            <a:off x="7278624" y="182880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25 min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24928" y="2395728"/>
            <a:ext cx="179222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related anchors, all three persona perspectives, an API path, guardrails, and a validation plan.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509760" y="1325880"/>
            <a:ext cx="2084832" cy="4023360"/>
          </a:xfrm>
          <a:prstGeom prst="rect">
            <a:avLst/>
          </a:prstGeom>
          <a:solidFill>
            <a:srgbClr val="CBA8F2"/>
          </a:solidFill>
          <a:ln w="9525">
            <a:solidFill>
              <a:srgbClr val="820D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09760" y="1325880"/>
            <a:ext cx="2084832" cy="457200"/>
          </a:xfrm>
          <a:prstGeom prst="rect">
            <a:avLst/>
          </a:prstGeom>
          <a:solidFill>
            <a:srgbClr val="820DDF"/>
          </a:solidFill>
          <a:ln/>
        </p:spPr>
      </p:sp>
      <p:sp>
        <p:nvSpPr>
          <p:cNvPr id="22" name="Text 20"/>
          <p:cNvSpPr/>
          <p:nvPr/>
        </p:nvSpPr>
        <p:spPr>
          <a:xfrm>
            <a:off x="9509760" y="132588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40 min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56064" y="1892808"/>
            <a:ext cx="1792224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Discovery-led assembly, architecture review, ownership mapping, delta validation, and a workshop gate.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85216" y="594360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Depth and audience coverage increase from left to right; the decision spine stays constant.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84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Recommended module combinations cover common fintech buying conversations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85216" y="1417320"/>
            <a:ext cx="11018520" cy="12802"/>
          </a:xfrm>
          <a:prstGeom prst="rect">
            <a:avLst/>
          </a:prstGeom>
          <a:solidFill>
            <a:srgbClr val="2A2A33"/>
          </a:solidFill>
          <a:ln/>
        </p:spPr>
      </p:sp>
      <p:sp>
        <p:nvSpPr>
          <p:cNvPr id="4" name="Text 2"/>
          <p:cNvSpPr/>
          <p:nvPr/>
        </p:nvSpPr>
        <p:spPr>
          <a:xfrm>
            <a:off x="585216" y="1691640"/>
            <a:ext cx="1965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D199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Growth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79776" y="1691640"/>
            <a:ext cx="2831592" cy="786384"/>
          </a:xfrm>
          <a:prstGeom prst="rect">
            <a:avLst/>
          </a:prstGeom>
          <a:solidFill>
            <a:srgbClr val="15151C"/>
          </a:solidFill>
          <a:ln w="9525">
            <a:solidFill>
              <a:srgbClr val="D19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07792" y="1691640"/>
            <a:ext cx="2575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A1 Digital Journey Intelligence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11368" y="2084832"/>
            <a:ext cx="164592" cy="0"/>
          </a:xfrm>
          <a:prstGeom prst="line">
            <a:avLst/>
          </a:prstGeom>
          <a:noFill/>
          <a:ln w="12700">
            <a:solidFill>
              <a:srgbClr val="5A5A6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775960" y="1691640"/>
            <a:ext cx="2831592" cy="786384"/>
          </a:xfrm>
          <a:prstGeom prst="rect">
            <a:avLst/>
          </a:prstGeom>
          <a:solidFill>
            <a:srgbClr val="15151C"/>
          </a:solidFill>
          <a:ln w="9525">
            <a:solidFill>
              <a:srgbClr val="D19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03976" y="1691640"/>
            <a:ext cx="2575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P1 Conversational Drill-Down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07552" y="2084832"/>
            <a:ext cx="164592" cy="0"/>
          </a:xfrm>
          <a:prstGeom prst="line">
            <a:avLst/>
          </a:prstGeom>
          <a:noFill/>
          <a:ln w="12700">
            <a:solidFill>
              <a:srgbClr val="5A5A6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772144" y="1691640"/>
            <a:ext cx="2831592" cy="786384"/>
          </a:xfrm>
          <a:prstGeom prst="rect">
            <a:avLst/>
          </a:prstGeom>
          <a:solidFill>
            <a:srgbClr val="15151C"/>
          </a:solidFill>
          <a:ln w="9525">
            <a:solidFill>
              <a:srgbClr val="D199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00160" y="1691640"/>
            <a:ext cx="2575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P8 Reusable Decision View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5216" y="2606040"/>
            <a:ext cx="1965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CB2E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Payments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79776" y="2606040"/>
            <a:ext cx="2831592" cy="786384"/>
          </a:xfrm>
          <a:prstGeom prst="rect">
            <a:avLst/>
          </a:prstGeom>
          <a:solidFill>
            <a:srgbClr val="15151C"/>
          </a:solidFill>
          <a:ln w="9525">
            <a:solidFill>
              <a:srgbClr val="FFCB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07792" y="2606040"/>
            <a:ext cx="2575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A2 Payment Pulse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11368" y="2999232"/>
            <a:ext cx="164592" cy="0"/>
          </a:xfrm>
          <a:prstGeom prst="line">
            <a:avLst/>
          </a:prstGeom>
          <a:noFill/>
          <a:ln w="12700">
            <a:solidFill>
              <a:srgbClr val="5A5A6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775960" y="2606040"/>
            <a:ext cx="2831592" cy="786384"/>
          </a:xfrm>
          <a:prstGeom prst="rect">
            <a:avLst/>
          </a:prstGeom>
          <a:solidFill>
            <a:srgbClr val="15151C"/>
          </a:solidFill>
          <a:ln w="9525">
            <a:solidFill>
              <a:srgbClr val="FFCB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03976" y="2606040"/>
            <a:ext cx="2575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P2 Live Event Impact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07552" y="2999232"/>
            <a:ext cx="164592" cy="0"/>
          </a:xfrm>
          <a:prstGeom prst="line">
            <a:avLst/>
          </a:prstGeom>
          <a:noFill/>
          <a:ln w="12700">
            <a:solidFill>
              <a:srgbClr val="5A5A6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772144" y="2606040"/>
            <a:ext cx="2831592" cy="786384"/>
          </a:xfrm>
          <a:prstGeom prst="rect">
            <a:avLst/>
          </a:prstGeom>
          <a:solidFill>
            <a:srgbClr val="15151C"/>
          </a:solidFill>
          <a:ln w="9525">
            <a:solidFill>
              <a:srgbClr val="FFCB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00160" y="2606040"/>
            <a:ext cx="2575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P6 Embedded Streaming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" y="3520440"/>
            <a:ext cx="1965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6C02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Financial crime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79776" y="3520440"/>
            <a:ext cx="2831592" cy="786384"/>
          </a:xfrm>
          <a:prstGeom prst="rect">
            <a:avLst/>
          </a:prstGeom>
          <a:solidFill>
            <a:srgbClr val="15151C"/>
          </a:solidFill>
          <a:ln w="9525">
            <a:solidFill>
              <a:srgbClr val="FF6C0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07792" y="3520440"/>
            <a:ext cx="2575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A3 Trace the Loss / A4 Alert-to-Evidence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11368" y="3913632"/>
            <a:ext cx="164592" cy="0"/>
          </a:xfrm>
          <a:prstGeom prst="line">
            <a:avLst/>
          </a:prstGeom>
          <a:noFill/>
          <a:ln w="12700">
            <a:solidFill>
              <a:srgbClr val="5A5A6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775960" y="3520440"/>
            <a:ext cx="2831592" cy="786384"/>
          </a:xfrm>
          <a:prstGeom prst="rect">
            <a:avLst/>
          </a:prstGeom>
          <a:solidFill>
            <a:srgbClr val="15151C"/>
          </a:solidFill>
          <a:ln w="9525">
            <a:solidFill>
              <a:srgbClr val="FF6C0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03976" y="3520440"/>
            <a:ext cx="2575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P3 Transparent Answer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607552" y="3913632"/>
            <a:ext cx="164592" cy="0"/>
          </a:xfrm>
          <a:prstGeom prst="line">
            <a:avLst/>
          </a:prstGeom>
          <a:noFill/>
          <a:ln w="12700">
            <a:solidFill>
              <a:srgbClr val="5A5A6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772144" y="3520440"/>
            <a:ext cx="2831592" cy="786384"/>
          </a:xfrm>
          <a:prstGeom prst="rect">
            <a:avLst/>
          </a:prstGeom>
          <a:solidFill>
            <a:srgbClr val="15151C"/>
          </a:solidFill>
          <a:ln w="9525">
            <a:solidFill>
              <a:srgbClr val="FF6C0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00160" y="3520440"/>
            <a:ext cx="2575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P5 Scoped Access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5216" y="4434840"/>
            <a:ext cx="1965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4B47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779776" y="4434840"/>
            <a:ext cx="2831592" cy="786384"/>
          </a:xfrm>
          <a:prstGeom prst="rect">
            <a:avLst/>
          </a:prstGeom>
          <a:solidFill>
            <a:srgbClr val="15151C"/>
          </a:solidFill>
          <a:ln w="9525">
            <a:solidFill>
              <a:srgbClr val="4B47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07792" y="4434840"/>
            <a:ext cx="2575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A5 Dispute Resolution Lens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11368" y="4828032"/>
            <a:ext cx="164592" cy="0"/>
          </a:xfrm>
          <a:prstGeom prst="line">
            <a:avLst/>
          </a:prstGeom>
          <a:noFill/>
          <a:ln w="12700">
            <a:solidFill>
              <a:srgbClr val="5A5A66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775960" y="4434840"/>
            <a:ext cx="2831592" cy="786384"/>
          </a:xfrm>
          <a:prstGeom prst="rect">
            <a:avLst/>
          </a:prstGeom>
          <a:solidFill>
            <a:srgbClr val="15151C"/>
          </a:solidFill>
          <a:ln w="9525">
            <a:solidFill>
              <a:srgbClr val="4B47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03976" y="4434840"/>
            <a:ext cx="2575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P4 Governed Business Context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607552" y="4828032"/>
            <a:ext cx="164592" cy="0"/>
          </a:xfrm>
          <a:prstGeom prst="line">
            <a:avLst/>
          </a:prstGeom>
          <a:noFill/>
          <a:ln w="12700">
            <a:solidFill>
              <a:srgbClr val="5A5A66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772144" y="4434840"/>
            <a:ext cx="2831592" cy="786384"/>
          </a:xfrm>
          <a:prstGeom prst="rect">
            <a:avLst/>
          </a:prstGeom>
          <a:solidFill>
            <a:srgbClr val="15151C"/>
          </a:solidFill>
          <a:ln w="9525">
            <a:solidFill>
              <a:srgbClr val="4B47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00160" y="4434840"/>
            <a:ext cx="2575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P8 Reusable Decision View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85216" y="5349240"/>
            <a:ext cx="1965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Embedded product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779776" y="5349240"/>
            <a:ext cx="2831592" cy="786384"/>
          </a:xfrm>
          <a:prstGeom prst="rect">
            <a:avLst/>
          </a:prstGeom>
          <a:solidFill>
            <a:srgbClr val="15151C"/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07792" y="5349240"/>
            <a:ext cx="2575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A8 Explain My Money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611368" y="5742432"/>
            <a:ext cx="164592" cy="0"/>
          </a:xfrm>
          <a:prstGeom prst="line">
            <a:avLst/>
          </a:prstGeom>
          <a:noFill/>
          <a:ln w="12700">
            <a:solidFill>
              <a:srgbClr val="5A5A66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775960" y="5349240"/>
            <a:ext cx="2831592" cy="786384"/>
          </a:xfrm>
          <a:prstGeom prst="rect">
            <a:avLst/>
          </a:prstGeom>
          <a:solidFill>
            <a:srgbClr val="15151C"/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03976" y="5349240"/>
            <a:ext cx="2575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P6 Embedded Streaming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607552" y="5742432"/>
            <a:ext cx="164592" cy="0"/>
          </a:xfrm>
          <a:prstGeom prst="line">
            <a:avLst/>
          </a:prstGeom>
          <a:noFill/>
          <a:ln w="12700">
            <a:solidFill>
              <a:srgbClr val="5A5A66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8772144" y="5349240"/>
            <a:ext cx="2831592" cy="786384"/>
          </a:xfrm>
          <a:prstGeom prst="rect">
            <a:avLst/>
          </a:prstGeom>
          <a:solidFill>
            <a:srgbClr val="15151C"/>
          </a:solidFill>
          <a:ln w="9525">
            <a:solidFill>
              <a:srgbClr val="5EEA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00160" y="5349240"/>
            <a:ext cx="2575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P7 Structured Integration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9AA5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76"/>
              </a:lnSpc>
              <a:buNone/>
            </a:pPr>
            <a:r>
              <a:rPr lang="en-US" sz="22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Situation-slide discovery turns an interesting demo into a qualified opportunity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85216" y="1417320"/>
            <a:ext cx="11018520" cy="12802"/>
          </a:xfrm>
          <a:prstGeom prst="rect">
            <a:avLst/>
          </a:prstGeom>
          <a:solidFill>
            <a:srgbClr val="D9D6DE"/>
          </a:solidFill>
          <a:ln/>
        </p:spPr>
      </p:sp>
      <p:sp>
        <p:nvSpPr>
          <p:cNvPr id="4" name="Shape 2"/>
          <p:cNvSpPr/>
          <p:nvPr/>
        </p:nvSpPr>
        <p:spPr>
          <a:xfrm>
            <a:off x="585216" y="2103120"/>
            <a:ext cx="1668780" cy="246888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3574" y="2304288"/>
            <a:ext cx="512064" cy="512064"/>
          </a:xfrm>
          <a:prstGeom prst="ellipse">
            <a:avLst/>
          </a:prstGeom>
          <a:solidFill>
            <a:srgbClr val="820DDF"/>
          </a:solidFill>
          <a:ln/>
        </p:spPr>
      </p:sp>
      <p:sp>
        <p:nvSpPr>
          <p:cNvPr id="6" name="Text 4"/>
          <p:cNvSpPr/>
          <p:nvPr/>
        </p:nvSpPr>
        <p:spPr>
          <a:xfrm>
            <a:off x="1163574" y="2304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76656" y="2926080"/>
            <a:ext cx="1485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2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Job Title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4944" y="3520440"/>
            <a:ext cx="14493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Confirm one specific job title, not a department or broad persona.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53996" y="3337560"/>
            <a:ext cx="201168" cy="0"/>
          </a:xfrm>
          <a:prstGeom prst="line">
            <a:avLst/>
          </a:prstGeom>
          <a:noFill/>
          <a:ln w="15875">
            <a:solidFill>
              <a:srgbClr val="820DD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455164" y="2103120"/>
            <a:ext cx="1668780" cy="246888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33522" y="2304288"/>
            <a:ext cx="512064" cy="512064"/>
          </a:xfrm>
          <a:prstGeom prst="ellipse">
            <a:avLst/>
          </a:prstGeom>
          <a:solidFill>
            <a:srgbClr val="820DDF"/>
          </a:solidFill>
          <a:ln/>
        </p:spPr>
      </p:sp>
      <p:sp>
        <p:nvSpPr>
          <p:cNvPr id="12" name="Text 10"/>
          <p:cNvSpPr/>
          <p:nvPr/>
        </p:nvSpPr>
        <p:spPr>
          <a:xfrm>
            <a:off x="3033522" y="2304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46604" y="2926080"/>
            <a:ext cx="1485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2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Business Issue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4892" y="3520440"/>
            <a:ext cx="14493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 the CBI and the problems preventing progress.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23944" y="3337560"/>
            <a:ext cx="201168" cy="0"/>
          </a:xfrm>
          <a:prstGeom prst="line">
            <a:avLst/>
          </a:prstGeom>
          <a:noFill/>
          <a:ln w="15875">
            <a:solidFill>
              <a:srgbClr val="820DD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25112" y="2103120"/>
            <a:ext cx="1668780" cy="246888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03470" y="2304288"/>
            <a:ext cx="512064" cy="512064"/>
          </a:xfrm>
          <a:prstGeom prst="ellipse">
            <a:avLst/>
          </a:prstGeom>
          <a:solidFill>
            <a:srgbClr val="820DDF"/>
          </a:solidFill>
          <a:ln/>
        </p:spPr>
      </p:sp>
      <p:sp>
        <p:nvSpPr>
          <p:cNvPr id="18" name="Text 16"/>
          <p:cNvSpPr/>
          <p:nvPr/>
        </p:nvSpPr>
        <p:spPr>
          <a:xfrm>
            <a:off x="4903470" y="2304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416552" y="2926080"/>
            <a:ext cx="1485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2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Problems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34840" y="3520440"/>
            <a:ext cx="14493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Name the reasons progress stalls today.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93892" y="3337560"/>
            <a:ext cx="201168" cy="0"/>
          </a:xfrm>
          <a:prstGeom prst="line">
            <a:avLst/>
          </a:prstGeom>
          <a:noFill/>
          <a:ln w="15875">
            <a:solidFill>
              <a:srgbClr val="820DD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195060" y="2103120"/>
            <a:ext cx="1668780" cy="246888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73418" y="2304288"/>
            <a:ext cx="512064" cy="512064"/>
          </a:xfrm>
          <a:prstGeom prst="ellipse">
            <a:avLst/>
          </a:prstGeom>
          <a:solidFill>
            <a:srgbClr val="820DDF"/>
          </a:solidFill>
          <a:ln/>
        </p:spPr>
      </p:sp>
      <p:sp>
        <p:nvSpPr>
          <p:cNvPr id="24" name="Text 22"/>
          <p:cNvSpPr/>
          <p:nvPr/>
        </p:nvSpPr>
        <p:spPr>
          <a:xfrm>
            <a:off x="6773418" y="2304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286500" y="2926080"/>
            <a:ext cx="1485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2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4788" y="3520440"/>
            <a:ext cx="14493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Show only the capabilities the prospect calls must-have.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863840" y="3337560"/>
            <a:ext cx="201168" cy="0"/>
          </a:xfrm>
          <a:prstGeom prst="line">
            <a:avLst/>
          </a:prstGeom>
          <a:noFill/>
          <a:ln w="15875">
            <a:solidFill>
              <a:srgbClr val="820DD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065008" y="2103120"/>
            <a:ext cx="1668780" cy="246888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43366" y="2304288"/>
            <a:ext cx="512064" cy="512064"/>
          </a:xfrm>
          <a:prstGeom prst="ellipse">
            <a:avLst/>
          </a:prstGeom>
          <a:solidFill>
            <a:srgbClr val="820DDF"/>
          </a:solidFill>
          <a:ln/>
        </p:spPr>
      </p:sp>
      <p:sp>
        <p:nvSpPr>
          <p:cNvPr id="30" name="Text 28"/>
          <p:cNvSpPr/>
          <p:nvPr/>
        </p:nvSpPr>
        <p:spPr>
          <a:xfrm>
            <a:off x="8643366" y="2304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156448" y="2926080"/>
            <a:ext cx="1485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2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Delta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174736" y="3520440"/>
            <a:ext cx="14493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Quantify with customer-owned baselines, targets, and methods.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733788" y="3337560"/>
            <a:ext cx="201168" cy="0"/>
          </a:xfrm>
          <a:prstGeom prst="line">
            <a:avLst/>
          </a:prstGeom>
          <a:noFill/>
          <a:ln w="15875">
            <a:solidFill>
              <a:srgbClr val="820DDF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934956" y="2103120"/>
            <a:ext cx="1668780" cy="246888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13314" y="2304288"/>
            <a:ext cx="512064" cy="512064"/>
          </a:xfrm>
          <a:prstGeom prst="ellipse">
            <a:avLst/>
          </a:prstGeom>
          <a:solidFill>
            <a:srgbClr val="820DDF"/>
          </a:solidFill>
          <a:ln/>
        </p:spPr>
      </p:sp>
      <p:sp>
        <p:nvSpPr>
          <p:cNvPr id="36" name="Text 34"/>
          <p:cNvSpPr/>
          <p:nvPr/>
        </p:nvSpPr>
        <p:spPr>
          <a:xfrm>
            <a:off x="10513314" y="2304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026396" y="2926080"/>
            <a:ext cx="14859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2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Critical Date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044684" y="3520440"/>
            <a:ext cx="14493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Tie to a consequential business, regulatory, product, or operating event.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5216" y="489204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link must hold before the opportunity is qualified.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457200"/>
            <a:ext cx="11018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92"/>
              </a:lnSpc>
              <a:buNone/>
            </a:pPr>
            <a:r>
              <a:rPr lang="en-US" sz="2400" dirty="0">
                <a:solidFill>
                  <a:srgbClr val="090909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Proceed, reshape, or stop based on testable value and feasibility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85216" y="1417320"/>
            <a:ext cx="11018520" cy="12802"/>
          </a:xfrm>
          <a:prstGeom prst="rect">
            <a:avLst/>
          </a:prstGeom>
          <a:solidFill>
            <a:srgbClr val="D9D6DE"/>
          </a:solidFill>
          <a:ln/>
        </p:spPr>
      </p:sp>
      <p:sp>
        <p:nvSpPr>
          <p:cNvPr id="4" name="Shape 2"/>
          <p:cNvSpPr/>
          <p:nvPr/>
        </p:nvSpPr>
        <p:spPr>
          <a:xfrm>
            <a:off x="585216" y="1828800"/>
            <a:ext cx="4114800" cy="96012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1828800"/>
            <a:ext cx="82296" cy="960120"/>
          </a:xfrm>
          <a:prstGeom prst="rect">
            <a:avLst/>
          </a:prstGeom>
          <a:solidFill>
            <a:srgbClr val="820DD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938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Decision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21284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Priority anchor, primary job title, decision owner, consequential question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5216" y="2898648"/>
            <a:ext cx="4114800" cy="96012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" y="2898648"/>
            <a:ext cx="82296" cy="960120"/>
          </a:xfrm>
          <a:prstGeom prst="rect">
            <a:avLst/>
          </a:prstGeom>
          <a:solidFill>
            <a:srgbClr val="820DDF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0083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6384" y="32826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and events, Domain context, API fit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" y="3968496"/>
            <a:ext cx="4114800" cy="96012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" y="3968496"/>
            <a:ext cx="82296" cy="960120"/>
          </a:xfrm>
          <a:prstGeom prst="rect">
            <a:avLst/>
          </a:prstGeom>
          <a:solidFill>
            <a:srgbClr val="820DDF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40782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Controls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6384" y="435254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Access, engineering needs, ownership boundaries, governance dependencies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5216" y="5038344"/>
            <a:ext cx="4114800" cy="960120"/>
          </a:xfrm>
          <a:prstGeom prst="rect">
            <a:avLst/>
          </a:prstGeom>
          <a:solidFill>
            <a:srgbClr val="F5F3F7"/>
          </a:solidFill>
          <a:ln w="9525">
            <a:solidFill>
              <a:srgbClr val="D9D6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" y="5038344"/>
            <a:ext cx="82296" cy="960120"/>
          </a:xfrm>
          <a:prstGeom prst="rect">
            <a:avLst/>
          </a:prstGeom>
          <a:solidFill>
            <a:srgbClr val="820DD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5148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Delta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6384" y="54223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09090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Minimum proofs, customer-owned success evidence, delta assumptions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2651760"/>
            <a:ext cx="1828800" cy="1554480"/>
          </a:xfrm>
          <a:prstGeom prst="rect">
            <a:avLst/>
          </a:prstGeom>
          <a:solidFill>
            <a:srgbClr val="820DD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65176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Decision gate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00016" y="3429000"/>
            <a:ext cx="329184" cy="0"/>
          </a:xfrm>
          <a:prstGeom prst="line">
            <a:avLst/>
          </a:prstGeom>
          <a:noFill/>
          <a:ln w="19050">
            <a:solidFill>
              <a:srgbClr val="52525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06640" y="1828800"/>
            <a:ext cx="4187952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820D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0" y="1828800"/>
            <a:ext cx="3730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820DD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Proceed  </a:t>
            </a:r>
            <a:pPr algn="l" indent="0" marL="0">
              <a:buNone/>
            </a:pPr>
            <a:r>
              <a:rPr lang="en-US" sz="12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validation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58000" y="3429000"/>
            <a:ext cx="548640" cy="0"/>
          </a:xfrm>
          <a:prstGeom prst="line">
            <a:avLst/>
          </a:prstGeom>
          <a:noFill/>
          <a:ln w="12700">
            <a:solidFill>
              <a:srgbClr val="525252"/>
            </a:solidFill>
            <a:prstDash val="dot"/>
          </a:ln>
        </p:spPr>
      </p:sp>
      <p:sp>
        <p:nvSpPr>
          <p:cNvPr id="26" name="Shape 24"/>
          <p:cNvSpPr/>
          <p:nvPr/>
        </p:nvSpPr>
        <p:spPr>
          <a:xfrm>
            <a:off x="7406640" y="3008376"/>
            <a:ext cx="4187952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FF6C0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3008376"/>
            <a:ext cx="3730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6C02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Reshape  </a:t>
            </a:r>
            <a:pPr algn="l" indent="0" marL="0">
              <a:buNone/>
            </a:pPr>
            <a:r>
              <a:rPr lang="en-US" sz="12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hypothesis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858000" y="3429000"/>
            <a:ext cx="548640" cy="0"/>
          </a:xfrm>
          <a:prstGeom prst="line">
            <a:avLst/>
          </a:prstGeom>
          <a:noFill/>
          <a:ln w="12700">
            <a:solidFill>
              <a:srgbClr val="525252"/>
            </a:solidFill>
            <a:prstDash val="dot"/>
          </a:ln>
        </p:spPr>
      </p:sp>
      <p:sp>
        <p:nvSpPr>
          <p:cNvPr id="29" name="Shape 27"/>
          <p:cNvSpPr/>
          <p:nvPr/>
        </p:nvSpPr>
        <p:spPr>
          <a:xfrm>
            <a:off x="7406640" y="4187952"/>
            <a:ext cx="4187952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5252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4187952"/>
            <a:ext cx="3730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Stop  </a:t>
            </a:r>
            <a:pPr algn="l" indent="0" marL="0">
              <a:buNone/>
            </a:pPr>
            <a:r>
              <a:rPr lang="en-US" sz="1250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 disqualify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858000" y="3429000"/>
            <a:ext cx="548640" cy="0"/>
          </a:xfrm>
          <a:prstGeom prst="line">
            <a:avLst/>
          </a:prstGeom>
          <a:noFill/>
          <a:ln w="12700">
            <a:solidFill>
              <a:srgbClr val="525252"/>
            </a:solidFill>
            <a:prstDash val="dot"/>
          </a:ln>
        </p:spPr>
      </p:sp>
      <p:sp>
        <p:nvSpPr>
          <p:cNvPr id="32" name="Text 30"/>
          <p:cNvSpPr/>
          <p:nvPr/>
        </p:nvSpPr>
        <p:spPr>
          <a:xfrm>
            <a:off x="585216" y="580644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2525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Record inspectability limits, human accountability, and Preview status before deciding.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85216" y="6400800"/>
            <a:ext cx="45720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5252"/>
                </a:solidFill>
                <a:latin typeface="Roboto"/>
                <a:ea typeface="Roboto"/>
                <a:cs typeface="Roboto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Fintech Aura Analyst Modular Demo Playbook</dc:title>
  <dc:subject>PptxGenJS Presentation</dc:subject>
  <dc:creator>SingleStore</dc:creator>
  <cp:lastModifiedBy>SingleStore</cp:lastModifiedBy>
  <cp:revision>1</cp:revision>
  <dcterms:created xsi:type="dcterms:W3CDTF">2026-07-25T09:02:11Z</dcterms:created>
  <dcterms:modified xsi:type="dcterms:W3CDTF">2026-07-25T09:02:11Z</dcterms:modified>
</cp:coreProperties>
</file>