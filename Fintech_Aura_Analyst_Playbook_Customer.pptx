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21"/>
  </p:notesMasterIdLst>
  <p:sldIdLst>
    <p:sldId id="256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Medium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8"/>
    <p:restoredTop sz="94653"/>
  </p:normalViewPr>
  <p:slideViewPr>
    <p:cSldViewPr snapToGrid="0">
      <p:cViewPr varScale="1">
        <p:scale>
          <a:sx n="146" d="100"/>
          <a:sy n="146" d="100"/>
        </p:scale>
        <p:origin x="2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Which of your decisions grows more valuable if time-to-know falls?</a:t>
            </a:r>
          </a:p>
          <a:p>
            <a:r>
              <a:t>• Agree on the cost of delay before reviewing any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Validate which conversion outcome has the highest value, the current baseline, and the event creating the deadline.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To confirm together: the revenue thresholds, revenue-at-risk calculation, and upcoming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To confirm together: the priority loss category, acceptable false-positive trade-off, and deadline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To confirm together: the policy outcome at risk, backlog targets, and examination or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To confirm together: the highest-exposure SLA, cost drivers, and volume or scrutiny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To confirm together: the measure driving action, cost of delayed visibility, and settlement or funding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To confirm together: the delayed decision stage, concentration thresholds, and review or policy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Validate high-volume customer questions, the monetization behavior, and release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Basic Content">
  <p:cSld name="Small Basic Conten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1101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edium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Basic Content Dark">
  <p:cSld name="Small Basic Content_1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1101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Line">
  <p:cSld name="Cover Line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584647" y="2813447"/>
            <a:ext cx="55113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edium"/>
              <a:buNone/>
              <a:defRPr sz="4000" b="0" i="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62353" y="584201"/>
            <a:ext cx="4445000" cy="5686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4"/>
          <p:cNvCxnSpPr/>
          <p:nvPr/>
        </p:nvCxnSpPr>
        <p:spPr>
          <a:xfrm>
            <a:off x="584646" y="5865891"/>
            <a:ext cx="55113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582613" y="6041646"/>
            <a:ext cx="438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4" y="585216"/>
            <a:ext cx="2304287" cy="47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Photo">
  <p:cSld name="Cover Pho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459000" cy="6858000"/>
          </a:xfrm>
          <a:prstGeom prst="rect">
            <a:avLst/>
          </a:prstGeom>
          <a:gradFill>
            <a:gsLst>
              <a:gs pos="0">
                <a:srgbClr val="090909">
                  <a:alpha val="75686"/>
                </a:srgbClr>
              </a:gs>
              <a:gs pos="54000">
                <a:srgbClr val="090909">
                  <a:alpha val="75686"/>
                </a:srgbClr>
              </a:gs>
              <a:gs pos="100000">
                <a:srgbClr val="09090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7040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 Medium"/>
              <a:buNone/>
              <a:defRPr sz="4000" b="0" i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1" name="Google Shape;31;p5"/>
          <p:cNvCxnSpPr/>
          <p:nvPr/>
        </p:nvCxnSpPr>
        <p:spPr>
          <a:xfrm>
            <a:off x="584646" y="5865891"/>
            <a:ext cx="7041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582613" y="6041646"/>
            <a:ext cx="438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4" y="585216"/>
            <a:ext cx="2304287" cy="47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Line">
  <p:cSld name="Section Break Lin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584646" y="2858313"/>
            <a:ext cx="6501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584647" y="6425347"/>
            <a:ext cx="365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" name="Google Shape;37;p6"/>
          <p:cNvCxnSpPr/>
          <p:nvPr/>
        </p:nvCxnSpPr>
        <p:spPr>
          <a:xfrm>
            <a:off x="584994" y="6270625"/>
            <a:ext cx="110220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8" name="Google Shape;3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2223" y="584200"/>
            <a:ext cx="3372401" cy="5403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Photo">
  <p:cSld name="Section Break Photo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l="99420" b="12900"/>
          <a:stretch/>
        </p:blipFill>
        <p:spPr>
          <a:xfrm>
            <a:off x="-1" y="0"/>
            <a:ext cx="12192001" cy="627868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/>
          <p:nvPr/>
        </p:nvSpPr>
        <p:spPr>
          <a:xfrm>
            <a:off x="0" y="-13184"/>
            <a:ext cx="11778000" cy="6278700"/>
          </a:xfrm>
          <a:prstGeom prst="rect">
            <a:avLst/>
          </a:prstGeom>
          <a:gradFill>
            <a:gsLst>
              <a:gs pos="0">
                <a:srgbClr val="090909">
                  <a:alpha val="75686"/>
                </a:srgbClr>
              </a:gs>
              <a:gs pos="38000">
                <a:srgbClr val="090909">
                  <a:alpha val="75686"/>
                </a:srgbClr>
              </a:gs>
              <a:gs pos="100000">
                <a:srgbClr val="09090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584646" y="2858313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" name="Google Shape;4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Alt">
  <p:cSld name="Section Break Alt">
    <p:bg>
      <p:bgPr>
        <a:solidFill>
          <a:schemeClr val="lt2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584647" y="2858313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" name="Google Shape;49;p8"/>
          <p:cNvCxnSpPr/>
          <p:nvPr/>
        </p:nvCxnSpPr>
        <p:spPr>
          <a:xfrm>
            <a:off x="584994" y="6270625"/>
            <a:ext cx="11022000" cy="0"/>
          </a:xfrm>
          <a:prstGeom prst="straightConnector1">
            <a:avLst/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0" name="Google Shape;5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7230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edium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3" name="Google Shape;53;p9"/>
          <p:cNvCxnSpPr/>
          <p:nvPr/>
        </p:nvCxnSpPr>
        <p:spPr>
          <a:xfrm rot="10800000">
            <a:off x="584663" y="1104902"/>
            <a:ext cx="723060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584647" y="1397000"/>
            <a:ext cx="7230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9"/>
          <p:cNvSpPr>
            <a:spLocks noGrp="1"/>
          </p:cNvSpPr>
          <p:nvPr>
            <p:ph type="pic" idx="2"/>
          </p:nvPr>
        </p:nvSpPr>
        <p:spPr>
          <a:xfrm>
            <a:off x="8404225" y="584200"/>
            <a:ext cx="3200400" cy="568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09">
          <p15:clr>
            <a:srgbClr val="FBAE40"/>
          </p15:clr>
        </p15:guide>
        <p15:guide id="2" pos="5294">
          <p15:clr>
            <a:srgbClr val="FBAE40"/>
          </p15:clr>
        </p15:guide>
        <p15:guide id="3" pos="492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ark">
  <p:cSld name="Agenda_1">
    <p:bg>
      <p:bgPr>
        <a:solidFill>
          <a:schemeClr val="dk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7230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60" name="Google Shape;60;p10"/>
          <p:cNvCxnSpPr/>
          <p:nvPr/>
        </p:nvCxnSpPr>
        <p:spPr>
          <a:xfrm rot="10800000">
            <a:off x="584663" y="1104902"/>
            <a:ext cx="723060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584647" y="1397000"/>
            <a:ext cx="7230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8404225" y="584200"/>
            <a:ext cx="3200400" cy="5686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id="64" name="Google Shape;6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09">
          <p15:clr>
            <a:srgbClr val="FBAE40"/>
          </p15:clr>
        </p15:guide>
        <p15:guide id="2" pos="5294">
          <p15:clr>
            <a:srgbClr val="FBAE40"/>
          </p15:clr>
        </p15:guide>
        <p15:guide id="3" pos="492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">
  <p:cSld name="Agenda Alt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584648" y="1397002"/>
            <a:ext cx="5221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6391274" y="1397002"/>
            <a:ext cx="5214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" name="Google Shape;69;p11"/>
          <p:cNvCxnSpPr/>
          <p:nvPr/>
        </p:nvCxnSpPr>
        <p:spPr>
          <a:xfrm>
            <a:off x="584994" y="1104902"/>
            <a:ext cx="5212200" cy="0"/>
          </a:xfrm>
          <a:prstGeom prst="straightConnector1">
            <a:avLst/>
          </a:prstGeom>
          <a:noFill/>
          <a:ln w="12700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" name="Google Shape;70;p11"/>
          <p:cNvCxnSpPr/>
          <p:nvPr/>
        </p:nvCxnSpPr>
        <p:spPr>
          <a:xfrm>
            <a:off x="6391274" y="1104902"/>
            <a:ext cx="521220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1" name="Google Shape;7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57">
          <p15:clr>
            <a:srgbClr val="FBAE40"/>
          </p15:clr>
        </p15:guide>
        <p15:guide id="3" pos="402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Dark">
  <p:cSld name="Agenda Alt_1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584648" y="1397002"/>
            <a:ext cx="5221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6391274" y="1397002"/>
            <a:ext cx="5214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" name="Google Shape;76;p12"/>
          <p:cNvCxnSpPr/>
          <p:nvPr/>
        </p:nvCxnSpPr>
        <p:spPr>
          <a:xfrm>
            <a:off x="584994" y="1104902"/>
            <a:ext cx="5212200" cy="0"/>
          </a:xfrm>
          <a:prstGeom prst="straightConnector1">
            <a:avLst/>
          </a:prstGeom>
          <a:noFill/>
          <a:ln w="12700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12"/>
          <p:cNvCxnSpPr/>
          <p:nvPr/>
        </p:nvCxnSpPr>
        <p:spPr>
          <a:xfrm>
            <a:off x="6391274" y="1104902"/>
            <a:ext cx="521220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8" name="Google Shape;7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57">
          <p15:clr>
            <a:srgbClr val="FBAE40"/>
          </p15:clr>
        </p15:guide>
        <p15:guide id="3" pos="402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">
  <p:cSld name="Basic Content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Dark">
  <p:cSld name="Basic Content_1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- Two Columns">
  <p:cSld name="Basic Content - Two Columns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52155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2"/>
          </p:nvPr>
        </p:nvSpPr>
        <p:spPr>
          <a:xfrm>
            <a:off x="6392863" y="1397000"/>
            <a:ext cx="52119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7">
          <p15:clr>
            <a:srgbClr val="FBAE40"/>
          </p15:clr>
        </p15:guide>
        <p15:guide id="3" pos="36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- Two Columns Dark">
  <p:cSld name="Basic Content - Two Columns_1">
    <p:bg>
      <p:bgPr>
        <a:solidFill>
          <a:schemeClr val="dk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52155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2"/>
          </p:nvPr>
        </p:nvSpPr>
        <p:spPr>
          <a:xfrm>
            <a:off x="6392863" y="1397000"/>
            <a:ext cx="52119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7">
          <p15:clr>
            <a:srgbClr val="FBAE40"/>
          </p15:clr>
        </p15:guide>
        <p15:guide id="3" pos="36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">
  <p:cSld name="Centered Title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Dark">
  <p:cSld name="Centered Title_1"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">
  <p:cSld name="Side Titl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584646" y="2858313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Dark">
  <p:cSld name="Side Title_1"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584646" y="2858313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Photo Content">
  <p:cSld name="Side Title Photo Conten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584646" y="2581315"/>
            <a:ext cx="521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586740" y="3479484"/>
            <a:ext cx="5215500" cy="27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>
            <a:spLocks noGrp="1"/>
          </p:cNvSpPr>
          <p:nvPr>
            <p:ph type="pic" idx="2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  <p15:guide id="4" orient="horz" pos="2160">
          <p15:clr>
            <a:srgbClr val="FBAE40"/>
          </p15:clr>
        </p15:guide>
        <p15:guide id="5" orient="horz" pos="2343">
          <p15:clr>
            <a:srgbClr val="FBAE40"/>
          </p15:clr>
        </p15:guide>
        <p15:guide id="6" orient="horz" pos="197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Photo Content Dark">
  <p:cSld name="Side Title Photo Content_1">
    <p:bg>
      <p:bgPr>
        <a:solidFill>
          <a:schemeClr val="dk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584646" y="2581315"/>
            <a:ext cx="521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586740" y="3479484"/>
            <a:ext cx="5215500" cy="27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>
            <a:spLocks noGrp="1"/>
          </p:cNvSpPr>
          <p:nvPr>
            <p:ph type="pic" idx="2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  <p15:guide id="4" orient="horz" pos="2160">
          <p15:clr>
            <a:srgbClr val="FBAE40"/>
          </p15:clr>
        </p15:guide>
        <p15:guide id="5" orient="horz" pos="2343">
          <p15:clr>
            <a:srgbClr val="FBAE40"/>
          </p15:clr>
        </p15:guide>
        <p15:guide id="6" orient="horz" pos="197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Photo">
  <p:cSld name="Centered Title Photo">
    <p:bg>
      <p:bgPr>
        <a:solidFill>
          <a:schemeClr val="l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584647" y="642667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>
            <a:spLocks noGrp="1"/>
          </p:cNvSpPr>
          <p:nvPr>
            <p:ph type="pic" idx="2"/>
          </p:nvPr>
        </p:nvSpPr>
        <p:spPr>
          <a:xfrm>
            <a:off x="0" y="1397000"/>
            <a:ext cx="12192000" cy="5460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Photo Dark">
  <p:cSld name="Centered Title Photo_1">
    <p:bg>
      <p:bgPr>
        <a:solidFill>
          <a:schemeClr val="dk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/>
        </p:nvSpPr>
        <p:spPr>
          <a:xfrm>
            <a:off x="584647" y="642667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4"/>
          <p:cNvSpPr>
            <a:spLocks noGrp="1"/>
          </p:cNvSpPr>
          <p:nvPr>
            <p:ph type="pic" idx="2"/>
          </p:nvPr>
        </p:nvSpPr>
        <p:spPr>
          <a:xfrm>
            <a:off x="0" y="1397000"/>
            <a:ext cx="12192000" cy="5460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Side Title Full Photo">
  <p:cSld name="Left Side Title Full Photo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>
            <a:spLocks noGrp="1"/>
          </p:cNvSpPr>
          <p:nvPr>
            <p:ph type="pic" idx="2"/>
          </p:nvPr>
        </p:nvSpPr>
        <p:spPr>
          <a:xfrm>
            <a:off x="0" y="567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-1" y="0"/>
            <a:ext cx="5807100" cy="6858000"/>
          </a:xfrm>
          <a:prstGeom prst="rect">
            <a:avLst/>
          </a:prstGeom>
          <a:gradFill>
            <a:gsLst>
              <a:gs pos="0">
                <a:srgbClr val="090909">
                  <a:alpha val="89804"/>
                </a:srgbClr>
              </a:gs>
              <a:gs pos="45000">
                <a:srgbClr val="090909">
                  <a:alpha val="60000"/>
                </a:srgbClr>
              </a:gs>
              <a:gs pos="100000">
                <a:srgbClr val="09090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58520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Side Title Full Photo">
  <p:cSld name="Right Side Title Full Photo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gradFill>
            <a:gsLst>
              <a:gs pos="0">
                <a:srgbClr val="090909">
                  <a:alpha val="89804"/>
                </a:srgbClr>
              </a:gs>
              <a:gs pos="45000">
                <a:srgbClr val="090909">
                  <a:alpha val="60000"/>
                </a:srgbClr>
              </a:gs>
              <a:gs pos="100000">
                <a:srgbClr val="090909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58520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2 Photos">
  <p:cSld name="Centered Title 2 Photos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7"/>
          <p:cNvSpPr>
            <a:spLocks noGrp="1"/>
          </p:cNvSpPr>
          <p:nvPr>
            <p:ph type="pic" idx="2"/>
          </p:nvPr>
        </p:nvSpPr>
        <p:spPr>
          <a:xfrm>
            <a:off x="588899" y="1993900"/>
            <a:ext cx="52134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588899" y="5395272"/>
            <a:ext cx="521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7"/>
          <p:cNvSpPr>
            <a:spLocks noGrp="1"/>
          </p:cNvSpPr>
          <p:nvPr>
            <p:ph type="pic" idx="3"/>
          </p:nvPr>
        </p:nvSpPr>
        <p:spPr>
          <a:xfrm>
            <a:off x="6392862" y="1993900"/>
            <a:ext cx="52101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5" name="Google Shape;155;p27"/>
          <p:cNvSpPr txBox="1">
            <a:spLocks noGrp="1"/>
          </p:cNvSpPr>
          <p:nvPr>
            <p:ph type="body" idx="4"/>
          </p:nvPr>
        </p:nvSpPr>
        <p:spPr>
          <a:xfrm>
            <a:off x="6392862" y="5395272"/>
            <a:ext cx="521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7">
          <p15:clr>
            <a:srgbClr val="FBAE40"/>
          </p15:clr>
        </p15:guide>
        <p15:guide id="3" pos="365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2 Photos Dark">
  <p:cSld name="Centered Title 2 Photos_1">
    <p:bg>
      <p:bgPr>
        <a:solidFill>
          <a:schemeClr val="dk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8"/>
          <p:cNvSpPr>
            <a:spLocks noGrp="1"/>
          </p:cNvSpPr>
          <p:nvPr>
            <p:ph type="pic" idx="2"/>
          </p:nvPr>
        </p:nvSpPr>
        <p:spPr>
          <a:xfrm>
            <a:off x="588899" y="1993900"/>
            <a:ext cx="52134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588899" y="5395272"/>
            <a:ext cx="521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8"/>
          <p:cNvSpPr>
            <a:spLocks noGrp="1"/>
          </p:cNvSpPr>
          <p:nvPr>
            <p:ph type="pic" idx="3"/>
          </p:nvPr>
        </p:nvSpPr>
        <p:spPr>
          <a:xfrm>
            <a:off x="6392862" y="1993900"/>
            <a:ext cx="52101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3" name="Google Shape;163;p28"/>
          <p:cNvSpPr txBox="1">
            <a:spLocks noGrp="1"/>
          </p:cNvSpPr>
          <p:nvPr>
            <p:ph type="body" idx="4"/>
          </p:nvPr>
        </p:nvSpPr>
        <p:spPr>
          <a:xfrm>
            <a:off x="6392862" y="5395272"/>
            <a:ext cx="521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7">
          <p15:clr>
            <a:srgbClr val="FBAE40"/>
          </p15:clr>
        </p15:guide>
        <p15:guide id="3" pos="365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3 Photos">
  <p:cSld name="Centered Title 3 Photos"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9"/>
          <p:cNvSpPr>
            <a:spLocks noGrp="1"/>
          </p:cNvSpPr>
          <p:nvPr>
            <p:ph type="pic" idx="2"/>
          </p:nvPr>
        </p:nvSpPr>
        <p:spPr>
          <a:xfrm>
            <a:off x="588899" y="1993900"/>
            <a:ext cx="33873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9" name="Google Shape;169;p29"/>
          <p:cNvSpPr txBox="1">
            <a:spLocks noGrp="1"/>
          </p:cNvSpPr>
          <p:nvPr>
            <p:ph type="body" idx="1"/>
          </p:nvPr>
        </p:nvSpPr>
        <p:spPr>
          <a:xfrm>
            <a:off x="588899" y="5395272"/>
            <a:ext cx="33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9"/>
          <p:cNvSpPr>
            <a:spLocks noGrp="1"/>
          </p:cNvSpPr>
          <p:nvPr>
            <p:ph type="pic" idx="3"/>
          </p:nvPr>
        </p:nvSpPr>
        <p:spPr>
          <a:xfrm>
            <a:off x="4398033" y="1993900"/>
            <a:ext cx="33873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1" name="Google Shape;171;p29"/>
          <p:cNvSpPr txBox="1">
            <a:spLocks noGrp="1"/>
          </p:cNvSpPr>
          <p:nvPr>
            <p:ph type="body" idx="4"/>
          </p:nvPr>
        </p:nvSpPr>
        <p:spPr>
          <a:xfrm>
            <a:off x="4398033" y="5395272"/>
            <a:ext cx="33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9"/>
          <p:cNvSpPr>
            <a:spLocks noGrp="1"/>
          </p:cNvSpPr>
          <p:nvPr>
            <p:ph type="pic" idx="5"/>
          </p:nvPr>
        </p:nvSpPr>
        <p:spPr>
          <a:xfrm>
            <a:off x="8211056" y="1993900"/>
            <a:ext cx="33936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3" name="Google Shape;173;p29"/>
          <p:cNvSpPr txBox="1">
            <a:spLocks noGrp="1"/>
          </p:cNvSpPr>
          <p:nvPr>
            <p:ph type="body" idx="6"/>
          </p:nvPr>
        </p:nvSpPr>
        <p:spPr>
          <a:xfrm>
            <a:off x="8211141" y="5395272"/>
            <a:ext cx="3392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037">
          <p15:clr>
            <a:srgbClr val="FBAE40"/>
          </p15:clr>
        </p15:guide>
        <p15:guide id="2" pos="5169">
          <p15:clr>
            <a:srgbClr val="FBAE40"/>
          </p15:clr>
        </p15:guide>
        <p15:guide id="3" pos="4907">
          <p15:clr>
            <a:srgbClr val="FBAE40"/>
          </p15:clr>
        </p15:guide>
        <p15:guide id="4" pos="2641">
          <p15:clr>
            <a:srgbClr val="FBAE40"/>
          </p15:clr>
        </p15:guide>
        <p15:guide id="5" pos="2772">
          <p15:clr>
            <a:srgbClr val="FBAE40"/>
          </p15:clr>
        </p15:guide>
        <p15:guide id="6" pos="250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itle 3 Photos Dark">
  <p:cSld name="Centered Title 3 Photos_1">
    <p:bg>
      <p:bgPr>
        <a:solidFill>
          <a:schemeClr val="dk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30"/>
          <p:cNvSpPr>
            <a:spLocks noGrp="1"/>
          </p:cNvSpPr>
          <p:nvPr>
            <p:ph type="pic" idx="2"/>
          </p:nvPr>
        </p:nvSpPr>
        <p:spPr>
          <a:xfrm>
            <a:off x="588899" y="1993900"/>
            <a:ext cx="33873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9" name="Google Shape;179;p30"/>
          <p:cNvSpPr txBox="1">
            <a:spLocks noGrp="1"/>
          </p:cNvSpPr>
          <p:nvPr>
            <p:ph type="body" idx="1"/>
          </p:nvPr>
        </p:nvSpPr>
        <p:spPr>
          <a:xfrm>
            <a:off x="588899" y="5395272"/>
            <a:ext cx="33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30"/>
          <p:cNvSpPr>
            <a:spLocks noGrp="1"/>
          </p:cNvSpPr>
          <p:nvPr>
            <p:ph type="pic" idx="3"/>
          </p:nvPr>
        </p:nvSpPr>
        <p:spPr>
          <a:xfrm>
            <a:off x="4398033" y="1993900"/>
            <a:ext cx="33873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1" name="Google Shape;181;p30"/>
          <p:cNvSpPr txBox="1">
            <a:spLocks noGrp="1"/>
          </p:cNvSpPr>
          <p:nvPr>
            <p:ph type="body" idx="4"/>
          </p:nvPr>
        </p:nvSpPr>
        <p:spPr>
          <a:xfrm>
            <a:off x="4398033" y="5395272"/>
            <a:ext cx="33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30"/>
          <p:cNvSpPr>
            <a:spLocks noGrp="1"/>
          </p:cNvSpPr>
          <p:nvPr>
            <p:ph type="pic" idx="5"/>
          </p:nvPr>
        </p:nvSpPr>
        <p:spPr>
          <a:xfrm>
            <a:off x="8211056" y="1993900"/>
            <a:ext cx="3393600" cy="32166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3" name="Google Shape;183;p30"/>
          <p:cNvSpPr txBox="1">
            <a:spLocks noGrp="1"/>
          </p:cNvSpPr>
          <p:nvPr>
            <p:ph type="body" idx="6"/>
          </p:nvPr>
        </p:nvSpPr>
        <p:spPr>
          <a:xfrm>
            <a:off x="8211141" y="5395272"/>
            <a:ext cx="3392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037">
          <p15:clr>
            <a:srgbClr val="FBAE40"/>
          </p15:clr>
        </p15:guide>
        <p15:guide id="2" pos="5169">
          <p15:clr>
            <a:srgbClr val="FBAE40"/>
          </p15:clr>
        </p15:guide>
        <p15:guide id="3" pos="4907">
          <p15:clr>
            <a:srgbClr val="FBAE40"/>
          </p15:clr>
        </p15:guide>
        <p15:guide id="4" pos="2641">
          <p15:clr>
            <a:srgbClr val="FBAE40"/>
          </p15:clr>
        </p15:guide>
        <p15:guide id="5" pos="2772">
          <p15:clr>
            <a:srgbClr val="FBAE40"/>
          </p15:clr>
        </p15:guide>
        <p15:guide id="6" pos="250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mmary">
  <p:cSld name="Customer Summary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/>
          <p:nvPr/>
        </p:nvSpPr>
        <p:spPr>
          <a:xfrm>
            <a:off x="8123238" y="0"/>
            <a:ext cx="4068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1"/>
          <p:cNvSpPr txBox="1">
            <a:spLocks noGrp="1"/>
          </p:cNvSpPr>
          <p:nvPr>
            <p:ph type="title"/>
          </p:nvPr>
        </p:nvSpPr>
        <p:spPr>
          <a:xfrm>
            <a:off x="584646" y="1348303"/>
            <a:ext cx="720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edium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1"/>
          <p:cNvSpPr txBox="1">
            <a:spLocks noGrp="1"/>
          </p:cNvSpPr>
          <p:nvPr>
            <p:ph type="body" idx="1"/>
          </p:nvPr>
        </p:nvSpPr>
        <p:spPr>
          <a:xfrm>
            <a:off x="8696074" y="446424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1"/>
          <p:cNvSpPr txBox="1">
            <a:spLocks noGrp="1"/>
          </p:cNvSpPr>
          <p:nvPr>
            <p:ph type="body" idx="2"/>
          </p:nvPr>
        </p:nvSpPr>
        <p:spPr>
          <a:xfrm>
            <a:off x="8696074" y="1191744"/>
            <a:ext cx="29085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1"/>
          <p:cNvSpPr txBox="1">
            <a:spLocks noGrp="1"/>
          </p:cNvSpPr>
          <p:nvPr>
            <p:ph type="body" idx="3"/>
          </p:nvPr>
        </p:nvSpPr>
        <p:spPr>
          <a:xfrm>
            <a:off x="8696074" y="1868534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4"/>
          </p:nvPr>
        </p:nvSpPr>
        <p:spPr>
          <a:xfrm>
            <a:off x="8696074" y="2606289"/>
            <a:ext cx="29085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1"/>
          <p:cNvSpPr>
            <a:spLocks noGrp="1"/>
          </p:cNvSpPr>
          <p:nvPr>
            <p:ph type="pic" idx="5"/>
          </p:nvPr>
        </p:nvSpPr>
        <p:spPr>
          <a:xfrm>
            <a:off x="582612" y="584200"/>
            <a:ext cx="18288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1"/>
          <p:cNvSpPr txBox="1">
            <a:spLocks noGrp="1"/>
          </p:cNvSpPr>
          <p:nvPr>
            <p:ph type="body" idx="6"/>
          </p:nvPr>
        </p:nvSpPr>
        <p:spPr>
          <a:xfrm>
            <a:off x="8696074" y="3301453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7"/>
          </p:nvPr>
        </p:nvSpPr>
        <p:spPr>
          <a:xfrm>
            <a:off x="8696074" y="4045391"/>
            <a:ext cx="29085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8"/>
          </p:nvPr>
        </p:nvSpPr>
        <p:spPr>
          <a:xfrm>
            <a:off x="582611" y="2450424"/>
            <a:ext cx="3311100" cy="17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9"/>
          </p:nvPr>
        </p:nvSpPr>
        <p:spPr>
          <a:xfrm>
            <a:off x="582611" y="4572000"/>
            <a:ext cx="33129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13"/>
          </p:nvPr>
        </p:nvSpPr>
        <p:spPr>
          <a:xfrm>
            <a:off x="4224728" y="2450424"/>
            <a:ext cx="3318900" cy="17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582613" y="2201565"/>
            <a:ext cx="79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Challenge</a:t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582611" y="4322501"/>
            <a:ext cx="665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Solution</a:t>
            </a:r>
            <a:endParaRPr/>
          </a:p>
        </p:txBody>
      </p:sp>
      <p:sp>
        <p:nvSpPr>
          <p:cNvPr id="201" name="Google Shape;201;p31"/>
          <p:cNvSpPr txBox="1"/>
          <p:nvPr/>
        </p:nvSpPr>
        <p:spPr>
          <a:xfrm>
            <a:off x="4228856" y="2201565"/>
            <a:ext cx="73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Outcome</a:t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475">
          <p15:clr>
            <a:srgbClr val="FBAE40"/>
          </p15:clr>
        </p15:guide>
        <p15:guide id="3" pos="547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mmary Dark">
  <p:cSld name="Customer Summary_1">
    <p:bg>
      <p:bgPr>
        <a:solidFill>
          <a:schemeClr val="dk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/>
          <p:nvPr/>
        </p:nvSpPr>
        <p:spPr>
          <a:xfrm>
            <a:off x="8123238" y="0"/>
            <a:ext cx="4068900" cy="6858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584646" y="1348303"/>
            <a:ext cx="720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body" idx="1"/>
          </p:nvPr>
        </p:nvSpPr>
        <p:spPr>
          <a:xfrm>
            <a:off x="8696074" y="446424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32"/>
          <p:cNvSpPr txBox="1">
            <a:spLocks noGrp="1"/>
          </p:cNvSpPr>
          <p:nvPr>
            <p:ph type="body" idx="2"/>
          </p:nvPr>
        </p:nvSpPr>
        <p:spPr>
          <a:xfrm>
            <a:off x="8696074" y="1191744"/>
            <a:ext cx="29085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body" idx="3"/>
          </p:nvPr>
        </p:nvSpPr>
        <p:spPr>
          <a:xfrm>
            <a:off x="8696074" y="1868534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body" idx="4"/>
          </p:nvPr>
        </p:nvSpPr>
        <p:spPr>
          <a:xfrm>
            <a:off x="8696074" y="2606289"/>
            <a:ext cx="29085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32"/>
          <p:cNvSpPr>
            <a:spLocks noGrp="1"/>
          </p:cNvSpPr>
          <p:nvPr>
            <p:ph type="pic" idx="5"/>
          </p:nvPr>
        </p:nvSpPr>
        <p:spPr>
          <a:xfrm>
            <a:off x="582612" y="584200"/>
            <a:ext cx="18288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32"/>
          <p:cNvSpPr txBox="1">
            <a:spLocks noGrp="1"/>
          </p:cNvSpPr>
          <p:nvPr>
            <p:ph type="body" idx="6"/>
          </p:nvPr>
        </p:nvSpPr>
        <p:spPr>
          <a:xfrm>
            <a:off x="8696074" y="3301453"/>
            <a:ext cx="2908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body" idx="7"/>
          </p:nvPr>
        </p:nvSpPr>
        <p:spPr>
          <a:xfrm>
            <a:off x="8696074" y="4045391"/>
            <a:ext cx="29085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32"/>
          <p:cNvSpPr txBox="1">
            <a:spLocks noGrp="1"/>
          </p:cNvSpPr>
          <p:nvPr>
            <p:ph type="body" idx="8"/>
          </p:nvPr>
        </p:nvSpPr>
        <p:spPr>
          <a:xfrm>
            <a:off x="582611" y="2450424"/>
            <a:ext cx="3311100" cy="17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body" idx="9"/>
          </p:nvPr>
        </p:nvSpPr>
        <p:spPr>
          <a:xfrm>
            <a:off x="582611" y="4572000"/>
            <a:ext cx="33129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body" idx="13"/>
          </p:nvPr>
        </p:nvSpPr>
        <p:spPr>
          <a:xfrm>
            <a:off x="4224728" y="2450424"/>
            <a:ext cx="3318900" cy="17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582613" y="2201565"/>
            <a:ext cx="79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Challenge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582611" y="4322501"/>
            <a:ext cx="665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4228856" y="2201565"/>
            <a:ext cx="73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Outcome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475">
          <p15:clr>
            <a:srgbClr val="FBAE40"/>
          </p15:clr>
        </p15:guide>
        <p15:guide id="3" pos="547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Impact">
  <p:cSld name="Customer Impact"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/>
        </p:nvSpPr>
        <p:spPr>
          <a:xfrm>
            <a:off x="8218487" y="584200"/>
            <a:ext cx="3386100" cy="568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33"/>
          <p:cNvSpPr>
            <a:spLocks noGrp="1"/>
          </p:cNvSpPr>
          <p:nvPr>
            <p:ph type="pic" idx="2"/>
          </p:nvPr>
        </p:nvSpPr>
        <p:spPr>
          <a:xfrm>
            <a:off x="8218487" y="4051310"/>
            <a:ext cx="3386100" cy="2219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24" name="Google Shape;224;p33"/>
          <p:cNvSpPr txBox="1">
            <a:spLocks noGrp="1"/>
          </p:cNvSpPr>
          <p:nvPr>
            <p:ph type="body" idx="1"/>
          </p:nvPr>
        </p:nvSpPr>
        <p:spPr>
          <a:xfrm>
            <a:off x="582612" y="2450424"/>
            <a:ext cx="22587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body" idx="3"/>
          </p:nvPr>
        </p:nvSpPr>
        <p:spPr>
          <a:xfrm>
            <a:off x="3058287" y="2450266"/>
            <a:ext cx="20664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body" idx="4"/>
          </p:nvPr>
        </p:nvSpPr>
        <p:spPr>
          <a:xfrm>
            <a:off x="5529834" y="2450266"/>
            <a:ext cx="22587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7" name="Google Shape;227;p33"/>
          <p:cNvCxnSpPr/>
          <p:nvPr/>
        </p:nvCxnSpPr>
        <p:spPr>
          <a:xfrm>
            <a:off x="5513388" y="5096258"/>
            <a:ext cx="0" cy="11703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8" name="Google Shape;228;p33"/>
          <p:cNvSpPr txBox="1">
            <a:spLocks noGrp="1"/>
          </p:cNvSpPr>
          <p:nvPr>
            <p:ph type="body" idx="5"/>
          </p:nvPr>
        </p:nvSpPr>
        <p:spPr>
          <a:xfrm>
            <a:off x="779146" y="5464242"/>
            <a:ext cx="20661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body" idx="6"/>
          </p:nvPr>
        </p:nvSpPr>
        <p:spPr>
          <a:xfrm>
            <a:off x="3254821" y="5464069"/>
            <a:ext cx="20619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33"/>
          <p:cNvSpPr txBox="1">
            <a:spLocks noGrp="1"/>
          </p:cNvSpPr>
          <p:nvPr>
            <p:ph type="body" idx="7"/>
          </p:nvPr>
        </p:nvSpPr>
        <p:spPr>
          <a:xfrm>
            <a:off x="5709922" y="5464069"/>
            <a:ext cx="20784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582613" y="2201565"/>
            <a:ext cx="68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Challenge</a:t>
            </a:r>
            <a:endParaRPr/>
          </a:p>
        </p:txBody>
      </p:sp>
      <p:sp>
        <p:nvSpPr>
          <p:cNvPr id="232" name="Google Shape;232;p33"/>
          <p:cNvSpPr txBox="1"/>
          <p:nvPr/>
        </p:nvSpPr>
        <p:spPr>
          <a:xfrm>
            <a:off x="3058287" y="2200767"/>
            <a:ext cx="57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Solution</a:t>
            </a: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5533961" y="2199969"/>
            <a:ext cx="62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Outcome</a:t>
            </a:r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body" idx="8"/>
          </p:nvPr>
        </p:nvSpPr>
        <p:spPr>
          <a:xfrm>
            <a:off x="779146" y="5098094"/>
            <a:ext cx="20661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body" idx="9"/>
          </p:nvPr>
        </p:nvSpPr>
        <p:spPr>
          <a:xfrm>
            <a:off x="3254821" y="5096260"/>
            <a:ext cx="20619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3"/>
          </p:nvPr>
        </p:nvSpPr>
        <p:spPr>
          <a:xfrm>
            <a:off x="5709922" y="5096260"/>
            <a:ext cx="20784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body" idx="14"/>
          </p:nvPr>
        </p:nvSpPr>
        <p:spPr>
          <a:xfrm>
            <a:off x="8490378" y="891977"/>
            <a:ext cx="2842500" cy="28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584647" y="1348303"/>
            <a:ext cx="720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Medium"/>
              <a:buNone/>
              <a:defRPr sz="20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9" name="Google Shape;239;p33"/>
          <p:cNvCxnSpPr/>
          <p:nvPr/>
        </p:nvCxnSpPr>
        <p:spPr>
          <a:xfrm>
            <a:off x="3058287" y="5096258"/>
            <a:ext cx="0" cy="11745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0" name="Google Shape;240;p33"/>
          <p:cNvCxnSpPr/>
          <p:nvPr/>
        </p:nvCxnSpPr>
        <p:spPr>
          <a:xfrm>
            <a:off x="582612" y="5096258"/>
            <a:ext cx="0" cy="11703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Google Shape;241;p33"/>
          <p:cNvSpPr>
            <a:spLocks noGrp="1"/>
          </p:cNvSpPr>
          <p:nvPr>
            <p:ph type="pic" idx="15"/>
          </p:nvPr>
        </p:nvSpPr>
        <p:spPr>
          <a:xfrm>
            <a:off x="582612" y="584200"/>
            <a:ext cx="18288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3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3"/>
          <p:cNvSpPr txBox="1">
            <a:spLocks noGrp="1"/>
          </p:cNvSpPr>
          <p:nvPr>
            <p:ph type="body" idx="16"/>
          </p:nvPr>
        </p:nvSpPr>
        <p:spPr>
          <a:xfrm>
            <a:off x="987552" y="64282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marL="914400" lvl="1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Impact Dark">
  <p:cSld name="Customer Impact_1">
    <p:bg>
      <p:bgPr>
        <a:solidFill>
          <a:schemeClr val="dk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/>
          <p:nvPr/>
        </p:nvSpPr>
        <p:spPr>
          <a:xfrm>
            <a:off x="8218487" y="584200"/>
            <a:ext cx="3386100" cy="5686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4"/>
          <p:cNvSpPr>
            <a:spLocks noGrp="1"/>
          </p:cNvSpPr>
          <p:nvPr>
            <p:ph type="pic" idx="2"/>
          </p:nvPr>
        </p:nvSpPr>
        <p:spPr>
          <a:xfrm>
            <a:off x="8218487" y="4051310"/>
            <a:ext cx="3386100" cy="2219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8" name="Google Shape;248;p34"/>
          <p:cNvSpPr txBox="1">
            <a:spLocks noGrp="1"/>
          </p:cNvSpPr>
          <p:nvPr>
            <p:ph type="body" idx="1"/>
          </p:nvPr>
        </p:nvSpPr>
        <p:spPr>
          <a:xfrm>
            <a:off x="582612" y="2450424"/>
            <a:ext cx="22587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body" idx="3"/>
          </p:nvPr>
        </p:nvSpPr>
        <p:spPr>
          <a:xfrm>
            <a:off x="3058287" y="2450266"/>
            <a:ext cx="20664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body" idx="4"/>
          </p:nvPr>
        </p:nvSpPr>
        <p:spPr>
          <a:xfrm>
            <a:off x="5529834" y="2450266"/>
            <a:ext cx="22587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51" name="Google Shape;251;p34"/>
          <p:cNvCxnSpPr/>
          <p:nvPr/>
        </p:nvCxnSpPr>
        <p:spPr>
          <a:xfrm>
            <a:off x="5513388" y="5096258"/>
            <a:ext cx="0" cy="11703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2" name="Google Shape;252;p34"/>
          <p:cNvSpPr txBox="1">
            <a:spLocks noGrp="1"/>
          </p:cNvSpPr>
          <p:nvPr>
            <p:ph type="body" idx="5"/>
          </p:nvPr>
        </p:nvSpPr>
        <p:spPr>
          <a:xfrm>
            <a:off x="779146" y="5464242"/>
            <a:ext cx="20661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34"/>
          <p:cNvSpPr txBox="1">
            <a:spLocks noGrp="1"/>
          </p:cNvSpPr>
          <p:nvPr>
            <p:ph type="body" idx="6"/>
          </p:nvPr>
        </p:nvSpPr>
        <p:spPr>
          <a:xfrm>
            <a:off x="3254821" y="5464069"/>
            <a:ext cx="20619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body" idx="7"/>
          </p:nvPr>
        </p:nvSpPr>
        <p:spPr>
          <a:xfrm>
            <a:off x="5709922" y="5464069"/>
            <a:ext cx="20784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34"/>
          <p:cNvSpPr txBox="1"/>
          <p:nvPr/>
        </p:nvSpPr>
        <p:spPr>
          <a:xfrm>
            <a:off x="582613" y="2201565"/>
            <a:ext cx="687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Challenge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3058287" y="2200767"/>
            <a:ext cx="57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5533961" y="2199969"/>
            <a:ext cx="62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Outcome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8" name="Google Shape;258;p34"/>
          <p:cNvSpPr txBox="1">
            <a:spLocks noGrp="1"/>
          </p:cNvSpPr>
          <p:nvPr>
            <p:ph type="body" idx="8"/>
          </p:nvPr>
        </p:nvSpPr>
        <p:spPr>
          <a:xfrm>
            <a:off x="779146" y="5098094"/>
            <a:ext cx="20661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34"/>
          <p:cNvSpPr txBox="1">
            <a:spLocks noGrp="1"/>
          </p:cNvSpPr>
          <p:nvPr>
            <p:ph type="body" idx="9"/>
          </p:nvPr>
        </p:nvSpPr>
        <p:spPr>
          <a:xfrm>
            <a:off x="3254821" y="5096260"/>
            <a:ext cx="20619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34"/>
          <p:cNvSpPr txBox="1">
            <a:spLocks noGrp="1"/>
          </p:cNvSpPr>
          <p:nvPr>
            <p:ph type="body" idx="13"/>
          </p:nvPr>
        </p:nvSpPr>
        <p:spPr>
          <a:xfrm>
            <a:off x="5709922" y="5096260"/>
            <a:ext cx="20784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34"/>
          <p:cNvSpPr txBox="1">
            <a:spLocks noGrp="1"/>
          </p:cNvSpPr>
          <p:nvPr>
            <p:ph type="body" idx="14"/>
          </p:nvPr>
        </p:nvSpPr>
        <p:spPr>
          <a:xfrm>
            <a:off x="8490378" y="891977"/>
            <a:ext cx="2842500" cy="28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34"/>
          <p:cNvSpPr txBox="1">
            <a:spLocks noGrp="1"/>
          </p:cNvSpPr>
          <p:nvPr>
            <p:ph type="title"/>
          </p:nvPr>
        </p:nvSpPr>
        <p:spPr>
          <a:xfrm>
            <a:off x="584647" y="1348303"/>
            <a:ext cx="720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None/>
              <a:defRPr sz="2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63" name="Google Shape;263;p34"/>
          <p:cNvCxnSpPr/>
          <p:nvPr/>
        </p:nvCxnSpPr>
        <p:spPr>
          <a:xfrm>
            <a:off x="3058287" y="5096258"/>
            <a:ext cx="0" cy="11745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4" name="Google Shape;264;p34"/>
          <p:cNvCxnSpPr/>
          <p:nvPr/>
        </p:nvCxnSpPr>
        <p:spPr>
          <a:xfrm>
            <a:off x="582612" y="5096258"/>
            <a:ext cx="0" cy="1170300"/>
          </a:xfrm>
          <a:prstGeom prst="straightConnector1">
            <a:avLst/>
          </a:prstGeom>
          <a:noFill/>
          <a:ln w="15875" cap="flat" cmpd="sng">
            <a:solidFill>
              <a:srgbClr val="9999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5" name="Google Shape;265;p34"/>
          <p:cNvSpPr>
            <a:spLocks noGrp="1"/>
          </p:cNvSpPr>
          <p:nvPr>
            <p:ph type="pic" idx="15"/>
          </p:nvPr>
        </p:nvSpPr>
        <p:spPr>
          <a:xfrm>
            <a:off x="582612" y="584200"/>
            <a:ext cx="18288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4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6"/>
          </p:nvPr>
        </p:nvSpPr>
        <p:spPr>
          <a:xfrm>
            <a:off x="987552" y="64282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68" name="Google Shape;26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only Light">
  <p:cSld name="Logo only Light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>
  <p:cSld name="Blank Light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Photo">
  <p:cSld name="Thank you Photo">
    <p:bg>
      <p:bgPr>
        <a:solidFill>
          <a:schemeClr val="dk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7"/>
          <p:cNvPicPr preferRelativeResize="0"/>
          <p:nvPr/>
        </p:nvPicPr>
        <p:blipFill rotWithShape="1">
          <a:blip r:embed="rId2">
            <a:alphaModFix/>
          </a:blip>
          <a:srcRect l="99420" b="12900"/>
          <a:stretch/>
        </p:blipFill>
        <p:spPr>
          <a:xfrm>
            <a:off x="0" y="0"/>
            <a:ext cx="12192001" cy="627868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/>
          <p:nvPr/>
        </p:nvSpPr>
        <p:spPr>
          <a:xfrm>
            <a:off x="0" y="0"/>
            <a:ext cx="11778000" cy="6858000"/>
          </a:xfrm>
          <a:prstGeom prst="rect">
            <a:avLst/>
          </a:prstGeom>
          <a:gradFill>
            <a:gsLst>
              <a:gs pos="0">
                <a:srgbClr val="090909">
                  <a:alpha val="75686"/>
                </a:srgbClr>
              </a:gs>
              <a:gs pos="38000">
                <a:srgbClr val="090909">
                  <a:alpha val="75686"/>
                </a:srgbClr>
              </a:gs>
              <a:gs pos="100000">
                <a:srgbClr val="09090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7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7040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 Medium"/>
              <a:buNone/>
              <a:defRPr sz="4000" b="0" i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7" name="Google Shape;2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4" y="2376049"/>
            <a:ext cx="2304287" cy="4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Lines">
  <p:cSld name="Thank You Lines">
    <p:bg>
      <p:bgPr>
        <a:solidFill>
          <a:schemeClr val="lt1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669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Medium"/>
              <a:buNone/>
              <a:defRPr sz="4000" b="0" i="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0" name="Google Shape;280;p38"/>
          <p:cNvPicPr preferRelativeResize="0"/>
          <p:nvPr/>
        </p:nvPicPr>
        <p:blipFill rotWithShape="1">
          <a:blip r:embed="rId2">
            <a:alphaModFix/>
          </a:blip>
          <a:srcRect r="63256"/>
          <a:stretch/>
        </p:blipFill>
        <p:spPr>
          <a:xfrm>
            <a:off x="10558697" y="584201"/>
            <a:ext cx="1633303" cy="568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4" y="2376049"/>
            <a:ext cx="2304287" cy="4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olid">
  <p:cSld name="Cover Solid">
    <p:bg>
      <p:bgPr>
        <a:solidFill>
          <a:schemeClr val="dk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1102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Roboto Medium"/>
              <a:buNone/>
              <a:defRPr sz="40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84" name="Google Shape;284;p39"/>
          <p:cNvCxnSpPr/>
          <p:nvPr/>
        </p:nvCxnSpPr>
        <p:spPr>
          <a:xfrm>
            <a:off x="584646" y="5865891"/>
            <a:ext cx="110247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5" name="Google Shape;285;p39"/>
          <p:cNvSpPr txBox="1">
            <a:spLocks noGrp="1"/>
          </p:cNvSpPr>
          <p:nvPr>
            <p:ph type="body" idx="1"/>
          </p:nvPr>
        </p:nvSpPr>
        <p:spPr>
          <a:xfrm>
            <a:off x="582613" y="6041646"/>
            <a:ext cx="438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3504" y="585216"/>
            <a:ext cx="2304287" cy="47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olid">
  <p:cSld name="Section Break Solid"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>
            <a:spLocks noGrp="1"/>
          </p:cNvSpPr>
          <p:nvPr>
            <p:ph type="title"/>
          </p:nvPr>
        </p:nvSpPr>
        <p:spPr>
          <a:xfrm>
            <a:off x="584652" y="2858325"/>
            <a:ext cx="1102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Roboto Medium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4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0" name="Google Shape;290;p40"/>
          <p:cNvCxnSpPr/>
          <p:nvPr/>
        </p:nvCxnSpPr>
        <p:spPr>
          <a:xfrm>
            <a:off x="584994" y="6270625"/>
            <a:ext cx="11022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91" name="Google Shape;291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olid Purple">
  <p:cSld name="Section Break Solid_1">
    <p:bg>
      <p:bgPr>
        <a:solidFill>
          <a:schemeClr val="dk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>
            <a:spLocks noGrp="1"/>
          </p:cNvSpPr>
          <p:nvPr>
            <p:ph type="title"/>
          </p:nvPr>
        </p:nvSpPr>
        <p:spPr>
          <a:xfrm>
            <a:off x="584652" y="2858325"/>
            <a:ext cx="1102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Roboto Medium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4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" name="Google Shape;295;p41"/>
          <p:cNvCxnSpPr/>
          <p:nvPr/>
        </p:nvCxnSpPr>
        <p:spPr>
          <a:xfrm>
            <a:off x="584994" y="6270625"/>
            <a:ext cx="11022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96" name="Google Shape;296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Two Lines">
  <p:cSld name="Title Two Lines">
    <p:bg>
      <p:bgPr>
        <a:solidFill>
          <a:schemeClr val="lt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 txBox="1">
            <a:spLocks noGrp="1"/>
          </p:cNvSpPr>
          <p:nvPr>
            <p:ph type="body" idx="1"/>
          </p:nvPr>
        </p:nvSpPr>
        <p:spPr>
          <a:xfrm>
            <a:off x="586740" y="1993900"/>
            <a:ext cx="11018400" cy="42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4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42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1" name="Google Shape;30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Two Lines Dark">
  <p:cSld name="Title Two Lines_1"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>
            <a:spLocks noGrp="1"/>
          </p:cNvSpPr>
          <p:nvPr>
            <p:ph type="body" idx="1"/>
          </p:nvPr>
        </p:nvSpPr>
        <p:spPr>
          <a:xfrm>
            <a:off x="586740" y="1993900"/>
            <a:ext cx="11018400" cy="42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43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43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06" name="Google Shape;3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Title Only">
  <p:cSld name="Small Title Only"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1101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edium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44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0" name="Google Shape;31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Title Only Dark">
  <p:cSld name="Small Title Only_1">
    <p:bg>
      <p:bgPr>
        <a:solidFill>
          <a:schemeClr val="dk1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>
            <a:spLocks noGrp="1"/>
          </p:cNvSpPr>
          <p:nvPr>
            <p:ph type="title"/>
          </p:nvPr>
        </p:nvSpPr>
        <p:spPr>
          <a:xfrm>
            <a:off x="584647" y="517030"/>
            <a:ext cx="11019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45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6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8" name="Google Shape;31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Dark">
  <p:cSld name="Title Only_1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47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22" name="Google Shape;32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- Three Columns">
  <p:cSld name="Basic Content - Three Columns">
    <p:bg>
      <p:bgPr>
        <a:solidFill>
          <a:schemeClr val="lt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48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48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3383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48"/>
          <p:cNvSpPr txBox="1">
            <a:spLocks noGrp="1"/>
          </p:cNvSpPr>
          <p:nvPr>
            <p:ph type="body" idx="2"/>
          </p:nvPr>
        </p:nvSpPr>
        <p:spPr>
          <a:xfrm>
            <a:off x="4400550" y="1397000"/>
            <a:ext cx="3383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48"/>
          <p:cNvSpPr txBox="1">
            <a:spLocks noGrp="1"/>
          </p:cNvSpPr>
          <p:nvPr>
            <p:ph type="body" idx="3"/>
          </p:nvPr>
        </p:nvSpPr>
        <p:spPr>
          <a:xfrm>
            <a:off x="8221663" y="1397000"/>
            <a:ext cx="33831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9" name="Google Shape;32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044">
          <p15:clr>
            <a:srgbClr val="FBAE40"/>
          </p15:clr>
        </p15:guide>
        <p15:guide id="2" pos="5177">
          <p15:clr>
            <a:srgbClr val="FBAE40"/>
          </p15:clr>
        </p15:guide>
        <p15:guide id="3" pos="4907">
          <p15:clr>
            <a:srgbClr val="FBAE40"/>
          </p15:clr>
        </p15:guide>
        <p15:guide id="4" pos="2639">
          <p15:clr>
            <a:srgbClr val="FBAE40"/>
          </p15:clr>
        </p15:guide>
        <p15:guide id="5" pos="2769">
          <p15:clr>
            <a:srgbClr val="FBAE40"/>
          </p15:clr>
        </p15:guide>
        <p15:guide id="6" pos="2503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Content - Three Columns Dark">
  <p:cSld name="Basic Content - Three Columns_1">
    <p:bg>
      <p:bgPr>
        <a:solidFill>
          <a:schemeClr val="dk1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2" name="Google Shape;332;p49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49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3383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49"/>
          <p:cNvSpPr txBox="1">
            <a:spLocks noGrp="1"/>
          </p:cNvSpPr>
          <p:nvPr>
            <p:ph type="body" idx="2"/>
          </p:nvPr>
        </p:nvSpPr>
        <p:spPr>
          <a:xfrm>
            <a:off x="4400550" y="1397000"/>
            <a:ext cx="3383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49"/>
          <p:cNvSpPr txBox="1">
            <a:spLocks noGrp="1"/>
          </p:cNvSpPr>
          <p:nvPr>
            <p:ph type="body" idx="3"/>
          </p:nvPr>
        </p:nvSpPr>
        <p:spPr>
          <a:xfrm>
            <a:off x="8221663" y="1397000"/>
            <a:ext cx="33831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36" name="Google Shape;336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044">
          <p15:clr>
            <a:srgbClr val="FBAE40"/>
          </p15:clr>
        </p15:guide>
        <p15:guide id="2" pos="5177">
          <p15:clr>
            <a:srgbClr val="FBAE40"/>
          </p15:clr>
        </p15:guide>
        <p15:guide id="3" pos="4907">
          <p15:clr>
            <a:srgbClr val="FBAE40"/>
          </p15:clr>
        </p15:guide>
        <p15:guide id="4" pos="2639">
          <p15:clr>
            <a:srgbClr val="FBAE40"/>
          </p15:clr>
        </p15:guide>
        <p15:guide id="5" pos="2769">
          <p15:clr>
            <a:srgbClr val="FBAE40"/>
          </p15:clr>
        </p15:guide>
        <p15:guide id="6" pos="2503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Photo">
  <p:cSld name="Side Title Photo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0"/>
          <p:cNvSpPr txBox="1">
            <a:spLocks noGrp="1"/>
          </p:cNvSpPr>
          <p:nvPr>
            <p:ph type="title"/>
          </p:nvPr>
        </p:nvSpPr>
        <p:spPr>
          <a:xfrm>
            <a:off x="584646" y="2581314"/>
            <a:ext cx="5212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50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0"/>
          <p:cNvSpPr>
            <a:spLocks noGrp="1"/>
          </p:cNvSpPr>
          <p:nvPr>
            <p:ph type="pic" idx="2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 Title Photo Dark">
  <p:cSld name="Side Title Photo_1">
    <p:bg>
      <p:bgPr>
        <a:solidFill>
          <a:schemeClr val="dk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1"/>
          <p:cNvSpPr txBox="1">
            <a:spLocks noGrp="1"/>
          </p:cNvSpPr>
          <p:nvPr>
            <p:ph type="title"/>
          </p:nvPr>
        </p:nvSpPr>
        <p:spPr>
          <a:xfrm>
            <a:off x="584646" y="2581314"/>
            <a:ext cx="52122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51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51"/>
          <p:cNvSpPr>
            <a:spLocks noGrp="1"/>
          </p:cNvSpPr>
          <p:nvPr>
            <p:ph type="pic" idx="2"/>
          </p:nvPr>
        </p:nvSpPr>
        <p:spPr>
          <a:xfrm>
            <a:off x="6384925" y="0"/>
            <a:ext cx="58071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022">
          <p15:clr>
            <a:srgbClr val="FBAE40"/>
          </p15:clr>
        </p15:guide>
        <p15:guide id="3" pos="3658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only Dark">
  <p:cSld name="Logo only Dark">
    <p:bg>
      <p:bgPr>
        <a:solidFill>
          <a:schemeClr val="dk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 txBox="1"/>
          <p:nvPr/>
        </p:nvSpPr>
        <p:spPr>
          <a:xfrm>
            <a:off x="584647" y="6428232"/>
            <a:ext cx="40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fld id="{00000000-1234-1234-1234-123412341234}" type="slidenum">
              <a:rPr lang="en-US" sz="10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9" name="Google Shape;349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69296" y="6345936"/>
            <a:ext cx="1234441" cy="2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solidFill>
          <a:schemeClr val="dk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olid">
  <p:cSld name="Thank You Solid">
    <p:bg>
      <p:bgPr>
        <a:solidFill>
          <a:schemeClr val="dk2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4"/>
          <p:cNvSpPr txBox="1">
            <a:spLocks noGrp="1"/>
          </p:cNvSpPr>
          <p:nvPr>
            <p:ph type="title"/>
          </p:nvPr>
        </p:nvSpPr>
        <p:spPr>
          <a:xfrm>
            <a:off x="584647" y="3121223"/>
            <a:ext cx="829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Roboto Medium"/>
              <a:buNone/>
              <a:defRPr sz="4000" b="0" i="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3" name="Google Shape;353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3504" y="2376049"/>
            <a:ext cx="2304287" cy="4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586740" y="1397000"/>
            <a:ext cx="11018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584647" y="495511"/>
            <a:ext cx="1101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Medium"/>
              <a:buNone/>
              <a:defRPr sz="36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67">
          <p15:clr>
            <a:srgbClr val="5ACBF0"/>
          </p15:clr>
        </p15:guide>
        <p15:guide id="2" orient="horz" pos="368">
          <p15:clr>
            <a:srgbClr val="5ACBF0"/>
          </p15:clr>
        </p15:guide>
        <p15:guide id="3" orient="horz" pos="3950">
          <p15:clr>
            <a:srgbClr val="5ACBF0"/>
          </p15:clr>
        </p15:guide>
        <p15:guide id="4" orient="horz" pos="4134">
          <p15:clr>
            <a:srgbClr val="5ACBF0"/>
          </p15:clr>
        </p15:guide>
        <p15:guide id="5" pos="7310">
          <p15:clr>
            <a:srgbClr val="5ACBF0"/>
          </p15:clr>
        </p15:guide>
        <p15:guide id="6" orient="horz" pos="880">
          <p15:clr>
            <a:srgbClr val="5ACBF0"/>
          </p15:clr>
        </p15:guide>
        <p15:guide id="7" orient="horz" pos="1256">
          <p15:clr>
            <a:srgbClr val="5ACBF0"/>
          </p15:clr>
        </p15:guide>
        <p15:guide id="8" pos="2559">
          <p15:clr>
            <a:srgbClr val="A4A3A4"/>
          </p15:clr>
        </p15:guide>
        <p15:guide id="9" pos="5117">
          <p15:clr>
            <a:srgbClr val="A4A3A4"/>
          </p15:clr>
        </p15:guide>
        <p15:guide id="10" orient="horz" pos="1440">
          <p15:clr>
            <a:srgbClr val="A4A3A4"/>
          </p15:clr>
        </p15:guide>
        <p15:guide id="11" orient="horz" pos="2880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1554480"/>
            <a:ext cx="10424160" cy="1234440"/>
          </a:xfrm>
        </p:spPr>
        <p:txBody>
          <a:bodyPr wrap="square"/>
          <a:lstStyle/>
          <a:p>
            <a:pPr>
              <a:lnSpc>
                <a:spcPct val="100000"/>
              </a:lnSpc>
            </a:pPr>
            <a:r>
              <a:rPr sz="32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Our shared goal: make one costly decision much faster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Reducing time-to-know is the central promise.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3017520"/>
            <a:ext cx="562356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•  Start with a consequential decision, how long it takes to know today, and the cost of delay.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•  Agree on the observable delta you want before choosing capabilities or screens.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•  Balance business outcome, regulated risk, and technical feasibility from the start.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•  Treat every business delta as a hypothesis until your owners validate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301752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DECISION LATENCY: SIGNAL TO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3383280"/>
            <a:ext cx="1188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3383280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60061"/>
                </a:solidFill>
                <a:latin typeface="Roboto Medium"/>
                <a:ea typeface="Roboto Medium"/>
                <a:cs typeface="Roboto Medium"/>
              </a:rP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836408" y="3383280"/>
            <a:ext cx="1188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36408" y="3383280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60061"/>
                </a:solidFill>
                <a:latin typeface="Roboto Medium"/>
                <a:ea typeface="Roboto Medium"/>
                <a:cs typeface="Roboto Medium"/>
              </a:rPr>
              <a:t>Investigation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34856" y="3383280"/>
            <a:ext cx="1188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34856" y="3383280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60061"/>
                </a:solidFill>
                <a:latin typeface="Roboto Medium"/>
                <a:ea typeface="Roboto Medium"/>
                <a:cs typeface="Roboto Medium"/>
              </a:rPr>
              <a:t>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3304" y="3383280"/>
            <a:ext cx="1188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33304" y="3383280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60061"/>
                </a:solidFill>
                <a:latin typeface="Roboto Medium"/>
                <a:ea typeface="Roboto Medium"/>
                <a:cs typeface="Roboto Medium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16052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3708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Days to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16052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3708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785C-917C-2689-3A87-7844157F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370825-FD8E-398C-6FB4-91DF6773406A}"/>
              </a:ext>
            </a:extLst>
          </p:cNvPr>
          <p:cNvSpPr txBox="1"/>
          <p:nvPr/>
        </p:nvSpPr>
        <p:spPr>
          <a:xfrm>
            <a:off x="585216" y="365760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Eight business decisions, supported by the same eight capabilities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7E9B5-F070-73D3-A948-31B5E9BC6EAC}"/>
              </a:ext>
            </a:extLst>
          </p:cNvPr>
          <p:cNvSpPr txBox="1"/>
          <p:nvPr/>
        </p:nvSpPr>
        <p:spPr>
          <a:xfrm>
            <a:off x="585216" y="141732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BUSINESS DECISIONS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E82C7A-A7F9-0A2E-4D64-C4ADBB0A0240}"/>
              </a:ext>
            </a:extLst>
          </p:cNvPr>
          <p:cNvSpPr/>
          <p:nvPr/>
        </p:nvSpPr>
        <p:spPr>
          <a:xfrm>
            <a:off x="585216" y="1828800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57E1F-868F-FFD3-448F-9C128BB76B6B}"/>
              </a:ext>
            </a:extLst>
          </p:cNvPr>
          <p:cNvSpPr txBox="1"/>
          <p:nvPr/>
        </p:nvSpPr>
        <p:spPr>
          <a:xfrm>
            <a:off x="585216" y="182880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962FB-3E1B-3038-A8F5-350B194977C5}"/>
              </a:ext>
            </a:extLst>
          </p:cNvPr>
          <p:cNvSpPr txBox="1"/>
          <p:nvPr/>
        </p:nvSpPr>
        <p:spPr>
          <a:xfrm>
            <a:off x="1097280" y="18288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Digital Funnel Performance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508713-6C16-57AB-846F-87F773F0A324}"/>
              </a:ext>
            </a:extLst>
          </p:cNvPr>
          <p:cNvSpPr/>
          <p:nvPr/>
        </p:nvSpPr>
        <p:spPr>
          <a:xfrm>
            <a:off x="585216" y="2304288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0EAB2-2BFC-1453-EBF5-9F20ACD88C56}"/>
              </a:ext>
            </a:extLst>
          </p:cNvPr>
          <p:cNvSpPr txBox="1"/>
          <p:nvPr/>
        </p:nvSpPr>
        <p:spPr>
          <a:xfrm>
            <a:off x="585216" y="230428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1C80D7-5452-4864-E456-500FA97240E6}"/>
              </a:ext>
            </a:extLst>
          </p:cNvPr>
          <p:cNvSpPr txBox="1"/>
          <p:nvPr/>
        </p:nvSpPr>
        <p:spPr>
          <a:xfrm>
            <a:off x="1097280" y="230428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Payment Performance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1C2235-BE10-C23E-73FE-D7BC18B98ACC}"/>
              </a:ext>
            </a:extLst>
          </p:cNvPr>
          <p:cNvSpPr/>
          <p:nvPr/>
        </p:nvSpPr>
        <p:spPr>
          <a:xfrm>
            <a:off x="585216" y="2779776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920D6-53EA-5704-5812-6BFECD9DE42A}"/>
              </a:ext>
            </a:extLst>
          </p:cNvPr>
          <p:cNvSpPr txBox="1"/>
          <p:nvPr/>
        </p:nvSpPr>
        <p:spPr>
          <a:xfrm>
            <a:off x="585216" y="2779776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3964F-E474-C586-93C6-D2ED6B42F3E3}"/>
              </a:ext>
            </a:extLst>
          </p:cNvPr>
          <p:cNvSpPr txBox="1"/>
          <p:nvPr/>
        </p:nvSpPr>
        <p:spPr>
          <a:xfrm>
            <a:off x="1097280" y="277977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Fraud Strategy Optimization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4F59E8-A1A6-6E53-E5C9-C45E80492B8D}"/>
              </a:ext>
            </a:extLst>
          </p:cNvPr>
          <p:cNvSpPr/>
          <p:nvPr/>
        </p:nvSpPr>
        <p:spPr>
          <a:xfrm>
            <a:off x="585216" y="3255264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488D94-438A-27F9-5590-45F308B8E84B}"/>
              </a:ext>
            </a:extLst>
          </p:cNvPr>
          <p:cNvSpPr txBox="1"/>
          <p:nvPr/>
        </p:nvSpPr>
        <p:spPr>
          <a:xfrm>
            <a:off x="585216" y="3255264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7E2C3F-54C7-B80B-5BCA-C377F3D7066A}"/>
              </a:ext>
            </a:extLst>
          </p:cNvPr>
          <p:cNvSpPr txBox="1"/>
          <p:nvPr/>
        </p:nvSpPr>
        <p:spPr>
          <a:xfrm>
            <a:off x="1097280" y="325526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Financial Crime Operations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48C436-C99D-A632-85E9-3CC1A32EE99A}"/>
              </a:ext>
            </a:extLst>
          </p:cNvPr>
          <p:cNvSpPr/>
          <p:nvPr/>
        </p:nvSpPr>
        <p:spPr>
          <a:xfrm>
            <a:off x="585216" y="3730752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91190A-F230-5AD6-8E0F-BDA0D80B09BC}"/>
              </a:ext>
            </a:extLst>
          </p:cNvPr>
          <p:cNvSpPr txBox="1"/>
          <p:nvPr/>
        </p:nvSpPr>
        <p:spPr>
          <a:xfrm>
            <a:off x="585216" y="373075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FCC5EF-1699-53D1-0AD9-66918C4A7347}"/>
              </a:ext>
            </a:extLst>
          </p:cNvPr>
          <p:cNvSpPr txBox="1"/>
          <p:nvPr/>
        </p:nvSpPr>
        <p:spPr>
          <a:xfrm>
            <a:off x="1097280" y="373075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Dispute Operations Performance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FE871-045C-3006-07D9-91A5E5AF2595}"/>
              </a:ext>
            </a:extLst>
          </p:cNvPr>
          <p:cNvSpPr/>
          <p:nvPr/>
        </p:nvSpPr>
        <p:spPr>
          <a:xfrm>
            <a:off x="585216" y="4206240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18B18D-788F-E1A5-9DA8-3BB22FFBE6C3}"/>
              </a:ext>
            </a:extLst>
          </p:cNvPr>
          <p:cNvSpPr txBox="1"/>
          <p:nvPr/>
        </p:nvSpPr>
        <p:spPr>
          <a:xfrm>
            <a:off x="585216" y="42062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147413-DC29-9C01-7376-5972F5CCB0AB}"/>
              </a:ext>
            </a:extLst>
          </p:cNvPr>
          <p:cNvSpPr txBox="1"/>
          <p:nvPr/>
        </p:nvSpPr>
        <p:spPr>
          <a:xfrm>
            <a:off x="1097280" y="4206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Liquidity and Funding Management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5787A-BCB0-D94F-DD4D-55A64D982712}"/>
              </a:ext>
            </a:extLst>
          </p:cNvPr>
          <p:cNvSpPr/>
          <p:nvPr/>
        </p:nvSpPr>
        <p:spPr>
          <a:xfrm>
            <a:off x="585216" y="4681728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906B0-38FE-F9E7-8742-EFF14B73C5DD}"/>
              </a:ext>
            </a:extLst>
          </p:cNvPr>
          <p:cNvSpPr txBox="1"/>
          <p:nvPr/>
        </p:nvSpPr>
        <p:spPr>
          <a:xfrm>
            <a:off x="585216" y="468172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7C11CA-1F29-3170-14EA-D84E00E2A028}"/>
              </a:ext>
            </a:extLst>
          </p:cNvPr>
          <p:cNvSpPr txBox="1"/>
          <p:nvPr/>
        </p:nvSpPr>
        <p:spPr>
          <a:xfrm>
            <a:off x="1097280" y="468172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Credit and Exposure Management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5B74C6-23BB-71D1-D986-902973F7E9CF}"/>
              </a:ext>
            </a:extLst>
          </p:cNvPr>
          <p:cNvSpPr/>
          <p:nvPr/>
        </p:nvSpPr>
        <p:spPr>
          <a:xfrm>
            <a:off x="585216" y="5157216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898D0F-127E-71A6-DAFC-80E7D6C482C8}"/>
              </a:ext>
            </a:extLst>
          </p:cNvPr>
          <p:cNvSpPr txBox="1"/>
          <p:nvPr/>
        </p:nvSpPr>
        <p:spPr>
          <a:xfrm>
            <a:off x="585216" y="5157216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9CC8EE-B68B-352C-55B3-A10EFEB80DF5}"/>
              </a:ext>
            </a:extLst>
          </p:cNvPr>
          <p:cNvSpPr txBox="1"/>
          <p:nvPr/>
        </p:nvSpPr>
        <p:spPr>
          <a:xfrm>
            <a:off x="1097280" y="51572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Embedded Insights Strategy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BDAD61-E6C3-F8E7-D434-5427D5BF39AB}"/>
              </a:ext>
            </a:extLst>
          </p:cNvPr>
          <p:cNvSpPr txBox="1"/>
          <p:nvPr/>
        </p:nvSpPr>
        <p:spPr>
          <a:xfrm>
            <a:off x="6391655" y="141732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REUSABLE CAPABILITIES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48214E-07C5-343E-1596-2ADD603EB9E9}"/>
              </a:ext>
            </a:extLst>
          </p:cNvPr>
          <p:cNvSpPr/>
          <p:nvPr/>
        </p:nvSpPr>
        <p:spPr>
          <a:xfrm>
            <a:off x="6391655" y="1828800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230DDC-0E46-BD47-FCDC-9E67272AACEA}"/>
              </a:ext>
            </a:extLst>
          </p:cNvPr>
          <p:cNvSpPr txBox="1"/>
          <p:nvPr/>
        </p:nvSpPr>
        <p:spPr>
          <a:xfrm>
            <a:off x="6391655" y="182880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0D0BD6-1EC8-09B8-2FA1-47803B51A6B8}"/>
              </a:ext>
            </a:extLst>
          </p:cNvPr>
          <p:cNvSpPr txBox="1"/>
          <p:nvPr/>
        </p:nvSpPr>
        <p:spPr>
          <a:xfrm>
            <a:off x="6903719" y="18288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Conversational Drill-Down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C17366-BABE-EB8A-54D9-DC636AC8AB94}"/>
              </a:ext>
            </a:extLst>
          </p:cNvPr>
          <p:cNvSpPr/>
          <p:nvPr/>
        </p:nvSpPr>
        <p:spPr>
          <a:xfrm>
            <a:off x="6391655" y="2304288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4C0F7E-12E2-6339-9FEA-779FC0C8BC68}"/>
              </a:ext>
            </a:extLst>
          </p:cNvPr>
          <p:cNvSpPr txBox="1"/>
          <p:nvPr/>
        </p:nvSpPr>
        <p:spPr>
          <a:xfrm>
            <a:off x="6391655" y="230428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1D58FE-1115-2EA4-63D2-16F00B649631}"/>
              </a:ext>
            </a:extLst>
          </p:cNvPr>
          <p:cNvSpPr txBox="1"/>
          <p:nvPr/>
        </p:nvSpPr>
        <p:spPr>
          <a:xfrm>
            <a:off x="6903719" y="230428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Live Event Impact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0AFF4D-E750-AE19-6C8B-342C8FD56EA1}"/>
              </a:ext>
            </a:extLst>
          </p:cNvPr>
          <p:cNvSpPr/>
          <p:nvPr/>
        </p:nvSpPr>
        <p:spPr>
          <a:xfrm>
            <a:off x="6391655" y="2779776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CEAFA1-6794-63DD-B89A-5EA1BCF5D24D}"/>
              </a:ext>
            </a:extLst>
          </p:cNvPr>
          <p:cNvSpPr txBox="1"/>
          <p:nvPr/>
        </p:nvSpPr>
        <p:spPr>
          <a:xfrm>
            <a:off x="6391655" y="2779776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CB7359-28FA-A422-A5D0-A5962C720F3B}"/>
              </a:ext>
            </a:extLst>
          </p:cNvPr>
          <p:cNvSpPr txBox="1"/>
          <p:nvPr/>
        </p:nvSpPr>
        <p:spPr>
          <a:xfrm>
            <a:off x="6903719" y="277977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Transparent Answer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5EEF12-A50E-2B70-F6BF-528591F4DFE6}"/>
              </a:ext>
            </a:extLst>
          </p:cNvPr>
          <p:cNvSpPr/>
          <p:nvPr/>
        </p:nvSpPr>
        <p:spPr>
          <a:xfrm>
            <a:off x="6391655" y="3255264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835527-ECF3-963D-883B-2B0A8A0E512D}"/>
              </a:ext>
            </a:extLst>
          </p:cNvPr>
          <p:cNvSpPr txBox="1"/>
          <p:nvPr/>
        </p:nvSpPr>
        <p:spPr>
          <a:xfrm>
            <a:off x="6391655" y="3255264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375D9C-FB60-F546-C906-B64EA5EBCED5}"/>
              </a:ext>
            </a:extLst>
          </p:cNvPr>
          <p:cNvSpPr txBox="1"/>
          <p:nvPr/>
        </p:nvSpPr>
        <p:spPr>
          <a:xfrm>
            <a:off x="6903719" y="325526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Governed Business Context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3ADA99-D3E2-E840-0CAE-F3C96647A544}"/>
              </a:ext>
            </a:extLst>
          </p:cNvPr>
          <p:cNvSpPr/>
          <p:nvPr/>
        </p:nvSpPr>
        <p:spPr>
          <a:xfrm>
            <a:off x="6391655" y="3730752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BF084B-0186-5C23-4670-A509385C48C5}"/>
              </a:ext>
            </a:extLst>
          </p:cNvPr>
          <p:cNvSpPr txBox="1"/>
          <p:nvPr/>
        </p:nvSpPr>
        <p:spPr>
          <a:xfrm>
            <a:off x="6391655" y="3730752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571B85-DF44-EA4F-CDBD-4CFF286EFD9D}"/>
              </a:ext>
            </a:extLst>
          </p:cNvPr>
          <p:cNvSpPr txBox="1"/>
          <p:nvPr/>
        </p:nvSpPr>
        <p:spPr>
          <a:xfrm>
            <a:off x="6903719" y="373075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Scoped Access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D5B7376-7BFF-504E-2891-00D4579D7606}"/>
              </a:ext>
            </a:extLst>
          </p:cNvPr>
          <p:cNvSpPr/>
          <p:nvPr/>
        </p:nvSpPr>
        <p:spPr>
          <a:xfrm>
            <a:off x="6391655" y="4206240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93384E-0235-8C6B-8E48-470E99DD6585}"/>
              </a:ext>
            </a:extLst>
          </p:cNvPr>
          <p:cNvSpPr txBox="1"/>
          <p:nvPr/>
        </p:nvSpPr>
        <p:spPr>
          <a:xfrm>
            <a:off x="6391655" y="420624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F90C55-09F8-B87C-3A0E-07F26A6EF77F}"/>
              </a:ext>
            </a:extLst>
          </p:cNvPr>
          <p:cNvSpPr txBox="1"/>
          <p:nvPr/>
        </p:nvSpPr>
        <p:spPr>
          <a:xfrm>
            <a:off x="6903719" y="4206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Embedded Streaming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FF9BCB0-FD4F-FE25-F3A7-E7CD5B413A78}"/>
              </a:ext>
            </a:extLst>
          </p:cNvPr>
          <p:cNvSpPr/>
          <p:nvPr/>
        </p:nvSpPr>
        <p:spPr>
          <a:xfrm>
            <a:off x="6391655" y="4681728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BE9F6C-F5BD-B5ED-17B9-F85F41FF330E}"/>
              </a:ext>
            </a:extLst>
          </p:cNvPr>
          <p:cNvSpPr txBox="1"/>
          <p:nvPr/>
        </p:nvSpPr>
        <p:spPr>
          <a:xfrm>
            <a:off x="6391655" y="4681728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376718-5910-3308-4700-F91DAC1B692A}"/>
              </a:ext>
            </a:extLst>
          </p:cNvPr>
          <p:cNvSpPr txBox="1"/>
          <p:nvPr/>
        </p:nvSpPr>
        <p:spPr>
          <a:xfrm>
            <a:off x="6903719" y="468172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Structured Integration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C1C8CDA-40D5-98AF-2E1E-1AD5032B5427}"/>
              </a:ext>
            </a:extLst>
          </p:cNvPr>
          <p:cNvSpPr/>
          <p:nvPr/>
        </p:nvSpPr>
        <p:spPr>
          <a:xfrm>
            <a:off x="6391655" y="5157216"/>
            <a:ext cx="384048" cy="3657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3B77BC-84CF-2F32-4E42-89187F92B873}"/>
              </a:ext>
            </a:extLst>
          </p:cNvPr>
          <p:cNvSpPr txBox="1"/>
          <p:nvPr/>
        </p:nvSpPr>
        <p:spPr>
          <a:xfrm>
            <a:off x="6391655" y="5157216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9B13C3-367C-B635-E195-F440F95ED925}"/>
              </a:ext>
            </a:extLst>
          </p:cNvPr>
          <p:cNvSpPr txBox="1"/>
          <p:nvPr/>
        </p:nvSpPr>
        <p:spPr>
          <a:xfrm>
            <a:off x="6903719" y="51572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Reusable Decision 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B756BE-53FA-65B6-E4BA-15F8C1EC40D1}"/>
              </a:ext>
            </a:extLst>
          </p:cNvPr>
          <p:cNvSpPr txBox="1"/>
          <p:nvPr/>
        </p:nvSpPr>
        <p:spPr>
          <a:xfrm>
            <a:off x="585216" y="576072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D199FF"/>
                </a:solidFill>
                <a:latin typeface="Roboto"/>
                <a:ea typeface="Roboto"/>
                <a:cs typeface="Roboto"/>
              </a:rPr>
              <a:t>Each path connects:  Business decision  →  Capability  →  Role value  →  Validated delta</a:t>
            </a:r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0139CA82-9EE6-403F-C201-AEF4A53E4891}"/>
              </a:ext>
            </a:extLst>
          </p:cNvPr>
          <p:cNvSpPr/>
          <p:nvPr/>
        </p:nvSpPr>
        <p:spPr>
          <a:xfrm>
            <a:off x="4676503" y="2779776"/>
            <a:ext cx="1489166" cy="1792224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88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338554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lang="en-US" sz="2200" b="0" i="0" dirty="0" err="1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Find where account applicants drop off,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6840" y="3840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6840" y="585216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See Intent Earlier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JOB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00784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Head of Digital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84831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BUSINESS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8600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Improve digital account-opening conversion and act on customer intent before opportunities are lost.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80944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PROBLEMS /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2112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Monthly reporting delays intervention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Onboarding, behavioral, and relationship data stay disconnected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Manual-review friction and affected cohorts are hard to isolate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52628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727448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By [campaign, product release, or planning date], because findings must inform the next journey or investment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Specific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Ask the funnel by step and channel in natural language, instead of waiting on a monthly report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Compare straight-through and manual review in one answer, so the friction shows up immediately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Isolate the abandonment cohort in the conversation, rather than requesting another extract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Return governed tables and charts the team can act on in the same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3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24528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Question-to-answer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622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84632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Report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840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5468112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4681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Completion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058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[baseline]%  →  [target]%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338554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lang="en-US" sz="2200" b="0" i="0" dirty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Spot payment problems that cost revenue before customers notice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6840" y="3840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6840" y="585216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Protect Every Payment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JOB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00784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Head of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84831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BUSINESS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8600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Protect payment revenue and customer experience by keeping approval rates and latency within thresholds.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80944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PROBLEMS /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2112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Batch reports expose changes too late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Processor, rail, merchant, region, and decline data are fragmented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Operations cannot quickly isolate the affected window and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52628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727448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By [peak-volume event, processor migration, or contract renewal], because performance must be validated before the commercial commitment.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Specific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Show hourly approval, latency, and declines as they move, not in the next batch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Compare the affected window with baseline in the same answer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Rank the processor or rail behind the change without a new data pull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Drill to merchant, region, and response code before customers notice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Show the query behind the result; Aura does not move or retry the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3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24528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Approval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622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[baseline]%  →  [target]%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84632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Revenue 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840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$[baseline]  →  $[target]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5468112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4681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Investigation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058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hrs  →  [target]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338554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lang="en-US" sz="2200" b="0" i="0" dirty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Reduce losses without blocking good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6840" y="3840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6840" y="585216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Trace Loss Faster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JOB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00784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VP of Fraud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84831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BUSINESS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8600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Reduce fraud loss while controlling false positives and preserving legitimate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80944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PROBLEMS /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2112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Fraud-type reporting obscures cross-channel patterns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Investigators lack merchant, device, account-age, and velocity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Manual segmentation delays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52628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727448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By [seasonal peak, product launch, or fraud-strategy review], because controls must be validated before exposure increases.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Specific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Compare loss and false positives by segment in one pass, not a report cycle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Drill channel, merchant, device, age, and velocity without hand-built segments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Hand investigators a ready cohort instead of a multi-day segmentation project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Show the query and source rows so the pattern can be checked immediately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Leave the block-or-allow decision with the investigator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3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24528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Fraud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622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$[baseline]  →  $[target]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84632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False positives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840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[baseline]%  →  [target]%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5468112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4681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Pattern-isolation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058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338554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lang="en-US" sz="2200" b="0" i="0" dirty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Spend reviewer time on decisions, not on gathering evidence</a:t>
            </a:r>
            <a:endParaRPr sz="2200" b="0" i="0" dirty="0">
              <a:solidFill>
                <a:srgbClr val="090909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06840" y="3840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6840" y="585216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Assemble Evidence Faster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JOB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00784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Head of AML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84831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BUSINESS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8600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Clear alerts within policy while improving review quality and preserving human disposition.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80944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PROBLEMS /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2112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Reviewers manually gather transactions, entities, counterparties, history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Aging backlogs obscure consequential cohorts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Fragmented evidence raises effort and inconsistent escalation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52628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727448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By [regulatory examination, policy review, or backlog milestone], because operations must show policy adherence and sufficient capacity.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Specific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Read backlog by age, rule, risk band, and queue without building a spreadsheet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Prioritize the cohort with the team's own criteria in the same session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Assemble transactions, entities, counterparties, and history in one answer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Keep the packet scoped to the reviewer and inspectable for the exam 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Deliver the evidence only; disposition stays with the 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3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24528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Review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622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84632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Median alert 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840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5468112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4681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Cases per reviewer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058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338554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lang="en-US" sz="2200" b="0" i="0" dirty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Catch disputes before they miss their deadline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6840" y="3840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6840" y="585216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Resolve Cases Earlier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JOB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00784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VP of Disputes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84831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BUSINESS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8600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Resolve disputes within SLA at lower cost while protecting customer trust.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80944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PROBLEMS /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2112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Queue, transaction, contact, and credit data sit in separate systems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Totals do not explain breach risk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Agents manually reconstruct customer and case timelines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52628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727448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By [peak dispute period, SLA review, or regulatory milestone], because capacity must be in place before case volume increases.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Specific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Surface the disputes closest to an SLA breach before the clock runs 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Compare reason, age, volume, and workload without exporting the queue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Join transaction, contact, credit, and case events into one timeline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Reuse that timeline on the next touch instead of rebuilding 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Leave resolution and credit decisions with the authorized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3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24528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Handle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622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84632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SLA breaches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840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[baseline]%  →  [target]%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5468112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4681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Cost per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058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$[baseline]  →  $[target]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338554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lang="en-US" sz="2200" dirty="0">
                <a:solidFill>
                  <a:srgbClr val="090909"/>
                </a:solidFill>
              </a:rPr>
              <a:t>See cash shortfalls while there is still time to fund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6840" y="3840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6840" y="585216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See Funding Pressure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JOB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00784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Corporate Treasurer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84831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BUSINESS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8600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Maintain sufficient liquidity and meet settlement obligations at the lowest practical funding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80944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PROBLEMS /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2112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Positions, settlements, queued payments, forecasts use separate reports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Current and expected cash diverge without explanation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Reconciliation delays conceal funding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52628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727448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By [peak settlement cycle, funding window, or reporting date], because treasury needs time to act before obligations become exceptions.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Specific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Show fresh positions by entity and currency, not a stale pack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Rank forecast variances in the same answer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List payments due inside the next funding window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Test a new event's liquidity impact without a new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Show the pressure only; treasury still releases or stops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3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24528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Position freshness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622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84632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Reconciliation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840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5468112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4681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Emergency funding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058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$[baseline]  →  $[target]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677108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lang="en-US" sz="2200" b="0" i="0" dirty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Give credit reviewers the full picture before they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6840" y="3840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6840" y="585216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Context Before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JOB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00784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Chief Credit Officer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84831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BUSINESS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8600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Make timely, policy-compliant credit decisions while controlling concentration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80944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PROBLEMS /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2112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Applicant evidence and portfolio exposure reside in separate tools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Missing evidence and manual review increase backlog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Concentration by industry, geography, and risk grade is hard to assess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52628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727448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By [portfolio review, policy update, examination, or planning date], because leadership must show timely decisions and controlled exposure.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Specific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Show volume, backlog, review rate, and decision time without a status pack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Flag missing evidence before the file sits in the queue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Compare requested exposure with current concentration in one 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Apply Domain context and scoped access so the packet is ready to 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Leave approval, decline, pricing, and policy with the credit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3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24528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Review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622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84632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Missing-evidence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840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[baseline]%  →  [target]%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5468112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4681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Concentration off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058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338554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lang="en-US" sz="2200" b="0" i="0" dirty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Explain customers' own money to them, inside your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6840" y="3840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6840" y="585216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Explain Engage Monetize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1499616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JOB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00784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Chief Product Officer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84831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BUSINESS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28600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Increase digital engagement and monetization through trusted, personalized financial explanations.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80944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PROBLEMS / REASONS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82112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Customers lack context for changes in financial activity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Support repeatedly answers common analytical questions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Embedded experiences need scoped data, continuity, security, disclosures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4526280"/>
            <a:ext cx="55778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CRITICAL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727448"/>
            <a:ext cx="5577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By [digital release or premium-product launch], because security, disclosures, experience design, and measurement must be validated before rollout.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49961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SPECIFIC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Embed Aura Analyst through /chat with SSE streaming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Continue contextual multi-turn sessions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Restrict answers to the authenticated customer's Domain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Support explanations with relevant data and charts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Use /query for structured output; your team owns UI and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77639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24528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22452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622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  →  [target]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4846320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Support deflection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840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[baseline]%  →  [target]%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5468112"/>
            <a:ext cx="50292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4681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Premium 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058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[baseline]%  →  [target]%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868680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Each role asks a different question and needs different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63040"/>
            <a:ext cx="3611880" cy="4160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3611880" cy="530352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463040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Business leaders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94560"/>
            <a:ext cx="3291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Prioritize growth, conversion, margin, liquidity, and decision speed.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Key capabilities: drill-down, live impact, decision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4805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Success signal: faster, higher-value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463040"/>
            <a:ext cx="3611880" cy="4160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9976" y="1463040"/>
            <a:ext cx="3611880" cy="530352"/>
          </a:xfrm>
          <a:prstGeom prst="rect">
            <a:avLst/>
          </a:prstGeom>
          <a:solidFill>
            <a:srgbClr val="4B47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63040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Risk leaders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94560"/>
            <a:ext cx="3291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Prioritize evidence, policy context, access scope, explainability, and accountable ownership.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5661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47FF"/>
                </a:solidFill>
                <a:latin typeface="Roboto Medium"/>
                <a:ea typeface="Roboto Medium"/>
                <a:cs typeface="Roboto Medium"/>
              </a:rPr>
              <a:t>Key capabilities: transparency, context, scoped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4805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Success signal: defensible, inspectable decisions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463040"/>
            <a:ext cx="3611880" cy="4160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74736" y="1463040"/>
            <a:ext cx="3611880" cy="530352"/>
          </a:xfrm>
          <a:prstGeom prst="rect">
            <a:avLst/>
          </a:prstGeom>
          <a:solidFill>
            <a:srgbClr val="FF6C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463040"/>
            <a:ext cx="32918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Technology leaders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94560"/>
            <a:ext cx="329184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Prioritize data paths, latency, concurrency, integration contracts, and operational boundaries.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5661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6C02"/>
                </a:solidFill>
                <a:latin typeface="Roboto Medium"/>
                <a:ea typeface="Roboto Medium"/>
                <a:cs typeface="Roboto Medium"/>
              </a:rPr>
              <a:t>Key capabilities: streaming, structured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44805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Success signal: feasible, ownable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5760720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We focus on one primary role and up to two supporting roles. Domain and access views appear when they show how context and permissions shape the decision.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868680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Eight capabilities you can see working and test for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46304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INTERACTION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83080"/>
            <a:ext cx="2697480" cy="9144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011680"/>
            <a:ext cx="2697480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5798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420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Conversational Drill-Down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Investigative speed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3977639"/>
            <a:ext cx="2697480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12394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0799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Live Event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5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Responsiveness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146304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TRUST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5576" y="1783080"/>
            <a:ext cx="2697480" cy="9144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65576" y="2011680"/>
            <a:ext cx="2697480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215798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5420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Transparent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2004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Inspectability, not guaranteed correctness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65576" y="3977639"/>
            <a:ext cx="2697480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412394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50799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Governed Business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16635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Configured business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146304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1783080"/>
            <a:ext cx="2697480" cy="9144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45936" y="2011680"/>
            <a:ext cx="2697480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15798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420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Scoped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Configured permissions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5936" y="3977639"/>
            <a:ext cx="2697480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412394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50799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Embedded Streaming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16635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/chat, SSE, 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146304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REUSE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26296" y="1783080"/>
            <a:ext cx="2697480" cy="9144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26296" y="2011680"/>
            <a:ext cx="2697480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72600" y="215798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5420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Structured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2004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/query, structured JSON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26296" y="3977639"/>
            <a:ext cx="2697480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72600" y="4123944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50799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Reusable Decision 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516635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Repeat use and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868680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Every demo states the problem, shows the answer, and names what changed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63040"/>
            <a:ext cx="361188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8096" y="159105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11680"/>
            <a:ext cx="324612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State the decision, baseline time-to-know, consequence, and hypothesized delta.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9976" y="1463040"/>
            <a:ext cx="361188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62856" y="159105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856" y="2011680"/>
            <a:ext cx="324612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Follow one decision path using only the capabilities needed to reach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4736" y="1463040"/>
            <a:ext cx="361188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57616" y="1591056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Tell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011680"/>
            <a:ext cx="324612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State what changed, who acts, and which of your metrics validates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70332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MEASURE THE BEFORE-AND-AFTER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3950208"/>
            <a:ext cx="548640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Investigation time and handoffs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Evidence retrieval effort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Decision-cycle duration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Avoided rework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0332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KEEP THE STORY TIGHT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50208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We remove anything that does not strengthen the decision-to-delta story. Every capability shown must move the before-and-after time gauge.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868680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You can trust an answer when you can check it and a person owns the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63040"/>
            <a:ext cx="91440" cy="96012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Domain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Make weak or missing Domain context visible rather than implying universal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2578608"/>
            <a:ext cx="91440" cy="96012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Scoped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Demonstrate scoped access rather than claiming universal governance; it depends on configuration, identity, policy, and 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3694176"/>
            <a:ext cx="91440" cy="96012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694176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Inspectable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9936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Use inspectability to support review without presenting it as guaranteed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4809744"/>
            <a:ext cx="91440" cy="96012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809744"/>
            <a:ext cx="104241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Human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755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Keep regulated decisions with accountable humans; Preview capabilities are not autonomous controls.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868680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Aura supplies the answers; your team builds the experience around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63040"/>
            <a:ext cx="5532120" cy="3246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5216" y="1463040"/>
            <a:ext cx="5532120" cy="73152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Native Aura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94560"/>
            <a:ext cx="512064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/chat provides conversation, SSE streaming, and session continuity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/query provides structured JSON for downstream rendering and integration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Scope includes Aura Analyst and API response patterns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These capabilities remain Preview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391655" y="1463040"/>
            <a:ext cx="5532120" cy="3246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91655" y="1463040"/>
            <a:ext cx="5532120" cy="73152"/>
          </a:xfrm>
          <a:prstGeom prst="rect">
            <a:avLst/>
          </a:prstGeom>
          <a:solidFill>
            <a:srgbClr val="4B47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168249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Your team's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512064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Custom UI and workflow 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Telemetry and downstream orchestration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Security, disclosures, and approved actions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•  Engineering, product, security, and operational work beyond the intelligence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4892040"/>
            <a:ext cx="11018520" cy="109728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5010912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API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3035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Embedded delivery is a joint effort: native intelligence plus your engineering, product, security, and operations.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868680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Sessions from 5 to 40 minutes tell the same story at different depths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508760"/>
            <a:ext cx="2148840" cy="3063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5216" y="1508760"/>
            <a:ext cx="2148840" cy="73152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190195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1901952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One role, one decision, one capability, and one delta hypothesis.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71216" y="1508760"/>
            <a:ext cx="2148840" cy="3063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71216" y="1508760"/>
            <a:ext cx="2148840" cy="73152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737360"/>
            <a:ext cx="190195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331720"/>
            <a:ext cx="1901952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One decision, two capabilities, Tell–Show–Tell, and one measurable delta.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57216" y="1508760"/>
            <a:ext cx="2148840" cy="3063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57216" y="1508760"/>
            <a:ext cx="2148840" cy="73152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85231" y="1737360"/>
            <a:ext cx="190195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1" y="2331720"/>
            <a:ext cx="1901952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Primary and supporting roles, one decision, three capabilities, and the native-versus-custom boundary.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1508760"/>
            <a:ext cx="2148840" cy="3063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43216" y="1508760"/>
            <a:ext cx="2148840" cy="73152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71232" y="1737360"/>
            <a:ext cx="190195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25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2331720"/>
            <a:ext cx="1901952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Two related decisions, all three role perspectives, an API path, guardrails, and a validation plan.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9216" y="1508760"/>
            <a:ext cx="2148840" cy="3063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729216" y="1508760"/>
            <a:ext cx="2148840" cy="73152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57232" y="1737360"/>
            <a:ext cx="190195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40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2331720"/>
            <a:ext cx="1901952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Discovery-led design, architecture review, ownership mapping, delta validation, and a workshop checkpoint.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480060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Depth and audience coverage increase from left to right; the decision story stays constant.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365760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Suggested pairings for common fintech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5544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37744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237744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Digital Funnel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342900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342900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Conversational Drill-Down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448056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448056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Reusable Decision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15544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Payments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1216" y="237744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80944" y="237744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Payment Performance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1216" y="342900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80944" y="342900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Live Event 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71216" y="448056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80944" y="448056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Embedded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15544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Financial crime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7216" y="237744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66944" y="237744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Fraud Strategy Optimization / Financial Crime 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7216" y="342900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66944" y="342900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Transparent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7216" y="448056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66944" y="448056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Scoped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15544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Operations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43216" y="237744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52944" y="237744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Dispute Operations Performance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43216" y="342900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52944" y="342900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Governed Business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3216" y="448056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52944" y="448056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Reusable Decision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9216" y="155448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99FF"/>
                </a:solidFill>
                <a:latin typeface="Roboto Medium"/>
                <a:ea typeface="Roboto Medium"/>
                <a:cs typeface="Roboto Medium"/>
              </a:rPr>
              <a:t>Embedded product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29216" y="237744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38944" y="237744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Embedded Insights Strategy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29216" y="342900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38944" y="342900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Embedded Streaming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9216" y="4480560"/>
            <a:ext cx="2148840" cy="914400"/>
          </a:xfrm>
          <a:prstGeom prst="rect">
            <a:avLst/>
          </a:prstGeom>
          <a:solidFill>
            <a:srgbClr val="36006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38944" y="4480560"/>
            <a:ext cx="1938528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Structured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868680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Six questions to decide whether this is worth pursuing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5544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21031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Job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971800"/>
            <a:ext cx="17830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Confirm one specific job title, not a department or broad 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15544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21031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Critical Business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2971800"/>
            <a:ext cx="17830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Validate the critical business issue and the problems preventing progress.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71800"/>
            <a:ext cx="17830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Name the reasons progress stalls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5544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1031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971800"/>
            <a:ext cx="17830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Focus only on the capabilities you consider must-have.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15544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1031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971800"/>
            <a:ext cx="17830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Quantify with your baselines, targets, and methods.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4976" y="15544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4976" y="2103120"/>
            <a:ext cx="17830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Critical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4976" y="2971800"/>
            <a:ext cx="17830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Tie to a consequential business, regulatory, product, or operating event.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5532120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Each link must hold before we commit to next steps.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365760"/>
            <a:ext cx="8229600" cy="868680"/>
          </a:xfrm>
        </p:spPr>
        <p:txBody>
          <a:bodyPr wrap="square" lIns="0" tIns="0" rIns="0" bIns="0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090909"/>
                </a:solidFill>
                <a:latin typeface="Roboto Medium"/>
                <a:ea typeface="Roboto Medium"/>
                <a:cs typeface="Roboto Medium"/>
              </a:rPr>
              <a:t>Go ahead, change course, or stop, based on value you can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63040"/>
            <a:ext cx="274320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91056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Priority decision, primary job title, decision owner, consequential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65576" y="1463040"/>
            <a:ext cx="274320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1591056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99339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Data and events, Domain context, API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936" y="1463040"/>
            <a:ext cx="274320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91056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9339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Access, engineering needs, ownership boundaries, governance dependencies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26296" y="1463040"/>
            <a:ext cx="2743200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72600" y="1591056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20DDF"/>
                </a:solidFill>
                <a:latin typeface="Roboto Medium"/>
                <a:ea typeface="Roboto Medium"/>
                <a:cs typeface="Roboto Medium"/>
              </a:rPr>
              <a:t>Delta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993392"/>
            <a:ext cx="2468880" cy="1234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90909"/>
                </a:solidFill>
                <a:latin typeface="Roboto"/>
                <a:ea typeface="Roboto"/>
                <a:cs typeface="Roboto"/>
              </a:rPr>
              <a:t>Minimum capabilities, your success evidence, delta 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3657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Roboto Medium"/>
                <a:ea typeface="Roboto Medium"/>
                <a:cs typeface="Roboto Medium"/>
              </a:rPr>
              <a:t>DECISION 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4023360"/>
            <a:ext cx="3611880" cy="1051560"/>
          </a:xfrm>
          <a:prstGeom prst="rect">
            <a:avLst/>
          </a:prstGeom>
          <a:solidFill>
            <a:srgbClr val="820D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411480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Proceed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55371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to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4023360"/>
            <a:ext cx="3611880" cy="1051560"/>
          </a:xfrm>
          <a:prstGeom prst="rect">
            <a:avLst/>
          </a:prstGeom>
          <a:solidFill>
            <a:srgbClr val="4B47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62856" y="411480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Reshape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455371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the hypothesis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4023360"/>
            <a:ext cx="3611880" cy="105156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6" y="4114800"/>
            <a:ext cx="32461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Roboto Medium"/>
                <a:ea typeface="Roboto Medium"/>
                <a:cs typeface="Roboto Medium"/>
              </a:rPr>
              <a:t>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455371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and revisit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303520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252"/>
                </a:solidFill>
                <a:latin typeface="Roboto"/>
                <a:ea typeface="Roboto"/>
                <a:cs typeface="Roboto"/>
              </a:rPr>
              <a:t>Record inspectability limits, human accountability, and Preview status before deciding.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ngleStore Template - Light">
  <a:themeElements>
    <a:clrScheme name="SingleStore Theme v2">
      <a:dk1>
        <a:srgbClr val="090909"/>
      </a:dk1>
      <a:lt1>
        <a:srgbClr val="FFFFFF"/>
      </a:lt1>
      <a:dk2>
        <a:srgbClr val="360061"/>
      </a:dk2>
      <a:lt2>
        <a:srgbClr val="F2F2F2"/>
      </a:lt2>
      <a:accent1>
        <a:srgbClr val="820DDF"/>
      </a:accent1>
      <a:accent2>
        <a:srgbClr val="D199FF"/>
      </a:accent2>
      <a:accent3>
        <a:srgbClr val="525252"/>
      </a:accent3>
      <a:accent4>
        <a:srgbClr val="4B47FF"/>
      </a:accent4>
      <a:accent5>
        <a:srgbClr val="FFCB2E"/>
      </a:accent5>
      <a:accent6>
        <a:srgbClr val="FF6C02"/>
      </a:accent6>
      <a:hlink>
        <a:srgbClr val="820DDF"/>
      </a:hlink>
      <a:folHlink>
        <a:srgbClr val="4B47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2511</Words>
  <Application>Microsoft Macintosh PowerPoint</Application>
  <PresentationFormat>Widescreen</PresentationFormat>
  <Paragraphs>417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Roboto</vt:lpstr>
      <vt:lpstr>Arial</vt:lpstr>
      <vt:lpstr>Roboto Medium</vt:lpstr>
      <vt:lpstr>Calibri</vt:lpstr>
      <vt:lpstr>SingleStore Template - Light</vt:lpstr>
      <vt:lpstr>Our shared goal: make one costly decision materially faster</vt:lpstr>
      <vt:lpstr>PowerPoint Presentation</vt:lpstr>
      <vt:lpstr>Turining journey friction into conversion action</vt:lpstr>
      <vt:lpstr>Identify revenue-impacting changes before customers feel them</vt:lpstr>
      <vt:lpstr>Reduce losses without blocking good customers</vt:lpstr>
      <vt:lpstr>Focus on evidence-based decisions, not evidence gathering.</vt:lpstr>
      <vt:lpstr>Prevent breaches before cases age out</vt:lpstr>
      <vt:lpstr>Provide earlier visibility into funding pressure</vt:lpstr>
      <vt:lpstr>Provide complete evidence and portfolio context before a decision</vt:lpstr>
      <vt:lpstr>Personalized insight that fits inside the product</vt:lpstr>
      <vt:lpstr>Your role determines the question, evidence, and stopping point</vt:lpstr>
      <vt:lpstr>Eight capabilities make each decision path credible, composable, and testable</vt:lpstr>
      <vt:lpstr>Tell–Show–Tell turns capabilities into a measurable decision story</vt:lpstr>
      <vt:lpstr>Trust requires explicit context, scoped access, inspectable evidence, and accountable humans</vt:lpstr>
      <vt:lpstr>Native APIs supply intelligence while your team owns the embedded experience</vt:lpstr>
      <vt:lpstr>Session formats keep one decision story while changing depth</vt:lpstr>
      <vt:lpstr>PowerPoint Presentation</vt:lpstr>
      <vt:lpstr>Six questions turn an interesting session into a shared business case</vt:lpstr>
      <vt:lpstr>Proceed, reshape, or stop based on testable value and feasibility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Analyst for Fintech: Decision Playbook</dc:title>
  <cp:lastModifiedBy>Kevin Ng</cp:lastModifiedBy>
  <cp:revision>2</cp:revision>
  <dcterms:modified xsi:type="dcterms:W3CDTF">2026-10-01T15:43:26Z</dcterms:modified>
</cp:coreProperties>
</file>