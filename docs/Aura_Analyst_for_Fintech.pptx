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5341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M">
    <p:bg>
      <p:bgPr>
        <a:solidFill>
          <a:srgbClr val="0909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/build/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585216"/>
            <a:ext cx="2276856" cy="4754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">
    <p:bg>
      <p:bgPr>
        <a:solidFill>
          <a:srgbClr val="0909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/build/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9296" y="6345936"/>
            <a:ext cx="1225296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/build/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9296" y="6345936"/>
            <a:ext cx="1225296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2331720"/>
            <a:ext cx="8595360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Aura Analyst for Fintech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3504" y="370332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D199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Governed answers at the speed of the decision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3504" y="47091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D8D8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Plain-language questions become governed SQL, executed on live data, returned as summary, table, or chart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D8D8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for teams that cannot wait on reports or analyst queues to connect current events with business history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D8D8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Eight decision scenarios across digital, payments, fraud, AML, disputes, treasury, credit, and embedded experiences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058400" y="640080"/>
            <a:ext cx="1517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8FB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capability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The cost of waiting for the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417320"/>
            <a:ext cx="1101852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Fintech teams wait on monthly reports or analyst backlogs to connect what is happening now with what happened before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the time the report lands, the conversion window, the payment anomaly, or the fraud pattern has already moved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decision that matters is rarely the first answer; it is the follow-up that current tools make slow and expensive</a:t>
            </a:r>
            <a:endParaRPr lang="en-US" sz="16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scenario here starts from one consequential decision and the current time it takes to know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85216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5252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Decision latency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" y="416052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85216" y="416052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Signal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16936" y="4160520"/>
            <a:ext cx="320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36976" y="416052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36976" y="416052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Investigation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568696" y="4160520"/>
            <a:ext cx="320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88736" y="416052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88736" y="416052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0456" y="4160520"/>
            <a:ext cx="320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40496" y="416052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820DD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40496" y="416052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85216" y="5257800"/>
            <a:ext cx="7933334" cy="0"/>
          </a:xfrm>
          <a:prstGeom prst="line">
            <a:avLst/>
          </a:prstGeom>
          <a:noFill/>
          <a:ln w="25400">
            <a:solidFill>
              <a:srgbClr val="52525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5216" y="5330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Wide current gap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76986" y="5257800"/>
            <a:ext cx="2424074" cy="0"/>
          </a:xfrm>
          <a:prstGeom prst="line">
            <a:avLst/>
          </a:prstGeom>
          <a:noFill/>
          <a:ln w="38100">
            <a:solidFill>
              <a:srgbClr val="820D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76986" y="5330952"/>
            <a:ext cx="24240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Target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How Aura Analyst produces an answer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600200"/>
            <a:ext cx="1975104" cy="1051560"/>
          </a:xfrm>
          <a:prstGeom prst="roundRect">
            <a:avLst>
              <a:gd name="adj" fmla="val 5217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30936" y="1600200"/>
            <a:ext cx="1883664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Question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 plain language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2560320" y="160020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›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816352" y="1600200"/>
            <a:ext cx="1975104" cy="1051560"/>
          </a:xfrm>
          <a:prstGeom prst="roundRect">
            <a:avLst>
              <a:gd name="adj" fmla="val 5217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62072" y="1600200"/>
            <a:ext cx="1883664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Interpret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intent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91456" y="160020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47488" y="1600200"/>
            <a:ext cx="1975104" cy="1051560"/>
          </a:xfrm>
          <a:prstGeom prst="roundRect">
            <a:avLst>
              <a:gd name="adj" fmla="val 5217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93208" y="1600200"/>
            <a:ext cx="1883664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Generate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SQL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22592" y="160020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278624" y="1600200"/>
            <a:ext cx="1975104" cy="1051560"/>
          </a:xfrm>
          <a:prstGeom prst="roundRect">
            <a:avLst>
              <a:gd name="adj" fmla="val 5217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24344" y="1600200"/>
            <a:ext cx="1883664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Execute on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governed data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253728" y="160020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509760" y="1600200"/>
            <a:ext cx="1975104" cy="1051560"/>
          </a:xfrm>
          <a:prstGeom prst="roundRect">
            <a:avLst>
              <a:gd name="adj" fmla="val 5217"/>
            </a:avLst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555480" y="1600200"/>
            <a:ext cx="1883664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Result: summary,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table, or chart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5216" y="2880360"/>
            <a:ext cx="1101852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288036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Grounded in a reviewed Domain  </a:t>
            </a: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approved metrics, relationships, and business terms sit under every answer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5216" y="4023360"/>
            <a:ext cx="11018520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Results return as summary, data table, or chart, and the analysis continues as a multi-turn conversation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APIs support interactive streaming through /chat and structured integration through /query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Aura Analyst and the Analyst API are Preview capabilities; production requirements are confirmed before deployment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How to read each scenario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691640"/>
            <a:ext cx="3502152" cy="3017520"/>
          </a:xfrm>
          <a:prstGeom prst="roundRect">
            <a:avLst>
              <a:gd name="adj" fmla="val 151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59536" y="1965960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TELL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9536" y="2377440"/>
            <a:ext cx="2953512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Frame it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59536" y="3063240"/>
            <a:ext cx="2953512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Persona, business issue, solution, and the capabilities in play.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87368" y="1691640"/>
            <a:ext cx="256032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02152" cy="3017520"/>
          </a:xfrm>
          <a:prstGeom prst="roundRect">
            <a:avLst>
              <a:gd name="adj" fmla="val 151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7720" y="1965960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SHOW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17720" y="2377440"/>
            <a:ext cx="2953512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Run it live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3063240"/>
            <a:ext cx="2953512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run the exact questions so the room sees the answer form on real data.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45552" y="1691640"/>
            <a:ext cx="256032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101584" y="1691640"/>
            <a:ext cx="3502152" cy="3017520"/>
          </a:xfrm>
          <a:prstGeom prst="roundRect">
            <a:avLst>
              <a:gd name="adj" fmla="val 151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75904" y="1965960"/>
            <a:ext cx="2953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TELL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75904" y="2377440"/>
            <a:ext cx="2953512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Land it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75904" y="3063240"/>
            <a:ext cx="2953512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changed, who acts on it, and the KPI to validate against your baseline.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5216" y="5120640"/>
            <a:ext cx="1101852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50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and customer-impacting decisions stay with accountable people. Aura assembles the analysis and the evidence.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Eight decision scenarios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03504" y="36118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199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Digital  ·  Payments  ·  Fraud  ·  AML  ·  Disputes  ·  Treasury  ·  Credit  ·  Embedded experiences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03504" y="43434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8AEC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scenario runs as a framing slide followed by a live-demo slide.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A1  Digital Journey Intelligence: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 of Digital, Growth, or Customer Analytics; retail and digital banking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 account-opening conversion and act on customer intent while it is still current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Onboarding, digital usage, and relationship data sit in separate systems; teams wait for monthly reports and cannot connect relationships to live behavior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Ask governed questions across journey events, review paths, authenticated behavior, and relationships; natural language to SQL with Domain context returning summary, data, and charts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question-to-answer cycle time, fewer report tickets, higher completion and lower abandonment, measurable conversion uplift and relationship depth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the team isolates a relationship-aware conversion cohort in one working session instead of waiting for the next monthly report;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A1  Digital Journey Intelligence: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Digital teams wait for monthly reports and cannot connect customer relationships to current behavior. We isolate one conversion issue, then identify the affected cohort.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the account-opening funnel by step and channel for the last 30 days, including completion and abandonment rates.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funnel by web and mobile with the largest abandonment step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completion rate and median time to open for manual review versus straight-through applications.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Which path converts slower, without claiming causation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logged-in customers viewed mortgage pages at least twice this month, and what existing relationships do they have?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authorized cohort with page activity, product relationships, and last activity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moved from aggregate friction to a specific, relationship-aware cohort using current data.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intent.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question-to-answer cycle time, completion and abandonment rate, and relationship depth. Treat conversion uplift as a hypothesis.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A2  Payment Pulse: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 of Payments, Payment Operations, or Merchant Success; payments and card issuing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Protect authorization rate, revenue, and customer experience as approval, latency, and decline mix shift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Payment economics move before batch reporting exposes them; processor and rail blind spots let declines and latency surface too late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Analyze authorization performance across processor, rail, merchant, region, and decline reason; natural-language analysis, generated SQL, execution, tables, and charts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Approval rate, decline rate, p95 latency, processor SLA, revenue at risk, and operations time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ops narrows a portfolio-level approval dip to the specific processor, rail, and merchant pattern within the same window;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A2  Payment Pulse: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Payment economics move before monthly summaries do. We find where authorization performance changed and narrow it to an operational segment.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authorization rate, p95 latency, and decline volume by hour for the last 24 hours.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time series with an identifiable change window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the weakest authorization window, rank processors and rails by approval-rate change versus the prior seven-day baseline.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ranked comparison with counts and rates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the largest change, break declines down by merchant category and response code.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concentrated decline mix ready for operations follow-up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team moves from a portfolio signal to the processor, rail, and merchant pattern that deserves investigation.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Protect approvals.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approval rate, p95 latency, processor SLA, and revenue at risk. Any approval improvement is a hypothesis.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A3  Trace the Loss: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Fraud leader, Risk Operations, or Fraud Analyst; financial services and fintech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fraud loss and false positives by investigating where loss actually concentrates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Loss is reported by type, while investigators need channel, merchant, device, account-age, and velocity context that lives in separate evidence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Move from loss concentration to an evidence-rich segment for human investigation; Domain-grounded natural-language analysis, SQL execution, summary, chart, and data output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Fraud loss, false-positive rate, investigation time, cases per analyst, time to isolate a pattern, and revenue protected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an investigator receives an assembled, evidence-rich segment ready for review instead of building it by hand;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A3  Trace the Loss: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Fraud reporting says what type of loss occurred. Investigators need to know where it concentrates and which evidence explains the pattern.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confirmed fraud loss and false-positive rate by channel and fraud type for the last 30 days.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channel-by-type view with one concentrated loss segment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the highest-loss segment, compare merchant, device reuse, account age, and 24-hour transaction velocity.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Ranked dimensions revealing a suspicious concentration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the cases in that segment with transaction IDs, loss, device count, account age, and velocity for investigator review.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review queue; no transaction is blocked or changed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Aura assembled the segment and the evidence. A fraud professional decides what to investigate and what action is appropriate.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Trace loss.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fraud loss, false-positive rate, and time to isolate a pattern. Loss reduction remains a hypothesis.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A4  Alert-to-Evidence: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AML Operations, Compliance, or Financial Crime; banking and fintech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Clear the AML alert backlog by cutting the time reviewers spend assembling evidence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Reviewers manually gather transactions, entities, counterparties, and prior activity before they can assess an alert, so backlog and alert age grow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Prioritize an alert cohort and assemble relevant evidence for human review; natural-language query planning, SQL execution, Domain context, summaries, data, and charts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Investigation time, alert backlog, alert age, cases per reviewer, evidence-gathering steps, and escalation quality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a reviewer opens an alert with linked transactions, entities, and prior outcomes already assembled;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A4  Alert-to-Evidence: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goal is not to let software make a compliance decision. It is to reduce the time reviewers spend finding the evidence needed for one.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open AML alerts by age, rule, risk band, and assigned queue.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backlog view with an aging or high-volume cohort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alerts older than seven days in the selected cohort, summarize transaction value, counterparties, geographies, and prior related alerts.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comparative evidence 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F2F2F2"/>
          </a:solidFill>
          <a:ln w="12700">
            <a:solidFill>
              <a:srgbClr val="D9D2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IN-APP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one alert to see linked transactions, entities, counterparties, and previous case outcomes.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consolidated case layout; this view is custom application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reviewer starts with assembled evidence and keeps responsibility for disposition, escalation, and documentation.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Faster evidence.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investigation time, alert backlog, and evidence-gathering steps. Any improvement is a hypothesis until tested.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A5  Dispute Resolution Lens: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Disputes leader, Service Operations, or Customer Care; card and payments servicing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Meet dispute SLAs and protect retention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Queue drivers and customer timelines are split across case, transaction, and contact systems, so teams miss SLAs and reconstruct context by hand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Identify breach risk, explain the queue driver, and show one joined timeline; natural-language analysis, execution, summary, data, and visualization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Handle time, SLA breaches, reopen rate, queue age, contacts per dispute, cost per case, and retention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an agent opens one joined dispute timeline instead of stitching together three systems;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A5  Dispute Resolution Lens: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queue total does not explain which disputes will breach or what an agent must reconstruct. We isolate the driver and open one complete timeline.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open disputes at risk of SLA breach in the next 24 hours by queue, reason, and age.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Ranked queues and a breach-risk count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factors explain the largest at-risk queue compared with the prior 30 days?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Changes in reason mix, volume, assignment, or handling time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F2F2F2"/>
          </a:solidFill>
          <a:ln w="12700">
            <a:solidFill>
              <a:srgbClr val="D9D2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IN-APP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one dispute timeline to see joined transaction, dispute, contact, credit, and status events.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timeline; the presentation is custom application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Operations sees where to intervene, and the agent gets the context needed to resolve the individual case.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Resolve sooner.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handle time, SLA breaches, and contacts per dispute. Savings and retention effects require validation.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A6  Liquidity Command Center: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Treasurer, Finance Operations, or Payments Treasury; banking and fintech treasury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 liquidity and funding exposure while there is still time to 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Cash positions, settlement flows, queued payments, and forecasts diverge across separate reports, so variance surfaces only after reconciliation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Present current positions and isolate the source of forecast variance or funding pressure; Domain-grounded questions, SQL execution, summary, table, and chart output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Forecast variance, queued value, reconciliation time, exception time, emergency funding cost, and missed-settlement risk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treasury sees position, variance, and the relevant payment queue before the next reconciliation cycle;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A6  Liquidity Command Center: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Treasury needs the difference between expected and current cash while there is still time to manage it. We locate one variance and its driver.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current cash position, expected settlements, queued payments, and available liquidity by entity and currency.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position view with one constrained entity or currency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today's actual net flow with forecast and rank the drivers of the largest variance.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variance chart and the settlement or payment contributors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queued payments fall inside the next funding window for that entity?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authorized payment list; no payment is released or stopped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Treasury sees the position, the variance, and the relevant queue without waiting for the next reconciliation cycle.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liquidity.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forecast variance, queued value, and emergency funding cost. Cost and risk changes are hypotheses.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A7  Credit Risk Pulse: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Credit Operations, Lending Risk, or Portfolio Management; lending and credit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Speed applicant assessment and surface portfolio concentration without changing who decides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Applicant evidence and portfolio exposure are reviewed in separate tools, which slows assessment and masks concentration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Assemble application evidence and relate it to current portfolio concentration without making a credit decision; natural-language analysis, Domain context, SQL execution, summary, data, and chart output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time, application backlog, manual-review rate, time to decision, missing-evidence rate, and portfolio concentration visibility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a reviewer sees applicant evidence and portfolio concentration context together in one place;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A7  Credit Risk Pulse: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Credit teams need both applicant evidence and portfolio context. This scenario organizes those facts; it does not approve, decline, or price credit.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application volume, manual-review rate, and time to decision by product and channel for the last 30 days.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operational view with one review-heavy segment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 the submitted evidence, verification results, requested exposure, and missing items for this application.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evidence summary with source fields and missing items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would the requested exposure compare with current concentration by industry, geography, and risk grade?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portfolio comparison, not a recommendation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reviewer receives organized evidence and concentration context. Approved policy and accountable people govern the decision.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Context, not decision.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review time, manual-review rate, and missing-evidence rate. Do not attribute approval-rate changes to Aura without a controlled test.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A8  Explain My Money: the situation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03504" y="1152144"/>
            <a:ext cx="1463040" cy="54864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85216" y="16642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Job Title / Industry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401568" y="166420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Fintech Product, App Engineering, or Digital Experience; consumer fintech and digital banking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243687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Business Issue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1568" y="2436876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Grow engagement, retention, and premium adoption with an embedded analytics experience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" y="32095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Problems / Reasons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01568" y="3209544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Customers want explanations grounded in their own activity, while product teams lack an embeddable experience with scoped context and would otherwise build the conversation layer themselves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5216" y="39822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 Capabilities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1568" y="3982212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an interactive answer through /chat using a customer-scoped Domain and continued session context; SSE streaming, multi-turn sessions, Domain-scoped bearer key, and SQL, data, chart, and text responses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" y="4754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Delta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1568" y="4754880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deflection, engagement, retention, premium-tier adoption, API latency, completion rate, and answer quality (validate against your baseline)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5216" y="55275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Critical Date / VRE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1568" y="552754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time a customer gets a streamed, session-aware answer about their own money inside the app they already use; critical date set with your team in discovery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A8  Explain My Money: 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115568"/>
            <a:ext cx="11018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premium analytics experience must explain the customer's own money in context and fit inside the app they already use.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85216" y="1737360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F2F2F2"/>
          </a:solidFill>
          <a:ln w="12700">
            <a:solidFill>
              <a:srgbClr val="D9D2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IN-APP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in as the sample customer and open the embedded analyst panel to see customer-specific conversation starters.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1737360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panel shell is custom UI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" y="2852928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98648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was my cash balance lower this month than last month?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0" y="2852928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Streaming text and supporting data tied only to the customer's authorized data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" y="3968496"/>
            <a:ext cx="6903720" cy="1024128"/>
          </a:xfrm>
          <a:prstGeom prst="roundRect">
            <a:avLst>
              <a:gd name="adj" fmla="val 4464"/>
            </a:avLst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4014216"/>
            <a:ext cx="6537960" cy="9326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19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recurring categories contributed most, and what changed?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3968496"/>
            <a:ext cx="3922776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See  </a:t>
            </a:r>
            <a:r>
              <a:rPr lang="en-US" sz="115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session-aware comparison without restating the period or customer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5230368"/>
            <a:ext cx="11018520" cy="987552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native API supplies streamed, contextual analysis. The fintech owns the product experience, entitlement model, disclosures, and customer actions.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56875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Embedded insight.   </a:t>
            </a:r>
            <a:r>
              <a:rPr lang="en-US" sz="12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against support deflection, engagement, premium-tier adoption, and API latency. Monetization deltas require customer testing.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What stays with your team, and what Aura provides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600200"/>
            <a:ext cx="3502152" cy="3657600"/>
          </a:xfrm>
          <a:prstGeom prst="roundRect">
            <a:avLst>
              <a:gd name="adj" fmla="val 117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85216" y="1600200"/>
            <a:ext cx="3502152" cy="640080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3816" y="1600200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Native Aura and the API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59536" y="2423160"/>
            <a:ext cx="2953512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Natural language to SQL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Planning and execution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Domain business context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Multi-turn sessions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/chat and /query responses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02152" cy="3657600"/>
          </a:xfrm>
          <a:prstGeom prst="roundRect">
            <a:avLst>
              <a:gd name="adj" fmla="val 117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02152" cy="640080"/>
          </a:xfrm>
          <a:prstGeom prst="rect">
            <a:avLst/>
          </a:prstGeom>
          <a:solidFill>
            <a:srgbClr val="3600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1600200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SingleStore foundation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2423160"/>
            <a:ext cx="2953512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the generated SQL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Governed, inspectable data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Newly committed data is queryable in the next request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01584" y="1600200"/>
            <a:ext cx="3502152" cy="3657600"/>
          </a:xfrm>
          <a:prstGeom prst="roundRect">
            <a:avLst>
              <a:gd name="adj" fmla="val 1175"/>
            </a:avLst>
          </a:prstGeom>
          <a:solidFill>
            <a:srgbClr val="F2F2F2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101584" y="1600200"/>
            <a:ext cx="3502152" cy="640080"/>
          </a:xfrm>
          <a:prstGeom prst="rect">
            <a:avLst/>
          </a:prstGeom>
          <a:solidFill>
            <a:srgbClr val="52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30184" y="1600200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Your application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75904" y="2423160"/>
            <a:ext cx="2953512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 UI and saved cards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Workflow actions and scheduling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Entitlements and disclosures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Downstream orchestration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" y="5486400"/>
            <a:ext cx="11018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decisions stay with accountable people. Aura assembles analysis and evidence, and does not act on its own.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457200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090909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Trust by design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645920"/>
            <a:ext cx="11018520" cy="914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85216" y="1645920"/>
            <a:ext cx="128016" cy="914400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Domain context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0" y="1645920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Answers are grounded in a reviewed Domain, so business meaning comes before table names.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5216" y="2724912"/>
            <a:ext cx="11018520" cy="914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85216" y="2724912"/>
            <a:ext cx="128016" cy="914400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2724912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Scoped access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0" y="2724912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Access follows configured roles and Domain scope; integration keys are Domain-scoped and held server-side.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5216" y="3803904"/>
            <a:ext cx="11018520" cy="914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85216" y="3803904"/>
            <a:ext cx="128016" cy="914400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803904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Inspectable evidence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114800" y="3803904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Answers are inspectable through the generated SQL and the data the environment exposes.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" y="4882896"/>
            <a:ext cx="11018520" cy="914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85216" y="4882896"/>
            <a:ext cx="128016" cy="914400"/>
          </a:xfrm>
          <a:prstGeom prst="rect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4882896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820DD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Human ownership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114800" y="4882896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9090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Governance depends on your configuration, identity, policy, and deployment choices.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5216" y="5980176"/>
            <a:ext cx="11018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2525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Aura Analyst is a Preview capability.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Where we go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3504" y="2103120"/>
            <a:ext cx="2651760" cy="2468880"/>
          </a:xfrm>
          <a:prstGeom prst="roundRect">
            <a:avLst>
              <a:gd name="adj" fmla="val 1852"/>
            </a:avLst>
          </a:prstGeom>
          <a:solidFill>
            <a:srgbClr val="1A1030"/>
          </a:solidFill>
          <a:ln w="12700">
            <a:solidFill>
              <a:srgbClr val="3600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77824" y="2377440"/>
            <a:ext cx="502920" cy="502920"/>
          </a:xfrm>
          <a:prstGeom prst="ellipse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7824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7824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199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Framing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77824" y="35204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8D0E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 the priority scenario, primary persona, decision owner, and consequential question.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55264" y="2103120"/>
            <a:ext cx="30175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557016" y="2103120"/>
            <a:ext cx="2651760" cy="2468880"/>
          </a:xfrm>
          <a:prstGeom prst="roundRect">
            <a:avLst>
              <a:gd name="adj" fmla="val 1852"/>
            </a:avLst>
          </a:prstGeom>
          <a:solidFill>
            <a:srgbClr val="1A1030"/>
          </a:solidFill>
          <a:ln w="12700">
            <a:solidFill>
              <a:srgbClr val="3600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831336" y="2377440"/>
            <a:ext cx="502920" cy="502920"/>
          </a:xfrm>
          <a:prstGeom prst="ellipse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31336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31336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199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Value baseline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31336" y="35204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8D0E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 the KPI and the owner who will validate value against your own baseline data.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08776" y="2103120"/>
            <a:ext cx="30175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10528" y="2103120"/>
            <a:ext cx="2651760" cy="2468880"/>
          </a:xfrm>
          <a:prstGeom prst="roundRect">
            <a:avLst>
              <a:gd name="adj" fmla="val 1852"/>
            </a:avLst>
          </a:prstGeom>
          <a:solidFill>
            <a:srgbClr val="1A1030"/>
          </a:solidFill>
          <a:ln w="12700">
            <a:solidFill>
              <a:srgbClr val="3600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84848" y="2377440"/>
            <a:ext cx="502920" cy="502920"/>
          </a:xfrm>
          <a:prstGeom prst="ellipse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84848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84848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199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Scoped validation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784848" y="35204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8D0E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Agree the Domain, data, access, API fit, and latency criteria for a scoped validation.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162288" y="2103120"/>
            <a:ext cx="30175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20D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64040" y="2103120"/>
            <a:ext cx="2651760" cy="2468880"/>
          </a:xfrm>
          <a:prstGeom prst="roundRect">
            <a:avLst>
              <a:gd name="adj" fmla="val 1852"/>
            </a:avLst>
          </a:prstGeom>
          <a:solidFill>
            <a:srgbClr val="1A1030"/>
          </a:solidFill>
          <a:ln w="12700">
            <a:solidFill>
              <a:srgbClr val="3600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738360" y="2377440"/>
            <a:ext cx="502920" cy="502920"/>
          </a:xfrm>
          <a:prstGeom prst="ellipse">
            <a:avLst/>
          </a:prstGeom>
          <a:solidFill>
            <a:srgbClr val="820D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73836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7383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199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Executive readout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38360" y="352044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8D0E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Choose the next step: a value baseline, a data and Domain, or an API build session.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03504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D199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Governed answers, at the speed of the decision.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3200</Words>
  <Application>Microsoft Macintosh PowerPoint</Application>
  <PresentationFormat>Custom</PresentationFormat>
  <Paragraphs>308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Consolas</vt:lpstr>
      <vt:lpstr>Roboto</vt:lpstr>
      <vt:lpstr>Roboto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Analyst for Fintech</dc:title>
  <dc:subject>PptxGenJS Presentation</dc:subject>
  <dc:creator>SingleStore</dc:creator>
  <cp:lastModifiedBy>Kevin Ng</cp:lastModifiedBy>
  <cp:revision>2</cp:revision>
  <dcterms:created xsi:type="dcterms:W3CDTF">2026-07-26T18:44:22Z</dcterms:created>
  <dcterms:modified xsi:type="dcterms:W3CDTF">2026-07-26T18:58:48Z</dcterms:modified>
</cp:coreProperties>
</file>