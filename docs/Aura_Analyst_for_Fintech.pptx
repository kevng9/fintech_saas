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65" r:id="rId12"/>
    <p:sldId id="266" r:id="rId13"/>
    <p:sldId id="284" r:id="rId14"/>
    <p:sldId id="267" r:id="rId15"/>
    <p:sldId id="268" r:id="rId16"/>
    <p:sldId id="285" r:id="rId17"/>
    <p:sldId id="269" r:id="rId18"/>
    <p:sldId id="270" r:id="rId19"/>
    <p:sldId id="286" r:id="rId20"/>
    <p:sldId id="271" r:id="rId21"/>
    <p:sldId id="272" r:id="rId22"/>
    <p:sldId id="287" r:id="rId23"/>
    <p:sldId id="273" r:id="rId24"/>
    <p:sldId id="274" r:id="rId25"/>
    <p:sldId id="288" r:id="rId26"/>
    <p:sldId id="275" r:id="rId27"/>
    <p:sldId id="276" r:id="rId28"/>
    <p:sldId id="289" r:id="rId29"/>
    <p:sldId id="277" r:id="rId30"/>
    <p:sldId id="278" r:id="rId31"/>
    <p:sldId id="290" r:id="rId32"/>
    <p:sldId id="279" r:id="rId33"/>
    <p:sldId id="280" r:id="rId34"/>
    <p:sldId id="281" r:id="rId35"/>
    <p:sldId id="282" r:id="rId3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1" d="100"/>
          <a:sy n="201" d="100"/>
        </p:scale>
        <p:origin x="224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347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44392-9490-8222-1CEF-22A907B11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C4627-2CEC-3518-8774-66DC1B645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B7E8C-22A8-D6F0-D97F-C7316D729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4BFE2-4B9E-BB72-3AB9-9F2508822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80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204B-CBEE-8CB2-E028-FB959E17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502E4-C389-85DC-8803-6A0EF8814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874D6-218A-523F-7FFA-EE23B1062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3D6AA-2360-6A16-BEB8-50036D7F29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64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F1B2E-919A-23F8-CEF6-BF1D5646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4A93E-A004-6A85-314C-186928B29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9E750-7FCF-D5F9-6F35-3988E1848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C884E-6399-1D9C-ABB8-408DC8DC1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551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4544-AB93-0C2E-A591-230EB2A7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ADEF0-6A3F-AB26-0D70-944627ABD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E2449-E58B-980F-A7ED-188AD02ED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6C534-99B4-BF1E-5D83-279838B6E6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7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59BED-FEB2-0A87-545C-4FD66B98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F792E-92C2-AF79-CB0B-88D4AB758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C23A7-30C1-8A00-9B8D-E2738F004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EDC18-F213-3977-B8DD-ECBCDA6BB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301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127B0-C503-4DFD-C00C-9EE81DE5D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204F3-B6EB-ED5A-9AE2-46C887AA7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7020A-2488-52F2-455F-E36DEA51A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D0FAB-AA80-05EE-5954-4F74FD85B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428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CB8C-936D-E8D3-9A93-1EE1F0083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2E9C5-3E08-8971-2FE6-52104A0C4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201C1-6BCE-31C4-9A13-9927084F0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2CB72-ABA2-DA90-51EE-6905C7839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031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CB8D7-549C-AC31-0911-BEEB4DA6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57255-8E6F-DEF0-3B2F-4F3EE8209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8B704-B9EC-D277-0D6A-1557B984F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B907F-1575-ECDB-59CF-CE4F1DD58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143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build/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585216"/>
            <a:ext cx="2276856" cy="4754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build/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296" y="6345936"/>
            <a:ext cx="1225296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build/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296" y="6345936"/>
            <a:ext cx="1225296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33172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Aura Analyst for Fintech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3504" y="37033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D19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Governed answers at the speed of the decision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3504" y="47091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8D8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Plain-language questions become governed SQL, executed on live data, returned as summary, table, or chart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8D8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for teams that cannot wait on reports or analyst queues to connect current events with business history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8D8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Eight decision scenarios across digital, payments, fraud, AML, disputes, treasury, credit, and embedded experiences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8F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Preview capability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cost of waiting for the answer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417320"/>
            <a:ext cx="11018520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Fintech teams wait on monthly reports or analyst backlogs to connect what is happening now with what happened before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time the report lands, the conversion window, the payment anomaly, or the fraud pattern has already moved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decision that matters is rarely the first answer; it is the follow-up that current tools make slow and expensive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scenario here starts from one consequential decision and the current time it takes to know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5216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 latency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" y="416052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5216" y="4160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Signal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16936" y="416052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36976" y="416052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36976" y="4160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Investigation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68696" y="416052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88736" y="416052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88736" y="4160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0456" y="416052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40496" y="416052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820DD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40496" y="4160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5216" y="5257800"/>
            <a:ext cx="7933334" cy="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" y="5330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Wide current gap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79662" y="5257800"/>
            <a:ext cx="2424074" cy="0"/>
          </a:xfrm>
          <a:prstGeom prst="line">
            <a:avLst/>
          </a:prstGeom>
          <a:noFill/>
          <a:ln w="38100">
            <a:solidFill>
              <a:srgbClr val="820DD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79662" y="5330952"/>
            <a:ext cx="24240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Target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How Aura Analyst produces an answer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600200"/>
            <a:ext cx="1975104" cy="1051560"/>
          </a:xfrm>
          <a:prstGeom prst="roundRect">
            <a:avLst>
              <a:gd name="adj" fmla="val 5217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0936" y="160020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Question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 plain language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60320" y="160020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20D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16352" y="1600200"/>
            <a:ext cx="1975104" cy="1051560"/>
          </a:xfrm>
          <a:prstGeom prst="roundRect">
            <a:avLst>
              <a:gd name="adj" fmla="val 5217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62072" y="160020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Interpret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91456" y="160020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20D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47488" y="1600200"/>
            <a:ext cx="1975104" cy="1051560"/>
          </a:xfrm>
          <a:prstGeom prst="roundRect">
            <a:avLst>
              <a:gd name="adj" fmla="val 5217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93208" y="160020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Generate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SQL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22592" y="160020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20D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278624" y="1600200"/>
            <a:ext cx="1975104" cy="1051560"/>
          </a:xfrm>
          <a:prstGeom prst="roundRect">
            <a:avLst>
              <a:gd name="adj" fmla="val 5217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24344" y="160020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Execute 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governed data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53728" y="160020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20D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509760" y="1600200"/>
            <a:ext cx="1975104" cy="1051560"/>
          </a:xfrm>
          <a:prstGeom prst="roundRect">
            <a:avLst>
              <a:gd name="adj" fmla="val 5217"/>
            </a:avLst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55480" y="160020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Result: summary,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table, or chart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5216" y="2880360"/>
            <a:ext cx="11018520" cy="77724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28803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Grounded in a reviewed Domain  </a:t>
            </a: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approved metrics, relationships, and business terms sit under every answer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" y="4023360"/>
            <a:ext cx="1101852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return as summary, data table, or chart, and the analysis continues as a multi-turn conversation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APIs support interactive streaming through /chat and structured integration through /query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Aura Analyst and the Analyst API are Preview capabilities; production requirements are confirmed before deployment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How to read each scenario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691640"/>
            <a:ext cx="3502152" cy="3017520"/>
          </a:xfrm>
          <a:prstGeom prst="roundRect">
            <a:avLst>
              <a:gd name="adj" fmla="val 1515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" y="196596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" y="237744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Frame 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9536" y="306324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Persona, business issue, solution, and the capabilities in play.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87368" y="1691640"/>
            <a:ext cx="2560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02152" cy="3017520"/>
          </a:xfrm>
          <a:prstGeom prst="roundRect">
            <a:avLst>
              <a:gd name="adj" fmla="val 1515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196596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SHOW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Run it live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306324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run the exact questions so the room sees the answer form on real data.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45552" y="1691640"/>
            <a:ext cx="2560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01584" y="1691640"/>
            <a:ext cx="3502152" cy="3017520"/>
          </a:xfrm>
          <a:prstGeom prst="roundRect">
            <a:avLst>
              <a:gd name="adj" fmla="val 1515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75904" y="196596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75904" y="237744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Land it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75904" y="306324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changed, who acts on it, and the KPI to validate against your baseline.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" y="5120640"/>
            <a:ext cx="110185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Regulated and customer-impacting decisions stay with accountable people. Aura assembles the analysis and the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situation slide, element by element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the decision belongs to and the market they operate in; one situation slide per key player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person's top-level goal or objective that is currently at risk, usually annual, quarterly, or project based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the goal is hard to reach today and how the work is done now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 person needs to be able to do to solve the problem, stated from their point of 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date a solution must be in place and why, plus the value realization event that signals first success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55275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01568" y="552754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measurable value of changing from today's approach, expressed in the customer's own numbers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Illustrative reference profile behind the Delta ranges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115568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this profile to read every dollar figure in the situation slides and the value summary.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5216" y="1828800"/>
            <a:ext cx="2548890" cy="2194560"/>
          </a:xfrm>
          <a:prstGeom prst="roundRect">
            <a:avLst>
              <a:gd name="adj" fmla="val 2083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5216" y="1828800"/>
            <a:ext cx="2548890" cy="9144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2376" y="2212848"/>
            <a:ext cx="227457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22376" y="3127248"/>
            <a:ext cx="227457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" y="3547872"/>
            <a:ext cx="227457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about 5 million customers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8426" y="1828800"/>
            <a:ext cx="2548890" cy="2194560"/>
          </a:xfrm>
          <a:prstGeom prst="roundRect">
            <a:avLst>
              <a:gd name="adj" fmla="val 2083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08426" y="1828800"/>
            <a:ext cx="2548890" cy="9144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5586" y="2212848"/>
            <a:ext cx="227457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$8B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545586" y="3127248"/>
            <a:ext cx="227457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annual payment volume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5586" y="3547872"/>
            <a:ext cx="227457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about $8 billion per year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1636" y="1828800"/>
            <a:ext cx="2548890" cy="2194560"/>
          </a:xfrm>
          <a:prstGeom prst="roundRect">
            <a:avLst>
              <a:gd name="adj" fmla="val 2083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31636" y="1828800"/>
            <a:ext cx="2548890" cy="9144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8796" y="2212848"/>
            <a:ext cx="227457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368796" y="3127248"/>
            <a:ext cx="227457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analyst + ops FTEs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8796" y="3547872"/>
            <a:ext cx="227457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loaded at about $75/hr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4846" y="1828800"/>
            <a:ext cx="2548890" cy="2194560"/>
          </a:xfrm>
          <a:prstGeom prst="roundRect">
            <a:avLst>
              <a:gd name="adj" fmla="val 2083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54846" y="1828800"/>
            <a:ext cx="2548890" cy="9144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92006" y="2212848"/>
            <a:ext cx="227457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$75/hr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192006" y="3127248"/>
            <a:ext cx="227457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loaded cost per FTE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92006" y="3547872"/>
            <a:ext cx="227457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roughly $150K per year each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5216" y="4434840"/>
            <a:ext cx="11018520" cy="54864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Method  </a:t>
            </a: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ranges use the playbook value formulas for productivity, revenue, risk, funding, and monetization.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" y="5093208"/>
            <a:ext cx="11018520" cy="54864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50932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Caveat  </a:t>
            </a: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figure is a hypothesis to validate against your actual baseline, volumes, and rates; ranges are illustrative and not additive across scenarios.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Eight decision scenarios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3504" y="3611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19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 ·  Payments  ·  Fraud  ·  AML  ·  Disputes  ·  Treasury  ·  Credit  ·  Embedded experiences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3504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AEC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scenario runs as a framing slide followed by a live-demo slide.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A1  Digital Funnel Performance: the situation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 of Digital, Growth, or Customer Analytics; retail and digital banking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account-opening conversion and act on customer intent while it is still current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Onboarding, digital usage, and relationship data sit in separate systems; teams wait for monthly reports and cannot connect relationships to live behavior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governed questions across journey events, review paths, authenticated behavior, and relationships; natural language to SQL with Domain context returning summary, data, and charts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the team isolates a relationship-aware conversion cohort in one working session instead of waiting for the next monthly report; critical date set with your team in discovery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A1  Digital Funnel Performance: 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115568"/>
            <a:ext cx="11018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teams wait for monthly reports and cannot connect customer relationships to current behavior. We isolate one conversion issue, then identify the affected cohort.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the account-opening funnel by step and channel for the last 30 days, including completion and abandonment rates.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0" y="1737360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funnel by web and mobile with the largest abandonment step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" y="2852928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completion rate and median time to open for manual review versus straight-through applications.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852928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path converts slower, without claiming causation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" y="3968496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014216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logged-in customers viewed mortgage pages at least twice this month, and what existing relationships do they have?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3968496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authorized cohort with page activity, product relationships, and last activity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" y="5230368"/>
            <a:ext cx="11018520" cy="98755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moved from aggregate friction to a specific, relationship-aware cohort using current data.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687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intent.   </a:t>
            </a: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against question-to-answer cycle time, completion and abandonment rate, and relationship depth. Treat conversion uplift as a hypothesis.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B5D64-9D65-0519-EE78-46782437E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26C8A7-690C-5B13-4385-31A763CC79C8}"/>
              </a:ext>
            </a:extLst>
          </p:cNvPr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A1  Digital Funnel Performance: the situation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31E75C3-1B5D-AB79-2D51-B7D76C60E4DF}"/>
              </a:ext>
            </a:extLst>
          </p:cNvPr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4ECA44-4029-1C2E-AB20-2CAB6DA787FA}"/>
              </a:ext>
            </a:extLst>
          </p:cNvPr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D4FE1C-1BC9-358C-09F6-2DBBEA4CD5A9}"/>
              </a:ext>
            </a:extLst>
          </p:cNvPr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 of Digital, Growth, or Customer Analytics; retail and digital banking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D51ADF-9277-46FC-1A5C-8D7FB7B19641}"/>
              </a:ext>
            </a:extLst>
          </p:cNvPr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A3D685-CB1F-ED4E-440F-9088290A01FD}"/>
              </a:ext>
            </a:extLst>
          </p:cNvPr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account-opening conversion and act on customer intent while it is still current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8DD3D0-61C8-43B6-F7FC-07858FC24859}"/>
              </a:ext>
            </a:extLst>
          </p:cNvPr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191ECA-5FD9-699D-9CC2-7C1995356A52}"/>
              </a:ext>
            </a:extLst>
          </p:cNvPr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Onboarding, digital usage, and relationship data sit in separate systems; teams wait for monthly reports and cannot connect relationships to live behavior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2A9D56B-D18D-3416-3596-EBE31520CB40}"/>
              </a:ext>
            </a:extLst>
          </p:cNvPr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17075A-B582-95B8-EA98-DE3C187D59B1}"/>
              </a:ext>
            </a:extLst>
          </p:cNvPr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governed questions across journey events, review paths, authenticated behavior, and relationships; natural language to SQL with Domain context returning summary, data, and charts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06F68E-59B2-3E37-044C-157367888FD5}"/>
              </a:ext>
            </a:extLst>
          </p:cNvPr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45E357E-2D3F-1530-1930-687BE8835145}"/>
              </a:ext>
            </a:extLst>
          </p:cNvPr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the team isolates a relationship-aware conversion cohort in one working session instead of waiting for the next monthly report; critical date set with your team in discovery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358DC56-2101-3B3B-6861-7E8994A61FE7}"/>
              </a:ext>
            </a:extLst>
          </p:cNvPr>
          <p:cNvSpPr/>
          <p:nvPr/>
        </p:nvSpPr>
        <p:spPr>
          <a:xfrm>
            <a:off x="585216" y="55275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1E68598-4F67-CDCC-58DA-409DE417A198}"/>
              </a:ext>
            </a:extLst>
          </p:cNvPr>
          <p:cNvSpPr/>
          <p:nvPr/>
        </p:nvSpPr>
        <p:spPr>
          <a:xfrm>
            <a:off x="3401568" y="552754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Onboarding completion +2 to 5 pts (~$2.4M to $6.1M/yr new-account contribution); reporting effort down 25 to 40% (~$40K to $70K/yr); question-to-answer from days to minutes (validate vs. baseline)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36550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A2  Payment Performance Management: the situation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 of Payments, Payment Operations, or Merchant Success; payments and card issuing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 authorization rate, revenue, and customer experience as approval, latency, and decline mix shift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economics move before batch reporting exposes them; processor and rail blind spots let declines and latency surface too 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authorization performance across processor, rail, merchant, region, and decline reason; natural-language analysis, generated SQL, execution, tables, and charts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ops narrows a portfolio-level approval dip to the specific processor, rail, and merchant pattern within the same window; critical date set with your team in discovery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A2  Payment Performance Management: 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115568"/>
            <a:ext cx="11018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economics move before monthly summaries do. We find where authorization performance changed and narrow it to an operational segment.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authorization rate, p95 latency, and decline volume by hour for the last 24 hours.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0" y="1737360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time series with an identifiable change window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" y="2852928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During the weakest authorization window, rank processors and rails by approval-rate change versus the prior seven-day baseline.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852928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ranked comparison with counts and rates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" y="3968496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014216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the largest change, break declines down by merchant category and response code.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3968496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concentrated decline mix ready for operations follow-up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" y="5230368"/>
            <a:ext cx="11018520" cy="98755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team moves from a portfolio signal to the processor, rail, and merchant pattern that deserves investigation.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687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Protect approvals.   </a:t>
            </a: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against approval rate, p95 latency, processor SLA, and revenue at risk. Any approval improvement is a hypothesis.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F4FF-EEC1-AF8F-D4CA-5A9CE735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4D8549-0B3B-C5F2-4F92-A9AF195A8FDA}"/>
              </a:ext>
            </a:extLst>
          </p:cNvPr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A2  Payment Performance Management: the situation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A3684F-2E39-8339-6DF8-5467FF016B5C}"/>
              </a:ext>
            </a:extLst>
          </p:cNvPr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6F5DC8-F167-B49E-F82F-C93C07154E1D}"/>
              </a:ext>
            </a:extLst>
          </p:cNvPr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657443-BEBA-B9E9-C044-AA96FE20C0F9}"/>
              </a:ext>
            </a:extLst>
          </p:cNvPr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 of Payments, Payment Operations, or Merchant Success; payments and card issuing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1C7E37-B587-87E9-BA00-C08CDFFE0918}"/>
              </a:ext>
            </a:extLst>
          </p:cNvPr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F6C84D0-B857-589B-C088-25E96FED14E6}"/>
              </a:ext>
            </a:extLst>
          </p:cNvPr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 authorization rate, revenue, and customer experience as approval, latency, and decline mix shift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52FA17-7BE0-1DF6-DC94-C23D69525722}"/>
              </a:ext>
            </a:extLst>
          </p:cNvPr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1F89957-DB51-105A-0E7D-1A573A8B02DB}"/>
              </a:ext>
            </a:extLst>
          </p:cNvPr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economics move before batch reporting exposes them; processor and rail blind spots let declines and latency surface too late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1FEA90D-9447-CCA7-6E95-0B70AC69B2FC}"/>
              </a:ext>
            </a:extLst>
          </p:cNvPr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6D780E-B151-F7FE-92C9-B51003C1833F}"/>
              </a:ext>
            </a:extLst>
          </p:cNvPr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authorization performance across processor, rail, merchant, region, and decline reason; natural-language analysis, generated SQL, execution, tables, and charts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064F9F-CB66-B2FD-F99E-64E39B9CA30B}"/>
              </a:ext>
            </a:extLst>
          </p:cNvPr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4D82D8-4110-1D2B-E437-F8DAC6E25709}"/>
              </a:ext>
            </a:extLst>
          </p:cNvPr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ops narrows a portfolio-level approval dip to the specific processor, rail, and merchant pattern within the same window; critical date set with your team in discovery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19CA5F-067E-FFE2-FF88-01D6EF16EA44}"/>
              </a:ext>
            </a:extLst>
          </p:cNvPr>
          <p:cNvSpPr/>
          <p:nvPr/>
        </p:nvSpPr>
        <p:spPr>
          <a:xfrm>
            <a:off x="585216" y="55275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BA551EC-3DF3-2215-5459-A3C67B78D597}"/>
              </a:ext>
            </a:extLst>
          </p:cNvPr>
          <p:cNvSpPr/>
          <p:nvPr/>
        </p:nvSpPr>
        <p:spPr>
          <a:xfrm>
            <a:off x="3401568" y="552754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Authorization rate +0.5 to 1.5 pts (~$45M to $135M recovered volume, ~$0.5M to $2.7M net revenue/yr); investigation time down 30 to 50% (validate vs. baseline)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0615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A3  Fraud Strategy Optimization: the situation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leader, Risk Operations, or Fraud Analyst; financial services and fintech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fraud loss and false positives by investigating where loss actually concentrates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Loss is reported by type, while investigators need channel, merchant, device, account-age, and velocity context that lives in separate evidence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from loss concentration to an evidence-rich segment for human investigation; Domain-grounded natural-language analysis, SQL execution, summary, chart, and data output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an investigator receives an assembled, evidence-rich segment ready for review instead of building it by hand; critical date set with your team in discovery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A3  Fraud Strategy Optimization: 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115568"/>
            <a:ext cx="11018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reporting says what type of loss occurred. Investigators need to know where it concentrates and which evidence explains the pattern.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confirmed fraud loss and false-positive rate by channel and fraud type for the last 30 days.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0" y="1737360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channel-by-type view with one concentrated loss segment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" y="2852928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the highest-loss segment, compare merchant, device reuse, account age, and 24-hour transaction velocity.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852928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Ranked dimensions revealing a suspicious concentration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" y="3968496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014216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the cases in that segment with transaction IDs, loss, device count, account age, and velocity for investigator review.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3968496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review queue; no transaction is blocked or changed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" y="5230368"/>
            <a:ext cx="11018520" cy="98755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Aura assembled the segment and the evidence. A fraud professional decides what to investigate and what action is appropriate.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687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Trace loss.   </a:t>
            </a: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against fraud loss, false-positive rate, and time to isolate a pattern. Loss reduction remains a hypothesis.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C2543-57B8-D257-B2FC-476ED909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377E54-8016-9059-B791-F0A415A4FF2F}"/>
              </a:ext>
            </a:extLst>
          </p:cNvPr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A3  Fraud Strategy Optimization: the situation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C34AB1A-FFC0-52B5-320F-452549C5CDDD}"/>
              </a:ext>
            </a:extLst>
          </p:cNvPr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9F1278-8958-AE70-50FA-37D95B8263E8}"/>
              </a:ext>
            </a:extLst>
          </p:cNvPr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F61B20-737B-E9FF-3E1F-DBEDC760290B}"/>
              </a:ext>
            </a:extLst>
          </p:cNvPr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leader, Risk Operations, or Fraud Analyst; financial services and fintech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05C90C-A610-C7CF-B63E-F6516CAD8280}"/>
              </a:ext>
            </a:extLst>
          </p:cNvPr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61F3F47-080E-C0F9-2460-9273160C68D0}"/>
              </a:ext>
            </a:extLst>
          </p:cNvPr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fraud loss and false positives by investigating where loss actually concentrates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33C239A-6400-A738-1D9B-E5780E904629}"/>
              </a:ext>
            </a:extLst>
          </p:cNvPr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C31629D-7A2A-6AC9-3151-A3A4AB697B1E}"/>
              </a:ext>
            </a:extLst>
          </p:cNvPr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Loss is reported by type, while investigators need channel, merchant, device, account-age, and velocity context that lives in separate evidence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C867295-44DD-51DB-6D87-3D10B97C81D1}"/>
              </a:ext>
            </a:extLst>
          </p:cNvPr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1E9DEDA-31D7-4670-3C60-0D862A101B09}"/>
              </a:ext>
            </a:extLst>
          </p:cNvPr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from loss concentration to an evidence-rich segment for human investigation; Domain-grounded natural-language analysis, SQL execution, summary, chart, and data output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8F88B01-B12F-F417-6307-C9CB69076EFA}"/>
              </a:ext>
            </a:extLst>
          </p:cNvPr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77C1E31-CB60-6552-1044-179895F68C9D}"/>
              </a:ext>
            </a:extLst>
          </p:cNvPr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an investigator receives an assembled, evidence-rich segment ready for review instead of building it by hand; critical date set with your team in discovery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E4C5C5F-DCE3-AF7D-BCC0-EE08DE748FC8}"/>
              </a:ext>
            </a:extLst>
          </p:cNvPr>
          <p:cNvSpPr/>
          <p:nvPr/>
        </p:nvSpPr>
        <p:spPr>
          <a:xfrm>
            <a:off x="585216" y="55275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D747FC6-8BFC-6704-D314-A45780036CF8}"/>
              </a:ext>
            </a:extLst>
          </p:cNvPr>
          <p:cNvSpPr/>
          <p:nvPr/>
        </p:nvSpPr>
        <p:spPr>
          <a:xfrm>
            <a:off x="3401568" y="552754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loss down 5 to 15% (~$0.3M to $0.9M/yr); investigation effort down 30 to 50% (~$0.3M to $0.6M/yr); time to isolate a pattern from days to hours (validate vs. baseline)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79989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A4  Financial Crime Operations: the situation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AML Operations, Compliance, or Financial Crime; banking and fintech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the AML alert backlog by cutting the time reviewers spend assembling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Reviewers manually gather transactions, entities, counterparties, and prior activity before they can assess an alert, so backlog and alert age grow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an alert cohort and assemble relevant evidence for human review; natural-language query planning, SQL execution, Domain context, summaries, data, and charts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a reviewer opens an alert with linked transactions, entities, and prior outcomes already assembled; critical date set with your team in discovery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A4  Financial Crime Operations: 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115568"/>
            <a:ext cx="11018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goal is not to let software make a compliance decision. It is to reduce the time reviewers spend finding the evidence needed for one.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open AML alerts by age, rule, risk band, and assigned queue.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0" y="1737360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backlog view with an aging or high-volume cohort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" y="2852928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alerts older than seven days in the selected cohort, summarize transaction value, counterparties, geographies, and prior related alerts.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852928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comparative evidence table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" y="3968496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 w="12700">
            <a:solidFill>
              <a:srgbClr val="D9D2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014216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IN-APP   </a:t>
            </a: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one alert to see linked transactions, entities, counterparties, and previous case outcomes.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968496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consolidated case layout; this view is custom application UI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" y="5230368"/>
            <a:ext cx="11018520" cy="98755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reviewer starts with assembled evidence and keeps responsibility for disposition, escalation, and documentation.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687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Faster evidence.   </a:t>
            </a: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against investigation time, alert backlog, and evidence-gathering steps. Any improvement is a hypothesis until tested.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AE1E2-1180-6A3B-2232-99C60BA83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B62B26-08FD-4AC2-EADE-60C9EF2B21EB}"/>
              </a:ext>
            </a:extLst>
          </p:cNvPr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A4  Financial Crime Operations: the situation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112B2F-E91F-8B6B-0AA4-C527F90CFCE8}"/>
              </a:ext>
            </a:extLst>
          </p:cNvPr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D0D62A-09AC-5600-9613-69B925983274}"/>
              </a:ext>
            </a:extLst>
          </p:cNvPr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FFA4E0-DA50-832E-CEF6-53C9D2E85D60}"/>
              </a:ext>
            </a:extLst>
          </p:cNvPr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AML Operations, Compliance, or Financial Crime; banking and fintech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E3D518-74B3-64D2-C652-961644349498}"/>
              </a:ext>
            </a:extLst>
          </p:cNvPr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B51447-3B61-17D6-9C50-1BC88F0CB016}"/>
              </a:ext>
            </a:extLst>
          </p:cNvPr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the AML alert backlog by cutting the time reviewers spend assembling evidence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DA1B72C-FB3C-03E4-C7A4-D285E648109B}"/>
              </a:ext>
            </a:extLst>
          </p:cNvPr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54BF745-6247-FCB2-540E-2274E0B85BDE}"/>
              </a:ext>
            </a:extLst>
          </p:cNvPr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Reviewers manually gather transactions, entities, counterparties, and prior activity before they can assess an alert, so backlog and alert age grow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DAD7854-C9EF-D2BC-122A-A0CDC1A4BCB0}"/>
              </a:ext>
            </a:extLst>
          </p:cNvPr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3C23790-3B63-76EC-D439-4F96CBBCC78D}"/>
              </a:ext>
            </a:extLst>
          </p:cNvPr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an alert cohort and assemble relevant evidence for human review; natural-language query planning, SQL execution, Domain context, summaries, data, and charts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D963B0F-BC1C-1282-78C0-B1357E083B87}"/>
              </a:ext>
            </a:extLst>
          </p:cNvPr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18A2EC6-890A-9D81-4109-B046E422D0BC}"/>
              </a:ext>
            </a:extLst>
          </p:cNvPr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a reviewer opens an alert with linked transactions, entities, and prior outcomes already assembled; critical date set with your team in discovery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6D2ABCD-A661-804A-3300-FF0A9CAD4671}"/>
              </a:ext>
            </a:extLst>
          </p:cNvPr>
          <p:cNvSpPr/>
          <p:nvPr/>
        </p:nvSpPr>
        <p:spPr>
          <a:xfrm>
            <a:off x="585216" y="55275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7E8B36E-1B85-FCB7-BDAC-3EF06D04EE75}"/>
              </a:ext>
            </a:extLst>
          </p:cNvPr>
          <p:cNvSpPr/>
          <p:nvPr/>
        </p:nvSpPr>
        <p:spPr>
          <a:xfrm>
            <a:off x="3401568" y="552754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Evidence-gathering time down 40 to 60%; reviewer capacity up 20 to 35% (~4 to 6 FTE reallocated, ~$0.6M to $0.9M/yr); alert backlog and age reduced (validate vs. baseline)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22484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A5  Dispute Operations Performance: the situation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Disputes leader, Service Operations, or Customer Care; card and payments servicing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Meet dispute SLAs and protect retention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Queue drivers and customer timelines are split across case, transaction, and contact systems, so teams miss SLAs and reconstruct context by hand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breach risk, explain the queue driver, and show one joined timeline; natural-language analysis, execution, summary, data, and visualization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an agent opens one joined dispute timeline instead of stitching together three systems; critical date set with your team in discovery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A5  Dispute Operations Performance: 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115568"/>
            <a:ext cx="11018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queue total does not explain which disputes will breach or what an agent must reconstruct. We isolate the driver and open one complete timeline.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open disputes at risk of SLA breach in the next 24 hours by queue, reason, and age.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0" y="1737360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Ranked queues and a breach-risk count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" y="2852928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factors explain the largest at-risk queue compared with the prior 30 days?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852928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Changes in reason mix, volume, assignment, or handling 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" y="3968496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 w="12700">
            <a:solidFill>
              <a:srgbClr val="D9D2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014216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IN-APP   </a:t>
            </a: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one dispute timeline to see joined transaction, dispute, contact, credit, and status events.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968496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single timeline; the presentation is custom application UI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" y="5230368"/>
            <a:ext cx="11018520" cy="98755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Operations sees where to intervene, and the agent gets the context needed to resolve the individual case.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687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Resolve sooner.   </a:t>
            </a: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against handle time, SLA breaches, and contacts per dispute. Savings and retention effects require validation.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3A0D9-F10C-4EEF-FBBB-EE5EB190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5A16FA-B53E-3D2E-BC48-BF9B8C67438D}"/>
              </a:ext>
            </a:extLst>
          </p:cNvPr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A5  Dispute Operations Performance: the situation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A30C52-B820-981D-AA70-B8154159803A}"/>
              </a:ext>
            </a:extLst>
          </p:cNvPr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399ABC-1C03-ABDA-63F9-19B1922DB207}"/>
              </a:ext>
            </a:extLst>
          </p:cNvPr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57B2F5-35B3-E607-3169-F11DCB401A91}"/>
              </a:ext>
            </a:extLst>
          </p:cNvPr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Disputes leader, Service Operations, or Customer Care; card and payments servicing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9B0095-3E63-BCCA-0EB7-2106339F9315}"/>
              </a:ext>
            </a:extLst>
          </p:cNvPr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5707453-0DB7-B7E8-4FCE-DFC4587BFE98}"/>
              </a:ext>
            </a:extLst>
          </p:cNvPr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Meet dispute SLAs and protect retention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0B9D311-2341-3AC5-06B4-12606AFB4873}"/>
              </a:ext>
            </a:extLst>
          </p:cNvPr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A308E05-87FE-9D39-E482-AB8E63DF7779}"/>
              </a:ext>
            </a:extLst>
          </p:cNvPr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Queue drivers and customer timelines are split across case, transaction, and contact systems, so teams miss SLAs and reconstruct context by hand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A661A3-0D9A-C17E-E51A-A55493C87D9C}"/>
              </a:ext>
            </a:extLst>
          </p:cNvPr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D9CDAB0-56B9-E27F-FA8D-C93E1DC5FA7A}"/>
              </a:ext>
            </a:extLst>
          </p:cNvPr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breach risk, explain the queue driver, and show one joined timeline; natural-language analysis, execution, summary, data, and visualization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9B88787-50FB-E04F-889A-02A632A092C7}"/>
              </a:ext>
            </a:extLst>
          </p:cNvPr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A1D3D1D-0D1C-804F-8B27-DD84FAF12573}"/>
              </a:ext>
            </a:extLst>
          </p:cNvPr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an agent opens one joined dispute timeline instead of stitching together three systems; critical date set with your team in discovery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97B1650-94EA-DA67-D686-32BA56E8D9A7}"/>
              </a:ext>
            </a:extLst>
          </p:cNvPr>
          <p:cNvSpPr/>
          <p:nvPr/>
        </p:nvSpPr>
        <p:spPr>
          <a:xfrm>
            <a:off x="585216" y="55275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214D0A-6836-C4AC-1E8D-4CAE133BE746}"/>
              </a:ext>
            </a:extLst>
          </p:cNvPr>
          <p:cNvSpPr/>
          <p:nvPr/>
        </p:nvSpPr>
        <p:spPr>
          <a:xfrm>
            <a:off x="3401568" y="552754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time down 20 to 35% (~$0.75M to $1.3M/yr on ~150K disputes); SLA breaches down 15 to 30%; fewer contacts per dispute (validate vs. baseline)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50571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A6  Liquidity and Funding Management: the situation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Treasurer, Finance Operations, or Payments Treasury; banking and fintech treasury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liquidity and funding exposure while there is still time to 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Cash positions, settlement flows, queued payments, and forecasts diverge across separate reports, so variance surfaces only after reconciliation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 current positions and isolate the source of forecast variance or funding pressure; Domain-grounded questions, SQL execution, summary, table, and chart output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treasury sees position, variance, and the relevant payment queue before the next reconciliation cycle; critical date set with your team in discovery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A6  Liquidity and Funding Management: 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115568"/>
            <a:ext cx="11018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Treasury needs the difference between expected and current cash while there is still time to manage it. We locate one variance and its driver.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current cash position, expected settlements, queued payments, and available liquidity by entity and currency.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0" y="1737360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position view with one constrained entity or currency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" y="2852928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today's actual net flow with forecast and rank the drivers of the largest variance.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852928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variance chart and the settlement or payment contributors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" y="3968496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014216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queued payments fall inside the next funding window for that entity?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3968496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authorized payment list; no payment is released or stopped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" y="5230368"/>
            <a:ext cx="11018520" cy="98755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Treasury sees the position, the variance, and the relevant queue without waiting for the next reconciliation cycle.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687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liquidity.   </a:t>
            </a: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against forecast variance, queued value, and emergency funding cost. Cost and risk changes are hypotheses.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C387-0BB2-9532-BB93-3B0F985A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C61D2B-EBD8-AF2D-8833-FE6C0A4BECD6}"/>
              </a:ext>
            </a:extLst>
          </p:cNvPr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A6  Liquidity and Funding Management: the situation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3BA09C1-5FA8-9761-2147-3C8C09334024}"/>
              </a:ext>
            </a:extLst>
          </p:cNvPr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938EEA-6E49-966F-7438-727AEAFD2865}"/>
              </a:ext>
            </a:extLst>
          </p:cNvPr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EDBD47-CF8F-307D-E52B-7E2C2812A44D}"/>
              </a:ext>
            </a:extLst>
          </p:cNvPr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Treasurer, Finance Operations, or Payments Treasury; banking and fintech treasury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1E8E61-677F-7767-85D7-ABBE21EB992D}"/>
              </a:ext>
            </a:extLst>
          </p:cNvPr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3EAF3C7-59F7-61A3-7045-A7A5C24362B7}"/>
              </a:ext>
            </a:extLst>
          </p:cNvPr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liquidity and funding exposure while there is still time to act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2C883B5-31E5-983F-3943-59335F4B9B9A}"/>
              </a:ext>
            </a:extLst>
          </p:cNvPr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85FC1A9-8262-2D66-9C36-2BB663B369CA}"/>
              </a:ext>
            </a:extLst>
          </p:cNvPr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Cash positions, settlement flows, queued payments, and forecasts diverge across separate reports, so variance surfaces only after reconciliation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B28BF0-FB0F-64D2-93F8-AA0B7EBAC3F5}"/>
              </a:ext>
            </a:extLst>
          </p:cNvPr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3F0F332-AC8C-1713-8D59-A70B3C6EFD38}"/>
              </a:ext>
            </a:extLst>
          </p:cNvPr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 current positions and isolate the source of forecast variance or funding pressure; Domain-grounded questions, SQL execution, summary, table, and chart output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92D2F3-55A6-D2F5-D2D2-246F1DF9D3F5}"/>
              </a:ext>
            </a:extLst>
          </p:cNvPr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4C53D4-B7EB-5E3E-076E-A436AC1D74EB}"/>
              </a:ext>
            </a:extLst>
          </p:cNvPr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treasury sees position, variance, and the relevant payment queue before the next reconciliation cycle; critical date set with your team in discovery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C052FCB-8A14-0376-0EA3-027EEDBECD90}"/>
              </a:ext>
            </a:extLst>
          </p:cNvPr>
          <p:cNvSpPr/>
          <p:nvPr/>
        </p:nvSpPr>
        <p:spPr>
          <a:xfrm>
            <a:off x="585216" y="55275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9F385D6-4A8D-AA57-8622-8DD579488C0A}"/>
              </a:ext>
            </a:extLst>
          </p:cNvPr>
          <p:cNvSpPr/>
          <p:nvPr/>
        </p:nvSpPr>
        <p:spPr>
          <a:xfrm>
            <a:off x="3401568" y="552754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Emergency funding cost avoided ~$0.5M to $3.0M/yr; reconciliation and exception time down 30 to 50% (~$40K to $70K/yr); forecast variance narrowed (validate vs. baseline)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12112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A7  Credit and Exposure Management: the situation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Credit Operations, Lending Risk, or Portfolio Management; lending and credit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 applicant assessment and surface portfolio concentration without changing who decides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Applicant evidence and portfolio exposure are reviewed in separate tools, which slows assessment and masks concentration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Assemble application evidence and relate it to current portfolio concentration without making a credit decision; natural-language analysis, Domain context, SQL execution, summary, data, and chart output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a reviewer sees applicant evidence and portfolio concentration context together in one place; critical date set with your team in discovery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A7  Credit and Exposure Management: 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115568"/>
            <a:ext cx="11018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Credit teams need both applicant evidence and portfolio context. This scenario organizes those facts; it does not approve, decline, or price credit.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application volume, manual-review rate, and time to decision by product and channel for the last 30 days.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0" y="1737360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operational view with one review-heavy segment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" y="2852928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the submitted evidence, verification results, requested exposure, and missing items for this application.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852928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evidence summary with source fields and missing items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" y="3968496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014216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would the requested exposure compare with current concentration by industry, geography, and risk grade?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3968496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portfolio comparison, not a recommendation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" y="5230368"/>
            <a:ext cx="11018520" cy="98755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reviewer receives organized evidence and concentration context. Approved policy and accountable people govern the decision.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687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Context, not decision.   </a:t>
            </a: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against review time, manual-review rate, and missing-evidence rate. Do not attribute approval-rate changes to Aura without a controlled test.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102F-3BBB-500B-BB5A-3BE20BC8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BEB89C-69BB-752F-806E-E1079771F9FB}"/>
              </a:ext>
            </a:extLst>
          </p:cNvPr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A7  Credit and Exposure Management: the situation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BD63C33-DCC6-865C-6BCA-98430089E282}"/>
              </a:ext>
            </a:extLst>
          </p:cNvPr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5654AC-E184-97B9-2129-512CA856DF7A}"/>
              </a:ext>
            </a:extLst>
          </p:cNvPr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679743-4FC7-2BBF-E862-31FD61480144}"/>
              </a:ext>
            </a:extLst>
          </p:cNvPr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Credit Operations, Lending Risk, or Portfolio Management; lending and credit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16900FB-1648-B5D8-3FA3-5D3AC81B83B3}"/>
              </a:ext>
            </a:extLst>
          </p:cNvPr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9B6597-4D49-DA49-CE7E-63DBBFD373FE}"/>
              </a:ext>
            </a:extLst>
          </p:cNvPr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 applicant assessment and surface portfolio concentration without changing who decides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464047-EA7F-CB0D-946F-58A7F03ED836}"/>
              </a:ext>
            </a:extLst>
          </p:cNvPr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7426EB-20F4-C8F5-A4AC-C41686139A23}"/>
              </a:ext>
            </a:extLst>
          </p:cNvPr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Applicant evidence and portfolio exposure are reviewed in separate tools, which slows assessment and masks concentration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69C278-16B8-B0CA-4C15-371E1414A3CE}"/>
              </a:ext>
            </a:extLst>
          </p:cNvPr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D3441D3-7B2C-35A0-D106-3D2A0AF8227B}"/>
              </a:ext>
            </a:extLst>
          </p:cNvPr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Assemble application evidence and relate it to current portfolio concentration without making a credit decision; natural-language analysis, Domain context, SQL execution, summary, data, and chart output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31F01B5-7892-2A92-2B61-420597054351}"/>
              </a:ext>
            </a:extLst>
          </p:cNvPr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277459D-70D9-CE98-0047-C81B0B964E10}"/>
              </a:ext>
            </a:extLst>
          </p:cNvPr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a reviewer sees applicant evidence and portfolio concentration context together in one place; critical date set with your team in discovery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69EED6E-CBB4-BEED-60A1-6CD8C9FCFD85}"/>
              </a:ext>
            </a:extLst>
          </p:cNvPr>
          <p:cNvSpPr/>
          <p:nvPr/>
        </p:nvSpPr>
        <p:spPr>
          <a:xfrm>
            <a:off x="585216" y="55275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3603E10-3379-854B-5579-165D9B0A13DC}"/>
              </a:ext>
            </a:extLst>
          </p:cNvPr>
          <p:cNvSpPr/>
          <p:nvPr/>
        </p:nvSpPr>
        <p:spPr>
          <a:xfrm>
            <a:off x="3401568" y="552754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to decision down 25 to 40%; manual-review effort down (~2 to 4 FTE reallocated, ~$0.3M to $0.6M/yr); earlier concentration visibility lowers tail-risk exposure (validate vs. baseline)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5077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A8  Embedded Insights Strategy: the situation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Fintech Product, App Engineering, or Digital Experience; consumer fintech and digital banking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 engagement, retention, and premium adoption with an embedded analytics experience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want explanations grounded in their own activity, while product teams lack an embeddable experience with scoped context and would otherwise build the conversation layer themselves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 an interactive answer through /chat using a customer-scoped Domain and continued session context; SSE streaming, multi-turn sessions, Domain-scoped bearer key, and SQL, data, chart, and text responses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a customer gets a streamed, session-aware answer about their own money inside the app they already use; critical date set with your team in discovery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A8  Embedded Insights Strategy: 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115568"/>
            <a:ext cx="11018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premium analytics experience must explain the customer's own money in context and fit inside the app they already use.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 w="12700">
            <a:solidFill>
              <a:srgbClr val="D9D2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IN-APP   </a:t>
            </a: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in as the sample customer and open the embedded analyst panel to see customer-specific conversation starters.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1737360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panel shell is custom UI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" y="2852928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was my cash balance lower this month than last month?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852928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Streaming text and supporting data tied only to the customer's authorized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" y="3968496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014216"/>
            <a:ext cx="6537960" cy="9326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1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recurring categories contributed most, and what changed?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3968496"/>
            <a:ext cx="3922776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 </a:t>
            </a: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session-aware comparison without restating the period or customer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" y="5230368"/>
            <a:ext cx="11018520" cy="98755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native API supplies streamed, contextual analysis. The fintech owns the product experience, entitlement model, disclosures, and customer actions.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687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Embedded insight.   </a:t>
            </a: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against support deflection, engagement, premium-tier adoption, and API latency. Monetization deltas require customer testing.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1AB57-FEBD-1364-FBB9-2CF8A0BD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D5A615-284C-3760-2D30-325837EB4355}"/>
              </a:ext>
            </a:extLst>
          </p:cNvPr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A8  Embedded Insights Strategy: the situation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2749BA-C714-EE6F-7B25-F6B1861DE855}"/>
              </a:ext>
            </a:extLst>
          </p:cNvPr>
          <p:cNvSpPr/>
          <p:nvPr/>
        </p:nvSpPr>
        <p:spPr>
          <a:xfrm>
            <a:off x="603504" y="1152144"/>
            <a:ext cx="1463040" cy="54864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B9EE62-5CB5-8CA8-519B-A6E0983BECA4}"/>
              </a:ext>
            </a:extLst>
          </p:cNvPr>
          <p:cNvSpPr/>
          <p:nvPr/>
        </p:nvSpPr>
        <p:spPr>
          <a:xfrm>
            <a:off x="585216" y="16642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 / Industry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40AEA3-9EC3-0766-6464-49CD9AE06948}"/>
              </a:ext>
            </a:extLst>
          </p:cNvPr>
          <p:cNvSpPr/>
          <p:nvPr/>
        </p:nvSpPr>
        <p:spPr>
          <a:xfrm>
            <a:off x="3401568" y="166420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Fintech Product, App Engineering, or Digital Experience; consumer fintech and digital banking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FB75B46-E54A-E21A-20AB-2A1EFF9A777F}"/>
              </a:ext>
            </a:extLst>
          </p:cNvPr>
          <p:cNvSpPr/>
          <p:nvPr/>
        </p:nvSpPr>
        <p:spPr>
          <a:xfrm>
            <a:off x="585216" y="24368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699CBF-533E-72AC-E055-2AC75E0B48E5}"/>
              </a:ext>
            </a:extLst>
          </p:cNvPr>
          <p:cNvSpPr/>
          <p:nvPr/>
        </p:nvSpPr>
        <p:spPr>
          <a:xfrm>
            <a:off x="3401568" y="243687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 engagement, retention, and premium adoption with an embedded analytics experience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66BF72-32EC-F3C2-E22E-89A6A96DDCA2}"/>
              </a:ext>
            </a:extLst>
          </p:cNvPr>
          <p:cNvSpPr/>
          <p:nvPr/>
        </p:nvSpPr>
        <p:spPr>
          <a:xfrm>
            <a:off x="585216" y="32095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56321FA-E206-1026-23E3-65F21E558776}"/>
              </a:ext>
            </a:extLst>
          </p:cNvPr>
          <p:cNvSpPr/>
          <p:nvPr/>
        </p:nvSpPr>
        <p:spPr>
          <a:xfrm>
            <a:off x="3401568" y="3209544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want explanations grounded in their own activity, while product teams lack an embeddable experience with scoped context and would otherwise build the conversation layer themselves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5577BF6-8BB7-F8F7-1A8C-91D7F1AE718E}"/>
              </a:ext>
            </a:extLst>
          </p:cNvPr>
          <p:cNvSpPr/>
          <p:nvPr/>
        </p:nvSpPr>
        <p:spPr>
          <a:xfrm>
            <a:off x="585216" y="39822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4C03B6F-E434-D6A3-6CB1-E5ECEFCE5796}"/>
              </a:ext>
            </a:extLst>
          </p:cNvPr>
          <p:cNvSpPr/>
          <p:nvPr/>
        </p:nvSpPr>
        <p:spPr>
          <a:xfrm>
            <a:off x="3401568" y="3982212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 an interactive answer through /chat using a customer-scoped Domain and continued session context; SSE streaming, multi-turn sessions, Domain-scoped bearer key, and SQL, data, chart, and text responses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5EE3FF4-F9DC-A188-3B0C-FB2CB87E9B52}"/>
              </a:ext>
            </a:extLst>
          </p:cNvPr>
          <p:cNvSpPr/>
          <p:nvPr/>
        </p:nvSpPr>
        <p:spPr>
          <a:xfrm>
            <a:off x="585216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 / VRE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AFCDAF8-EACD-17C9-9C24-60C3958D6F44}"/>
              </a:ext>
            </a:extLst>
          </p:cNvPr>
          <p:cNvSpPr/>
          <p:nvPr/>
        </p:nvSpPr>
        <p:spPr>
          <a:xfrm>
            <a:off x="3401568" y="4754880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time a customer gets a streamed, session-aware answer about their own money inside the app they already use; critical date set with your team in discovery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84E2211-5DD6-002E-2546-11EDCEBC4FAB}"/>
              </a:ext>
            </a:extLst>
          </p:cNvPr>
          <p:cNvSpPr/>
          <p:nvPr/>
        </p:nvSpPr>
        <p:spPr>
          <a:xfrm>
            <a:off x="585216" y="55275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829C8ED-AE62-A426-2666-4670E5F50214}"/>
              </a:ext>
            </a:extLst>
          </p:cNvPr>
          <p:cNvSpPr/>
          <p:nvPr/>
        </p:nvSpPr>
        <p:spPr>
          <a:xfrm>
            <a:off x="3401568" y="552754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deflection ~$0.3M to $0.6M/yr on eligible contacts; premium-tier adoption +1 to 3 pts (~$0.6M to $1.8M/yr); higher engagement and retention (validate vs. baseline)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70683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Illustrative value summary across the eight scenarios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1417320"/>
          <a:ext cx="11018520" cy="402336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 Medium" pitchFamily="34" charset="0"/>
                          <a:ea typeface="Roboto Medium" pitchFamily="34" charset="-122"/>
                          <a:cs typeface="Roboto Medium" pitchFamily="34" charset="-120"/>
                        </a:rPr>
                        <a:t>Scenario</a:t>
                      </a:r>
                      <a:endParaRPr lang="en-US" sz="1200" dirty="0">
                        <a:latin typeface="Roboto Medium" charset="0"/>
                        <a:ea typeface="Roboto Medium" charset="0"/>
                        <a:cs typeface="Roboto Medium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0D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 Medium" pitchFamily="34" charset="0"/>
                          <a:ea typeface="Roboto Medium" pitchFamily="34" charset="-122"/>
                          <a:cs typeface="Roboto Medium" pitchFamily="34" charset="-120"/>
                        </a:rPr>
                        <a:t>Primary value lever</a:t>
                      </a:r>
                      <a:endParaRPr lang="en-US" sz="1200" dirty="0">
                        <a:latin typeface="Roboto Medium" charset="0"/>
                        <a:ea typeface="Roboto Medium" charset="0"/>
                        <a:cs typeface="Roboto Medium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0D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 Medium" pitchFamily="34" charset="0"/>
                          <a:ea typeface="Roboto Medium" pitchFamily="34" charset="-122"/>
                          <a:cs typeface="Roboto Medium" pitchFamily="34" charset="-120"/>
                        </a:rPr>
                        <a:t>Headline improvement</a:t>
                      </a:r>
                      <a:endParaRPr lang="en-US" sz="1200" dirty="0">
                        <a:latin typeface="Roboto Medium" charset="0"/>
                        <a:ea typeface="Roboto Medium" charset="0"/>
                        <a:cs typeface="Roboto Medium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0D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 Medium" pitchFamily="34" charset="0"/>
                          <a:ea typeface="Roboto Medium" pitchFamily="34" charset="-122"/>
                          <a:cs typeface="Roboto Medium" pitchFamily="34" charset="-120"/>
                        </a:rPr>
                        <a:t>Illustrative annual value</a:t>
                      </a:r>
                      <a:endParaRPr lang="en-US" sz="1200" dirty="0">
                        <a:latin typeface="Roboto Medium" charset="0"/>
                        <a:ea typeface="Roboto Medium" charset="0"/>
                        <a:cs typeface="Roboto Medium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0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A1 Digital Funnel Performance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New-account conversion and analyst time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+2 to 5 pts completion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20D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$2.4M to $6.1M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A2 Payment Performance Management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Authorization-rate recovery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+0.5 to 1.5 pts approval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20D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$0.5M to $2.7M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A3 Fraud Strategy Optimization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Fraud loss and investigation time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 to 15% loss reduction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20D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$0.6M to $1.5M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A4 Financial Crime Operations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AML reviewer productivity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40 to 60% less evidence time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20D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$0.6M to $0.9M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A5 Dispute Operations Performance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Handle time and SLA performance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 to 35% less handle time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20D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$0.75M to $1.3M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A6 Liquidity and Funding Management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Funding cost and reconciliation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funding + 30 to 50% recon time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20D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$0.5M to $3.1M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A7 Credit and Exposure Management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Review productivity and exposure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25 to 40% faster decision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20D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$0.3M to $0.6M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A8 Embedded Insights Strategy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Support deflection and monetization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9090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 to 20% deflection plus premium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20D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$0.9M to $2.4M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85216" y="5989320"/>
            <a:ext cx="11018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Illustrative hypotheses for the reference profile of about 5M customers and $8B annual payment volume. Figures are not additive; scenarios overlap in teams and volumes. Validate each against your baseline before committing.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stays with your team, and what Aura provides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600200"/>
            <a:ext cx="3502152" cy="3657600"/>
          </a:xfrm>
          <a:prstGeom prst="roundRect">
            <a:avLst>
              <a:gd name="adj" fmla="val 1175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85216" y="1600200"/>
            <a:ext cx="3502152" cy="64008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" y="160020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Native Aura and the API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423160"/>
            <a:ext cx="2953512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language to SQL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Planning and execution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 business context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Multi-turn sessions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/chat and /query responses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02152" cy="3657600"/>
          </a:xfrm>
          <a:prstGeom prst="roundRect">
            <a:avLst>
              <a:gd name="adj" fmla="val 1175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02152" cy="640080"/>
          </a:xfrm>
          <a:prstGeom prst="rect">
            <a:avLst/>
          </a:prstGeom>
          <a:solidFill>
            <a:srgbClr val="360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SingleStore foundation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423160"/>
            <a:ext cx="2953512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the generated SQL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Governed, inspectable data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Newly committed data is queryable in the next request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01584" y="1600200"/>
            <a:ext cx="3502152" cy="3657600"/>
          </a:xfrm>
          <a:prstGeom prst="roundRect">
            <a:avLst>
              <a:gd name="adj" fmla="val 1175"/>
            </a:avLst>
          </a:prstGeom>
          <a:solidFill>
            <a:srgbClr val="F2F2F2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502152" cy="640080"/>
          </a:xfrm>
          <a:prstGeom prst="rect">
            <a:avLst/>
          </a:prstGeom>
          <a:solidFill>
            <a:srgbClr val="52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0184" y="160020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Your application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75904" y="2423160"/>
            <a:ext cx="2953512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UI and saved cards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actions and scheduling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Entitlements and disclosures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Downstream orchestration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" y="5486400"/>
            <a:ext cx="110185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Regulated decisions stay with accountable people. Aura assembles analysis and evidence, and does not act on its own.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Trust by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645920"/>
            <a:ext cx="11018520" cy="9144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85216" y="1645920"/>
            <a:ext cx="128016" cy="91440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Domain context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Answers are grounded in a reviewed Domain, so business meaning comes before table names.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" y="2724912"/>
            <a:ext cx="11018520" cy="9144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5216" y="2724912"/>
            <a:ext cx="128016" cy="91440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Scoped access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0" y="2724912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follows configured roles and Domain scope; integration keys are Domain-scoped and held server-side.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" y="3803904"/>
            <a:ext cx="11018520" cy="9144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5216" y="3803904"/>
            <a:ext cx="128016" cy="91440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803904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Inspectable evidence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14800" y="3803904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Answers are inspectable through the generated SQL and the data the environment exposes.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" y="4882896"/>
            <a:ext cx="11018520" cy="9144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5216" y="4882896"/>
            <a:ext cx="128016" cy="91440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882896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Human ownership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4882896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 depends on your configuration, identity, policy, and deployment choices.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" y="5980176"/>
            <a:ext cx="11018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Aura Analyst is a Preview capability.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Where we go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3504" y="2103120"/>
            <a:ext cx="2651760" cy="2468880"/>
          </a:xfrm>
          <a:prstGeom prst="roundRect">
            <a:avLst>
              <a:gd name="adj" fmla="val 1852"/>
            </a:avLst>
          </a:prstGeom>
          <a:solidFill>
            <a:srgbClr val="1A1030"/>
          </a:solidFill>
          <a:ln w="12700">
            <a:solidFill>
              <a:srgbClr val="360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" y="2377440"/>
            <a:ext cx="502920" cy="502920"/>
          </a:xfrm>
          <a:prstGeom prst="ellipse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7824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199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Framing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77824" y="3520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D0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the priority scenario, primary persona, decision owner, and consequential question.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55264" y="2103120"/>
            <a:ext cx="3017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20D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57016" y="2103120"/>
            <a:ext cx="2651760" cy="2468880"/>
          </a:xfrm>
          <a:prstGeom prst="roundRect">
            <a:avLst>
              <a:gd name="adj" fmla="val 1852"/>
            </a:avLst>
          </a:prstGeom>
          <a:solidFill>
            <a:srgbClr val="1A1030"/>
          </a:solidFill>
          <a:ln w="12700">
            <a:solidFill>
              <a:srgbClr val="360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31336" y="2377440"/>
            <a:ext cx="502920" cy="502920"/>
          </a:xfrm>
          <a:prstGeom prst="ellipse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31336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31336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199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Value baseline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31336" y="3520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D0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the KPI and the owner who will validate value against your own baseline data.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08776" y="2103120"/>
            <a:ext cx="3017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20D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10528" y="2103120"/>
            <a:ext cx="2651760" cy="2468880"/>
          </a:xfrm>
          <a:prstGeom prst="roundRect">
            <a:avLst>
              <a:gd name="adj" fmla="val 1852"/>
            </a:avLst>
          </a:prstGeom>
          <a:solidFill>
            <a:srgbClr val="1A1030"/>
          </a:solidFill>
          <a:ln w="12700">
            <a:solidFill>
              <a:srgbClr val="360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84848" y="2377440"/>
            <a:ext cx="502920" cy="502920"/>
          </a:xfrm>
          <a:prstGeom prst="ellipse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8484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84848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199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Scoped validation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84848" y="3520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D0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Agree the Domain, data, access, API fit, and latency criteria for a scoped validation.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62288" y="2103120"/>
            <a:ext cx="3017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20D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64040" y="2103120"/>
            <a:ext cx="2651760" cy="2468880"/>
          </a:xfrm>
          <a:prstGeom prst="roundRect">
            <a:avLst>
              <a:gd name="adj" fmla="val 1852"/>
            </a:avLst>
          </a:prstGeom>
          <a:solidFill>
            <a:srgbClr val="1A1030"/>
          </a:solidFill>
          <a:ln w="12700">
            <a:solidFill>
              <a:srgbClr val="360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738360" y="2377440"/>
            <a:ext cx="502920" cy="502920"/>
          </a:xfrm>
          <a:prstGeom prst="ellipse">
            <a:avLst/>
          </a:prstGeom>
          <a:solidFill>
            <a:srgbClr val="820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3836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3836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199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Executive readout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738360" y="3520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D0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the next step: a value baseline, a data and Domain, or an API build session.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03504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19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Governed answers, at the speed of the decision.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4800</Words>
  <Application>Microsoft Macintosh PowerPoint</Application>
  <PresentationFormat>Custom</PresentationFormat>
  <Paragraphs>474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Consolas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Analyst for Fintech</dc:title>
  <dc:subject>PptxGenJS Presentation</dc:subject>
  <dc:creator>SingleStore</dc:creator>
  <cp:lastModifiedBy>Kevin Ng</cp:lastModifiedBy>
  <cp:revision>2</cp:revision>
  <dcterms:created xsi:type="dcterms:W3CDTF">2026-07-27T00:47:51Z</dcterms:created>
  <dcterms:modified xsi:type="dcterms:W3CDTF">2026-07-27T00:52:07Z</dcterms:modified>
</cp:coreProperties>
</file>