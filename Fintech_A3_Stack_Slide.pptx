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21"/>
  </p:notesMasterIdLst>
  <p:sldIdLst>
    <p:sldId id="256" r:id="rId13"/>
  </p:sldIdLst>
  <p:sldSz cx="12192000" cy="6858000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8"/>
    <p:restoredTop sz="94653"/>
  </p:normalViewPr>
  <p:slideViewPr>
    <p:cSldViewPr snapToGrid="0">
      <p:cViewPr varScale="1">
        <p:scale>
          <a:sx n="146" d="100"/>
          <a:sy n="146" d="100"/>
        </p:scale>
        <p:origin x="2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before the A3 demo as a discovery question. Ask: which of these does your team run today, and how old is the data by the time an investigator sees it? Let them correct the picture; it is a typical stack, not theirs. Then say: in the demo, one SQL statement does all six jobs on live data, and we will show you which part of the query does which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asic Content">
  <p:cSld name="Small Basic Conten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asic Content Dark">
  <p:cSld name="Small Basic Content_1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Line">
  <p:cSld name="Cover Lin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584647" y="2813447"/>
            <a:ext cx="55113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edium"/>
              <a:buNone/>
              <a:defRPr sz="4000" b="0" i="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62353" y="584201"/>
            <a:ext cx="4445000" cy="568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4"/>
          <p:cNvCxnSpPr/>
          <p:nvPr/>
        </p:nvCxnSpPr>
        <p:spPr>
          <a:xfrm>
            <a:off x="584646" y="5865891"/>
            <a:ext cx="55113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hoto">
  <p:cSld name="Cover Pho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459000" cy="68580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54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704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Medium"/>
              <a:buNone/>
              <a:defRPr sz="4000" b="0" i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584646" y="5865891"/>
            <a:ext cx="7041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Line">
  <p:cSld name="Section Break Lin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6501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584647" y="6425347"/>
            <a:ext cx="365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37;p6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2223" y="584200"/>
            <a:ext cx="3372401" cy="540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Photo">
  <p:cSld name="Section Break Photo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l="99420" b="12900"/>
          <a:stretch/>
        </p:blipFill>
        <p:spPr>
          <a:xfrm>
            <a:off x="-1" y="0"/>
            <a:ext cx="12192001" cy="627868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0" y="-13184"/>
            <a:ext cx="11778000" cy="62787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38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Alt">
  <p:cSld name="Section Break Alt">
    <p:bg>
      <p:bgPr>
        <a:solidFill>
          <a:schemeClr val="lt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84647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" name="Google Shape;49;p8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7230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 rot="10800000">
            <a:off x="584663" y="1104902"/>
            <a:ext cx="72306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584647" y="1397000"/>
            <a:ext cx="723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9"/>
          <p:cNvSpPr>
            <a:spLocks noGrp="1"/>
          </p:cNvSpPr>
          <p:nvPr>
            <p:ph type="pic" idx="2"/>
          </p:nvPr>
        </p:nvSpPr>
        <p:spPr>
          <a:xfrm>
            <a:off x="8404225" y="584200"/>
            <a:ext cx="3200400" cy="568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09">
          <p15:clr>
            <a:srgbClr val="FBAE40"/>
          </p15:clr>
        </p15:guide>
        <p15:guide id="2" pos="5294">
          <p15:clr>
            <a:srgbClr val="FBAE40"/>
          </p15:clr>
        </p15:guide>
        <p15:guide id="3" pos="492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Agenda_1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7230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0" name="Google Shape;60;p10"/>
          <p:cNvCxnSpPr/>
          <p:nvPr/>
        </p:nvCxnSpPr>
        <p:spPr>
          <a:xfrm rot="10800000">
            <a:off x="584663" y="1104902"/>
            <a:ext cx="72306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584647" y="1397000"/>
            <a:ext cx="723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8404225" y="584200"/>
            <a:ext cx="3200400" cy="568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64" name="Google Shape;6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09">
          <p15:clr>
            <a:srgbClr val="FBAE40"/>
          </p15:clr>
        </p15:guide>
        <p15:guide id="2" pos="5294">
          <p15:clr>
            <a:srgbClr val="FBAE40"/>
          </p15:clr>
        </p15:guide>
        <p15:guide id="3" pos="492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">
  <p:cSld name="Agenda Alt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84648" y="1397002"/>
            <a:ext cx="5221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6391274" y="1397002"/>
            <a:ext cx="5214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" name="Google Shape;69;p11"/>
          <p:cNvCxnSpPr/>
          <p:nvPr/>
        </p:nvCxnSpPr>
        <p:spPr>
          <a:xfrm>
            <a:off x="58499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11"/>
          <p:cNvCxnSpPr/>
          <p:nvPr/>
        </p:nvCxnSpPr>
        <p:spPr>
          <a:xfrm>
            <a:off x="639127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1" name="Google Shape;7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7">
          <p15:clr>
            <a:srgbClr val="FBAE40"/>
          </p15:clr>
        </p15:guide>
        <p15:guide id="3" pos="402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Dark">
  <p:cSld name="Agenda Alt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584648" y="1397002"/>
            <a:ext cx="5221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6391274" y="1397002"/>
            <a:ext cx="5214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8499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12"/>
          <p:cNvCxnSpPr/>
          <p:nvPr/>
        </p:nvCxnSpPr>
        <p:spPr>
          <a:xfrm>
            <a:off x="639127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8" name="Google Shape;7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7">
          <p15:clr>
            <a:srgbClr val="FBAE40"/>
          </p15:clr>
        </p15:guide>
        <p15:guide id="3" pos="402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">
  <p:cSld name="Basic Content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Dark">
  <p:cSld name="Basic Content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wo Columns">
  <p:cSld name="Basic Content - Two Columns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52155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2"/>
          </p:nvPr>
        </p:nvSpPr>
        <p:spPr>
          <a:xfrm>
            <a:off x="6392863" y="1397000"/>
            <a:ext cx="52119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wo Columns Dark">
  <p:cSld name="Basic Content - Two Columns_1"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52155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2"/>
          </p:nvPr>
        </p:nvSpPr>
        <p:spPr>
          <a:xfrm>
            <a:off x="6392863" y="1397000"/>
            <a:ext cx="52119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>
  <p:cSld name="Centered Title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Dark">
  <p:cSld name="Centered Title_1"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">
  <p:cSld name="Side 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Dark">
  <p:cSld name="Side Title_1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Content">
  <p:cSld name="Side Title Photo Conte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584646" y="2581315"/>
            <a:ext cx="521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586740" y="3479484"/>
            <a:ext cx="52155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2343">
          <p15:clr>
            <a:srgbClr val="FBAE40"/>
          </p15:clr>
        </p15:guide>
        <p15:guide id="6" orient="horz" pos="197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Content Dark">
  <p:cSld name="Side Title Photo Content_1">
    <p:bg>
      <p:bgPr>
        <a:solidFill>
          <a:schemeClr val="dk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584646" y="2581315"/>
            <a:ext cx="521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586740" y="3479484"/>
            <a:ext cx="52155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2343">
          <p15:clr>
            <a:srgbClr val="FBAE40"/>
          </p15:clr>
        </p15:guide>
        <p15:guide id="6" orient="horz" pos="197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Photo">
  <p:cSld name="Centered Title Photo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584647" y="642667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>
            <a:spLocks noGrp="1"/>
          </p:cNvSpPr>
          <p:nvPr>
            <p:ph type="pic" idx="2"/>
          </p:nvPr>
        </p:nvSpPr>
        <p:spPr>
          <a:xfrm>
            <a:off x="0" y="1397000"/>
            <a:ext cx="12192000" cy="5460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Photo Dark">
  <p:cSld name="Centered Title Photo_1">
    <p:bg>
      <p:bgPr>
        <a:solidFill>
          <a:schemeClr val="dk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584647" y="642667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>
            <a:spLocks noGrp="1"/>
          </p:cNvSpPr>
          <p:nvPr>
            <p:ph type="pic" idx="2"/>
          </p:nvPr>
        </p:nvSpPr>
        <p:spPr>
          <a:xfrm>
            <a:off x="0" y="1397000"/>
            <a:ext cx="12192000" cy="5460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Side Title Full Photo">
  <p:cSld name="Left Side Title Full Photo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>
            <a:spLocks noGrp="1"/>
          </p:cNvSpPr>
          <p:nvPr>
            <p:ph type="pic" idx="2"/>
          </p:nvPr>
        </p:nvSpPr>
        <p:spPr>
          <a:xfrm>
            <a:off x="0" y="567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-1" y="0"/>
            <a:ext cx="5807100" cy="6858000"/>
          </a:xfrm>
          <a:prstGeom prst="rect">
            <a:avLst/>
          </a:prstGeom>
          <a:gradFill>
            <a:gsLst>
              <a:gs pos="0">
                <a:srgbClr val="090909">
                  <a:alpha val="89804"/>
                </a:srgbClr>
              </a:gs>
              <a:gs pos="45000">
                <a:srgbClr val="090909">
                  <a:alpha val="60000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58520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Side Title Full Photo">
  <p:cSld name="Right Side Title Full Phot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gradFill>
            <a:gsLst>
              <a:gs pos="0">
                <a:srgbClr val="090909">
                  <a:alpha val="89804"/>
                </a:srgbClr>
              </a:gs>
              <a:gs pos="45000">
                <a:srgbClr val="090909">
                  <a:alpha val="60000"/>
                </a:srgbClr>
              </a:gs>
              <a:gs pos="100000">
                <a:srgbClr val="090909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58520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2 Photos">
  <p:cSld name="Centered Title 2 Photos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7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52134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>
            <a:spLocks noGrp="1"/>
          </p:cNvSpPr>
          <p:nvPr>
            <p:ph type="pic" idx="3"/>
          </p:nvPr>
        </p:nvSpPr>
        <p:spPr>
          <a:xfrm>
            <a:off x="6392862" y="1993900"/>
            <a:ext cx="52101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5" name="Google Shape;155;p27"/>
          <p:cNvSpPr txBox="1">
            <a:spLocks noGrp="1"/>
          </p:cNvSpPr>
          <p:nvPr>
            <p:ph type="body" idx="4"/>
          </p:nvPr>
        </p:nvSpPr>
        <p:spPr>
          <a:xfrm>
            <a:off x="6392862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2 Photos Dark">
  <p:cSld name="Centered Title 2 Photos_1"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8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52134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>
            <a:spLocks noGrp="1"/>
          </p:cNvSpPr>
          <p:nvPr>
            <p:ph type="pic" idx="3"/>
          </p:nvPr>
        </p:nvSpPr>
        <p:spPr>
          <a:xfrm>
            <a:off x="6392862" y="1993900"/>
            <a:ext cx="52101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3" name="Google Shape;163;p28"/>
          <p:cNvSpPr txBox="1">
            <a:spLocks noGrp="1"/>
          </p:cNvSpPr>
          <p:nvPr>
            <p:ph type="body" idx="4"/>
          </p:nvPr>
        </p:nvSpPr>
        <p:spPr>
          <a:xfrm>
            <a:off x="6392862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3 Photos">
  <p:cSld name="Centered Title 3 Photos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9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9" name="Google Shape;169;p29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>
            <a:spLocks noGrp="1"/>
          </p:cNvSpPr>
          <p:nvPr>
            <p:ph type="pic" idx="3"/>
          </p:nvPr>
        </p:nvSpPr>
        <p:spPr>
          <a:xfrm>
            <a:off x="4398033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1" name="Google Shape;171;p29"/>
          <p:cNvSpPr txBox="1">
            <a:spLocks noGrp="1"/>
          </p:cNvSpPr>
          <p:nvPr>
            <p:ph type="body" idx="4"/>
          </p:nvPr>
        </p:nvSpPr>
        <p:spPr>
          <a:xfrm>
            <a:off x="4398033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>
            <a:spLocks noGrp="1"/>
          </p:cNvSpPr>
          <p:nvPr>
            <p:ph type="pic" idx="5"/>
          </p:nvPr>
        </p:nvSpPr>
        <p:spPr>
          <a:xfrm>
            <a:off x="8211056" y="1993900"/>
            <a:ext cx="33936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3" name="Google Shape;173;p29"/>
          <p:cNvSpPr txBox="1">
            <a:spLocks noGrp="1"/>
          </p:cNvSpPr>
          <p:nvPr>
            <p:ph type="body" idx="6"/>
          </p:nvPr>
        </p:nvSpPr>
        <p:spPr>
          <a:xfrm>
            <a:off x="8211141" y="5395272"/>
            <a:ext cx="3392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37">
          <p15:clr>
            <a:srgbClr val="FBAE40"/>
          </p15:clr>
        </p15:guide>
        <p15:guide id="2" pos="5169">
          <p15:clr>
            <a:srgbClr val="FBAE40"/>
          </p15:clr>
        </p15:guide>
        <p15:guide id="3" pos="4907">
          <p15:clr>
            <a:srgbClr val="FBAE40"/>
          </p15:clr>
        </p15:guide>
        <p15:guide id="4" pos="2641">
          <p15:clr>
            <a:srgbClr val="FBAE40"/>
          </p15:clr>
        </p15:guide>
        <p15:guide id="5" pos="2772">
          <p15:clr>
            <a:srgbClr val="FBAE40"/>
          </p15:clr>
        </p15:guide>
        <p15:guide id="6" pos="250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3 Photos Dark">
  <p:cSld name="Centered Title 3 Photos_1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30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0"/>
          <p:cNvSpPr>
            <a:spLocks noGrp="1"/>
          </p:cNvSpPr>
          <p:nvPr>
            <p:ph type="pic" idx="3"/>
          </p:nvPr>
        </p:nvSpPr>
        <p:spPr>
          <a:xfrm>
            <a:off x="4398033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1" name="Google Shape;181;p30"/>
          <p:cNvSpPr txBox="1">
            <a:spLocks noGrp="1"/>
          </p:cNvSpPr>
          <p:nvPr>
            <p:ph type="body" idx="4"/>
          </p:nvPr>
        </p:nvSpPr>
        <p:spPr>
          <a:xfrm>
            <a:off x="4398033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0"/>
          <p:cNvSpPr>
            <a:spLocks noGrp="1"/>
          </p:cNvSpPr>
          <p:nvPr>
            <p:ph type="pic" idx="5"/>
          </p:nvPr>
        </p:nvSpPr>
        <p:spPr>
          <a:xfrm>
            <a:off x="8211056" y="1993900"/>
            <a:ext cx="33936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3" name="Google Shape;183;p30"/>
          <p:cNvSpPr txBox="1">
            <a:spLocks noGrp="1"/>
          </p:cNvSpPr>
          <p:nvPr>
            <p:ph type="body" idx="6"/>
          </p:nvPr>
        </p:nvSpPr>
        <p:spPr>
          <a:xfrm>
            <a:off x="8211141" y="5395272"/>
            <a:ext cx="3392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37">
          <p15:clr>
            <a:srgbClr val="FBAE40"/>
          </p15:clr>
        </p15:guide>
        <p15:guide id="2" pos="5169">
          <p15:clr>
            <a:srgbClr val="FBAE40"/>
          </p15:clr>
        </p15:guide>
        <p15:guide id="3" pos="4907">
          <p15:clr>
            <a:srgbClr val="FBAE40"/>
          </p15:clr>
        </p15:guide>
        <p15:guide id="4" pos="2641">
          <p15:clr>
            <a:srgbClr val="FBAE40"/>
          </p15:clr>
        </p15:guide>
        <p15:guide id="5" pos="2772">
          <p15:clr>
            <a:srgbClr val="FBAE40"/>
          </p15:clr>
        </p15:guide>
        <p15:guide id="6" pos="250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mmary">
  <p:cSld name="Customer Summary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8123238" y="0"/>
            <a:ext cx="4068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584646" y="1348303"/>
            <a:ext cx="720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edium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body" idx="1"/>
          </p:nvPr>
        </p:nvSpPr>
        <p:spPr>
          <a:xfrm>
            <a:off x="8696074" y="44642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2"/>
          </p:nvPr>
        </p:nvSpPr>
        <p:spPr>
          <a:xfrm>
            <a:off x="8696074" y="1191744"/>
            <a:ext cx="2908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1"/>
          <p:cNvSpPr txBox="1">
            <a:spLocks noGrp="1"/>
          </p:cNvSpPr>
          <p:nvPr>
            <p:ph type="body" idx="3"/>
          </p:nvPr>
        </p:nvSpPr>
        <p:spPr>
          <a:xfrm>
            <a:off x="8696074" y="186853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4"/>
          </p:nvPr>
        </p:nvSpPr>
        <p:spPr>
          <a:xfrm>
            <a:off x="8696074" y="2606289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>
            <a:spLocks noGrp="1"/>
          </p:cNvSpPr>
          <p:nvPr>
            <p:ph type="pic" idx="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1"/>
          <p:cNvSpPr txBox="1">
            <a:spLocks noGrp="1"/>
          </p:cNvSpPr>
          <p:nvPr>
            <p:ph type="body" idx="6"/>
          </p:nvPr>
        </p:nvSpPr>
        <p:spPr>
          <a:xfrm>
            <a:off x="8696074" y="3301453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7"/>
          </p:nvPr>
        </p:nvSpPr>
        <p:spPr>
          <a:xfrm>
            <a:off x="8696074" y="4045391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8"/>
          </p:nvPr>
        </p:nvSpPr>
        <p:spPr>
          <a:xfrm>
            <a:off x="582611" y="2450424"/>
            <a:ext cx="33111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9"/>
          </p:nvPr>
        </p:nvSpPr>
        <p:spPr>
          <a:xfrm>
            <a:off x="582611" y="4572000"/>
            <a:ext cx="33129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3"/>
          </p:nvPr>
        </p:nvSpPr>
        <p:spPr>
          <a:xfrm>
            <a:off x="4224728" y="2450424"/>
            <a:ext cx="33189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582613" y="2201565"/>
            <a:ext cx="79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582611" y="4322501"/>
            <a:ext cx="66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4228856" y="2201565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475">
          <p15:clr>
            <a:srgbClr val="FBAE40"/>
          </p15:clr>
        </p15:guide>
        <p15:guide id="3" pos="547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mmary Dark">
  <p:cSld name="Customer Summary_1">
    <p:bg>
      <p:bgPr>
        <a:solidFill>
          <a:schemeClr val="dk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/>
          <p:nvPr/>
        </p:nvSpPr>
        <p:spPr>
          <a:xfrm>
            <a:off x="8123238" y="0"/>
            <a:ext cx="4068900" cy="6858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584646" y="1348303"/>
            <a:ext cx="720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8696074" y="44642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2"/>
          <p:cNvSpPr txBox="1">
            <a:spLocks noGrp="1"/>
          </p:cNvSpPr>
          <p:nvPr>
            <p:ph type="body" idx="2"/>
          </p:nvPr>
        </p:nvSpPr>
        <p:spPr>
          <a:xfrm>
            <a:off x="8696074" y="1191744"/>
            <a:ext cx="2908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3"/>
          </p:nvPr>
        </p:nvSpPr>
        <p:spPr>
          <a:xfrm>
            <a:off x="8696074" y="186853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4"/>
          </p:nvPr>
        </p:nvSpPr>
        <p:spPr>
          <a:xfrm>
            <a:off x="8696074" y="2606289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32"/>
          <p:cNvSpPr>
            <a:spLocks noGrp="1"/>
          </p:cNvSpPr>
          <p:nvPr>
            <p:ph type="pic" idx="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2"/>
          <p:cNvSpPr txBox="1">
            <a:spLocks noGrp="1"/>
          </p:cNvSpPr>
          <p:nvPr>
            <p:ph type="body" idx="6"/>
          </p:nvPr>
        </p:nvSpPr>
        <p:spPr>
          <a:xfrm>
            <a:off x="8696074" y="3301453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7"/>
          </p:nvPr>
        </p:nvSpPr>
        <p:spPr>
          <a:xfrm>
            <a:off x="8696074" y="4045391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body" idx="8"/>
          </p:nvPr>
        </p:nvSpPr>
        <p:spPr>
          <a:xfrm>
            <a:off x="582611" y="2450424"/>
            <a:ext cx="33111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9"/>
          </p:nvPr>
        </p:nvSpPr>
        <p:spPr>
          <a:xfrm>
            <a:off x="582611" y="4572000"/>
            <a:ext cx="33129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3"/>
          </p:nvPr>
        </p:nvSpPr>
        <p:spPr>
          <a:xfrm>
            <a:off x="4224728" y="2450424"/>
            <a:ext cx="33189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582613" y="2201565"/>
            <a:ext cx="79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582611" y="4322501"/>
            <a:ext cx="66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228856" y="2201565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475">
          <p15:clr>
            <a:srgbClr val="FBAE40"/>
          </p15:clr>
        </p15:guide>
        <p15:guide id="3" pos="547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Impact">
  <p:cSld name="Customer Impact"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8218487" y="584200"/>
            <a:ext cx="3386100" cy="568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3"/>
          <p:cNvSpPr>
            <a:spLocks noGrp="1"/>
          </p:cNvSpPr>
          <p:nvPr>
            <p:ph type="pic" idx="2"/>
          </p:nvPr>
        </p:nvSpPr>
        <p:spPr>
          <a:xfrm>
            <a:off x="8218487" y="4051310"/>
            <a:ext cx="3386100" cy="22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582612" y="2450424"/>
            <a:ext cx="22587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3"/>
          </p:nvPr>
        </p:nvSpPr>
        <p:spPr>
          <a:xfrm>
            <a:off x="3058287" y="2450266"/>
            <a:ext cx="20664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body" idx="4"/>
          </p:nvPr>
        </p:nvSpPr>
        <p:spPr>
          <a:xfrm>
            <a:off x="5529834" y="2450266"/>
            <a:ext cx="22587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7" name="Google Shape;227;p33"/>
          <p:cNvCxnSpPr/>
          <p:nvPr/>
        </p:nvCxnSpPr>
        <p:spPr>
          <a:xfrm>
            <a:off x="5513388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33"/>
          <p:cNvSpPr txBox="1">
            <a:spLocks noGrp="1"/>
          </p:cNvSpPr>
          <p:nvPr>
            <p:ph type="body" idx="5"/>
          </p:nvPr>
        </p:nvSpPr>
        <p:spPr>
          <a:xfrm>
            <a:off x="779146" y="5464242"/>
            <a:ext cx="2066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6"/>
          </p:nvPr>
        </p:nvSpPr>
        <p:spPr>
          <a:xfrm>
            <a:off x="3254821" y="5464069"/>
            <a:ext cx="2061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body" idx="7"/>
          </p:nvPr>
        </p:nvSpPr>
        <p:spPr>
          <a:xfrm>
            <a:off x="5709922" y="5464069"/>
            <a:ext cx="2078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582613" y="2201565"/>
            <a:ext cx="68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3058287" y="2200767"/>
            <a:ext cx="57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5533961" y="2199969"/>
            <a:ext cx="62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8"/>
          </p:nvPr>
        </p:nvSpPr>
        <p:spPr>
          <a:xfrm>
            <a:off x="779146" y="5098094"/>
            <a:ext cx="20661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9"/>
          </p:nvPr>
        </p:nvSpPr>
        <p:spPr>
          <a:xfrm>
            <a:off x="3254821" y="5096260"/>
            <a:ext cx="20619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3"/>
          </p:nvPr>
        </p:nvSpPr>
        <p:spPr>
          <a:xfrm>
            <a:off x="5709922" y="5096260"/>
            <a:ext cx="20784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body" idx="14"/>
          </p:nvPr>
        </p:nvSpPr>
        <p:spPr>
          <a:xfrm>
            <a:off x="8490378" y="891977"/>
            <a:ext cx="2842500" cy="28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584647" y="1348303"/>
            <a:ext cx="720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edium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9" name="Google Shape;239;p33"/>
          <p:cNvCxnSpPr/>
          <p:nvPr/>
        </p:nvCxnSpPr>
        <p:spPr>
          <a:xfrm>
            <a:off x="3058287" y="5096258"/>
            <a:ext cx="0" cy="11745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0" name="Google Shape;240;p33"/>
          <p:cNvCxnSpPr/>
          <p:nvPr/>
        </p:nvCxnSpPr>
        <p:spPr>
          <a:xfrm>
            <a:off x="582612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33"/>
          <p:cNvSpPr>
            <a:spLocks noGrp="1"/>
          </p:cNvSpPr>
          <p:nvPr>
            <p:ph type="pic" idx="1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body" idx="16"/>
          </p:nvPr>
        </p:nvSpPr>
        <p:spPr>
          <a:xfrm>
            <a:off x="987552" y="64282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Impact Dark">
  <p:cSld name="Customer Impact_1">
    <p:bg>
      <p:bgPr>
        <a:solidFill>
          <a:schemeClr val="dk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/>
          <p:nvPr/>
        </p:nvSpPr>
        <p:spPr>
          <a:xfrm>
            <a:off x="8218487" y="584200"/>
            <a:ext cx="3386100" cy="5686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4"/>
          <p:cNvSpPr>
            <a:spLocks noGrp="1"/>
          </p:cNvSpPr>
          <p:nvPr>
            <p:ph type="pic" idx="2"/>
          </p:nvPr>
        </p:nvSpPr>
        <p:spPr>
          <a:xfrm>
            <a:off x="8218487" y="4051310"/>
            <a:ext cx="3386100" cy="22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8" name="Google Shape;248;p34"/>
          <p:cNvSpPr txBox="1">
            <a:spLocks noGrp="1"/>
          </p:cNvSpPr>
          <p:nvPr>
            <p:ph type="body" idx="1"/>
          </p:nvPr>
        </p:nvSpPr>
        <p:spPr>
          <a:xfrm>
            <a:off x="582612" y="2450424"/>
            <a:ext cx="22587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body" idx="3"/>
          </p:nvPr>
        </p:nvSpPr>
        <p:spPr>
          <a:xfrm>
            <a:off x="3058287" y="2450266"/>
            <a:ext cx="20664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body" idx="4"/>
          </p:nvPr>
        </p:nvSpPr>
        <p:spPr>
          <a:xfrm>
            <a:off x="5529834" y="2450266"/>
            <a:ext cx="22587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51" name="Google Shape;251;p34"/>
          <p:cNvCxnSpPr/>
          <p:nvPr/>
        </p:nvCxnSpPr>
        <p:spPr>
          <a:xfrm>
            <a:off x="5513388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34"/>
          <p:cNvSpPr txBox="1">
            <a:spLocks noGrp="1"/>
          </p:cNvSpPr>
          <p:nvPr>
            <p:ph type="body" idx="5"/>
          </p:nvPr>
        </p:nvSpPr>
        <p:spPr>
          <a:xfrm>
            <a:off x="779146" y="5464242"/>
            <a:ext cx="2066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type="body" idx="6"/>
          </p:nvPr>
        </p:nvSpPr>
        <p:spPr>
          <a:xfrm>
            <a:off x="3254821" y="5464069"/>
            <a:ext cx="2061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7"/>
          </p:nvPr>
        </p:nvSpPr>
        <p:spPr>
          <a:xfrm>
            <a:off x="5709922" y="5464069"/>
            <a:ext cx="2078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582613" y="2201565"/>
            <a:ext cx="68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3058287" y="2200767"/>
            <a:ext cx="57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5533961" y="2199969"/>
            <a:ext cx="62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8" name="Google Shape;258;p34"/>
          <p:cNvSpPr txBox="1">
            <a:spLocks noGrp="1"/>
          </p:cNvSpPr>
          <p:nvPr>
            <p:ph type="body" idx="8"/>
          </p:nvPr>
        </p:nvSpPr>
        <p:spPr>
          <a:xfrm>
            <a:off x="779146" y="5098094"/>
            <a:ext cx="20661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4"/>
          <p:cNvSpPr txBox="1">
            <a:spLocks noGrp="1"/>
          </p:cNvSpPr>
          <p:nvPr>
            <p:ph type="body" idx="9"/>
          </p:nvPr>
        </p:nvSpPr>
        <p:spPr>
          <a:xfrm>
            <a:off x="3254821" y="5096260"/>
            <a:ext cx="20619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body" idx="13"/>
          </p:nvPr>
        </p:nvSpPr>
        <p:spPr>
          <a:xfrm>
            <a:off x="5709922" y="5096260"/>
            <a:ext cx="20784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14"/>
          </p:nvPr>
        </p:nvSpPr>
        <p:spPr>
          <a:xfrm>
            <a:off x="8490378" y="891977"/>
            <a:ext cx="2842500" cy="28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584647" y="1348303"/>
            <a:ext cx="720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63" name="Google Shape;263;p34"/>
          <p:cNvCxnSpPr/>
          <p:nvPr/>
        </p:nvCxnSpPr>
        <p:spPr>
          <a:xfrm>
            <a:off x="3058287" y="5096258"/>
            <a:ext cx="0" cy="11745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4" name="Google Shape;264;p34"/>
          <p:cNvCxnSpPr/>
          <p:nvPr/>
        </p:nvCxnSpPr>
        <p:spPr>
          <a:xfrm>
            <a:off x="582612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p34"/>
          <p:cNvSpPr>
            <a:spLocks noGrp="1"/>
          </p:cNvSpPr>
          <p:nvPr>
            <p:ph type="pic" idx="1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6"/>
          </p:nvPr>
        </p:nvSpPr>
        <p:spPr>
          <a:xfrm>
            <a:off x="987552" y="64282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nly Light">
  <p:cSld name="Logo only Ligh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Blank Ligh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Photo">
  <p:cSld name="Thank you Photo">
    <p:bg>
      <p:bgPr>
        <a:solidFill>
          <a:schemeClr val="dk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7"/>
          <p:cNvPicPr preferRelativeResize="0"/>
          <p:nvPr/>
        </p:nvPicPr>
        <p:blipFill rotWithShape="1">
          <a:blip r:embed="rId2">
            <a:alphaModFix/>
          </a:blip>
          <a:srcRect l="99420" b="12900"/>
          <a:stretch/>
        </p:blipFill>
        <p:spPr>
          <a:xfrm>
            <a:off x="0" y="0"/>
            <a:ext cx="12192001" cy="627868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/>
          <p:nvPr/>
        </p:nvSpPr>
        <p:spPr>
          <a:xfrm>
            <a:off x="0" y="0"/>
            <a:ext cx="11778000" cy="68580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38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704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Medium"/>
              <a:buNone/>
              <a:defRPr sz="4000" b="0" i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Lines">
  <p:cSld name="Thank You Lines">
    <p:bg>
      <p:bgPr>
        <a:solidFill>
          <a:schemeClr val="lt1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669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edium"/>
              <a:buNone/>
              <a:defRPr sz="4000" b="0" i="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0" name="Google Shape;280;p38"/>
          <p:cNvPicPr preferRelativeResize="0"/>
          <p:nvPr/>
        </p:nvPicPr>
        <p:blipFill rotWithShape="1">
          <a:blip r:embed="rId2">
            <a:alphaModFix/>
          </a:blip>
          <a:srcRect r="63256"/>
          <a:stretch/>
        </p:blipFill>
        <p:spPr>
          <a:xfrm>
            <a:off x="10558697" y="584201"/>
            <a:ext cx="1633303" cy="568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olid">
  <p:cSld name="Cover Solid">
    <p:bg>
      <p:bgPr>
        <a:solidFill>
          <a:schemeClr val="dk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1102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Roboto Medium"/>
              <a:buNone/>
              <a:defRPr sz="40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84" name="Google Shape;284;p39"/>
          <p:cNvCxnSpPr/>
          <p:nvPr/>
        </p:nvCxnSpPr>
        <p:spPr>
          <a:xfrm>
            <a:off x="584646" y="5865891"/>
            <a:ext cx="110247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" name="Google Shape;285;p39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olid">
  <p:cSld name="Section Break Solid"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>
            <a:spLocks noGrp="1"/>
          </p:cNvSpPr>
          <p:nvPr>
            <p:ph type="title"/>
          </p:nvPr>
        </p:nvSpPr>
        <p:spPr>
          <a:xfrm>
            <a:off x="584652" y="2858325"/>
            <a:ext cx="1102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oboto Medium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" name="Google Shape;290;p40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1" name="Google Shape;29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olid Purple">
  <p:cSld name="Section Break Solid_1">
    <p:bg>
      <p:bgPr>
        <a:solidFill>
          <a:schemeClr val="dk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>
            <a:spLocks noGrp="1"/>
          </p:cNvSpPr>
          <p:nvPr>
            <p:ph type="title"/>
          </p:nvPr>
        </p:nvSpPr>
        <p:spPr>
          <a:xfrm>
            <a:off x="584652" y="2858325"/>
            <a:ext cx="1102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oboto Medium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41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6" name="Google Shape;29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Lines">
  <p:cSld name="Title Two Lines"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>
            <a:spLocks noGrp="1"/>
          </p:cNvSpPr>
          <p:nvPr>
            <p:ph type="body" idx="1"/>
          </p:nvPr>
        </p:nvSpPr>
        <p:spPr>
          <a:xfrm>
            <a:off x="586740" y="1993900"/>
            <a:ext cx="11018400" cy="4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42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1" name="Google Shape;30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Lines Dark">
  <p:cSld name="Title Two Lines_1"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>
            <a:spLocks noGrp="1"/>
          </p:cNvSpPr>
          <p:nvPr>
            <p:ph type="body" idx="1"/>
          </p:nvPr>
        </p:nvSpPr>
        <p:spPr>
          <a:xfrm>
            <a:off x="586740" y="1993900"/>
            <a:ext cx="11018400" cy="4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4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Title Only">
  <p:cSld name="Small Title Only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Title Only Dark">
  <p:cSld name="Small Title Only_1">
    <p:bg>
      <p:bgPr>
        <a:solidFill>
          <a:schemeClr val="dk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4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Dark">
  <p:cSld name="Title Only_1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4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hree Columns">
  <p:cSld name="Basic Content - Three Columns"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8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3383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8"/>
          <p:cNvSpPr txBox="1">
            <a:spLocks noGrp="1"/>
          </p:cNvSpPr>
          <p:nvPr>
            <p:ph type="body" idx="2"/>
          </p:nvPr>
        </p:nvSpPr>
        <p:spPr>
          <a:xfrm>
            <a:off x="4400550" y="1397000"/>
            <a:ext cx="3383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48"/>
          <p:cNvSpPr txBox="1">
            <a:spLocks noGrp="1"/>
          </p:cNvSpPr>
          <p:nvPr>
            <p:ph type="body" idx="3"/>
          </p:nvPr>
        </p:nvSpPr>
        <p:spPr>
          <a:xfrm>
            <a:off x="8221663" y="1397000"/>
            <a:ext cx="33831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9" name="Google Shape;32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44">
          <p15:clr>
            <a:srgbClr val="FBAE40"/>
          </p15:clr>
        </p15:guide>
        <p15:guide id="2" pos="5177">
          <p15:clr>
            <a:srgbClr val="FBAE40"/>
          </p15:clr>
        </p15:guide>
        <p15:guide id="3" pos="4907">
          <p15:clr>
            <a:srgbClr val="FBAE40"/>
          </p15:clr>
        </p15:guide>
        <p15:guide id="4" pos="2639">
          <p15:clr>
            <a:srgbClr val="FBAE40"/>
          </p15:clr>
        </p15:guide>
        <p15:guide id="5" pos="2769">
          <p15:clr>
            <a:srgbClr val="FBAE40"/>
          </p15:clr>
        </p15:guide>
        <p15:guide id="6" pos="2503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hree Columns Dark">
  <p:cSld name="Basic Content - Three Columns_1"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4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3383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2"/>
          </p:nvPr>
        </p:nvSpPr>
        <p:spPr>
          <a:xfrm>
            <a:off x="4400550" y="1397000"/>
            <a:ext cx="3383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body" idx="3"/>
          </p:nvPr>
        </p:nvSpPr>
        <p:spPr>
          <a:xfrm>
            <a:off x="8221663" y="1397000"/>
            <a:ext cx="33831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36" name="Google Shape;336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44">
          <p15:clr>
            <a:srgbClr val="FBAE40"/>
          </p15:clr>
        </p15:guide>
        <p15:guide id="2" pos="5177">
          <p15:clr>
            <a:srgbClr val="FBAE40"/>
          </p15:clr>
        </p15:guide>
        <p15:guide id="3" pos="4907">
          <p15:clr>
            <a:srgbClr val="FBAE40"/>
          </p15:clr>
        </p15:guide>
        <p15:guide id="4" pos="2639">
          <p15:clr>
            <a:srgbClr val="FBAE40"/>
          </p15:clr>
        </p15:guide>
        <p15:guide id="5" pos="2769">
          <p15:clr>
            <a:srgbClr val="FBAE40"/>
          </p15:clr>
        </p15:guide>
        <p15:guide id="6" pos="250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">
  <p:cSld name="Side Title Photo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>
            <a:spLocks noGrp="1"/>
          </p:cNvSpPr>
          <p:nvPr>
            <p:ph type="title"/>
          </p:nvPr>
        </p:nvSpPr>
        <p:spPr>
          <a:xfrm>
            <a:off x="584646" y="2581314"/>
            <a:ext cx="5212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Dark">
  <p:cSld name="Side Title Photo_1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1"/>
          <p:cNvSpPr txBox="1">
            <a:spLocks noGrp="1"/>
          </p:cNvSpPr>
          <p:nvPr>
            <p:ph type="title"/>
          </p:nvPr>
        </p:nvSpPr>
        <p:spPr>
          <a:xfrm>
            <a:off x="584646" y="2581314"/>
            <a:ext cx="5212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51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nly Dark">
  <p:cSld name="Logo only Dark">
    <p:bg>
      <p:bgPr>
        <a:solidFill>
          <a:schemeClr val="dk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olid">
  <p:cSld name="Thank You Solid">
    <p:bg>
      <p:bgPr>
        <a:solidFill>
          <a:schemeClr val="dk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829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Roboto Medium"/>
              <a:buNone/>
              <a:defRPr sz="40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3" name="Google Shape;35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 sz="36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67">
          <p15:clr>
            <a:srgbClr val="5ACBF0"/>
          </p15:clr>
        </p15:guide>
        <p15:guide id="2" orient="horz" pos="368">
          <p15:clr>
            <a:srgbClr val="5ACBF0"/>
          </p15:clr>
        </p15:guide>
        <p15:guide id="3" orient="horz" pos="3950">
          <p15:clr>
            <a:srgbClr val="5ACBF0"/>
          </p15:clr>
        </p15:guide>
        <p15:guide id="4" orient="horz" pos="4134">
          <p15:clr>
            <a:srgbClr val="5ACBF0"/>
          </p15:clr>
        </p15:guide>
        <p15:guide id="5" pos="7310">
          <p15:clr>
            <a:srgbClr val="5ACBF0"/>
          </p15:clr>
        </p15:guide>
        <p15:guide id="6" orient="horz" pos="880">
          <p15:clr>
            <a:srgbClr val="5ACBF0"/>
          </p15:clr>
        </p15:guide>
        <p15:guide id="7" orient="horz" pos="1256">
          <p15:clr>
            <a:srgbClr val="5ACBF0"/>
          </p15:clr>
        </p15:guide>
        <p15:guide id="8" pos="2559">
          <p15:clr>
            <a:srgbClr val="A4A3A4"/>
          </p15:clr>
        </p15:guide>
        <p15:guide id="9" pos="5117">
          <p15:clr>
            <a:srgbClr val="A4A3A4"/>
          </p15:clr>
        </p15:guide>
        <p15:guide id="10" orient="horz" pos="1440">
          <p15:clr>
            <a:srgbClr val="A4A3A4"/>
          </p15:clr>
        </p15:guide>
        <p15:guide id="11" orient="horz" pos="288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Fraud evidence usually lives in six systems. Here it is one query.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463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A TYPICAL FRAUD STACK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55648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0136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Case-management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3911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Cases, outcomes, and investigator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2359152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0487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Document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4261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Alert details and the reasons each alert fired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2962656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0837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Vector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4612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Search for similar past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566160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611879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Time-series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84962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Velocity: how many attempts per device or card, minute by minute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169664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1538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Data 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45312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Loss and false-positive reports, loaded overnight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4773168"/>
            <a:ext cx="54864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81888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Pipelines between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05663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Copies that run hourly or nightly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4630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THE SAME WORK IN ONE SINGLESTORE QUERY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755648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80136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3AED"/>
                </a:solidFill>
                <a:latin typeface="Roboto Medium"/>
                <a:ea typeface="Roboto Medium"/>
                <a:cs typeface="Roboto Medium"/>
              </a:rPr>
              <a:t>Vector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03911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a vector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359152"/>
            <a:ext cx="91440" cy="5303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40487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Roboto Medium"/>
                <a:ea typeface="Roboto Medium"/>
                <a:cs typeface="Roboto Medium"/>
              </a:rPr>
              <a:t>JSON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64261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a document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962656"/>
            <a:ext cx="91440" cy="5303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0083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E7490"/>
                </a:solidFill>
                <a:latin typeface="Roboto Medium"/>
                <a:ea typeface="Roboto Medium"/>
                <a:cs typeface="Roboto Medium"/>
              </a:rPr>
              <a:t>Time series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4612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a time-series 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3566160"/>
            <a:ext cx="9144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3611879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D4ED8"/>
                </a:solidFill>
                <a:latin typeface="Roboto Medium"/>
                <a:ea typeface="Roboto Medium"/>
                <a:cs typeface="Roboto Medium"/>
              </a:rPr>
              <a:t>Relational joins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4962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an operational database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169664"/>
            <a:ext cx="91440" cy="5303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21538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47857"/>
                </a:solidFill>
                <a:latin typeface="Roboto Medium"/>
                <a:ea typeface="Roboto Medium"/>
                <a:cs typeface="Roboto Medium"/>
              </a:rPr>
              <a:t>Aggregation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45312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a data warehouse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4773168"/>
            <a:ext cx="91440" cy="5303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481888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E123C"/>
                </a:solidFill>
                <a:latin typeface="Roboto Medium"/>
                <a:ea typeface="Roboto Medium"/>
                <a:cs typeface="Roboto Medium"/>
              </a:rPr>
              <a:t>Live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0566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instead of nightly copies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" y="5440680"/>
            <a:ext cx="11018520" cy="73152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4406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Which of these does your team run today, and how old is the data by the time an investigator sees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gleStore Template - Light">
  <a:themeElements>
    <a:clrScheme name="SingleStore Theme v2">
      <a:dk1>
        <a:srgbClr val="090909"/>
      </a:dk1>
      <a:lt1>
        <a:srgbClr val="FFFFFF"/>
      </a:lt1>
      <a:dk2>
        <a:srgbClr val="360061"/>
      </a:dk2>
      <a:lt2>
        <a:srgbClr val="F2F2F2"/>
      </a:lt2>
      <a:accent1>
        <a:srgbClr val="820DDF"/>
      </a:accent1>
      <a:accent2>
        <a:srgbClr val="D199FF"/>
      </a:accent2>
      <a:accent3>
        <a:srgbClr val="525252"/>
      </a:accent3>
      <a:accent4>
        <a:srgbClr val="4B47FF"/>
      </a:accent4>
      <a:accent5>
        <a:srgbClr val="FFCB2E"/>
      </a:accent5>
      <a:accent6>
        <a:srgbClr val="FF6C02"/>
      </a:accent6>
      <a:hlink>
        <a:srgbClr val="820DDF"/>
      </a:hlink>
      <a:folHlink>
        <a:srgbClr val="4B47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</Words>
  <Application>Microsoft Macintosh PowerPoint</Application>
  <PresentationFormat>Widescreen</PresentationFormat>
  <Paragraphs>417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</vt:lpstr>
      <vt:lpstr>Arial</vt:lpstr>
      <vt:lpstr>Roboto Medium</vt:lpstr>
      <vt:lpstr>Calibri</vt:lpstr>
      <vt:lpstr>SingleStore Template - Light</vt:lpstr>
      <vt:lpstr>Our shared goal: make one costly decision materially faster</vt:lpstr>
      <vt:lpstr>PowerPoint Presentation</vt:lpstr>
      <vt:lpstr>Turining journey friction into conversion action</vt:lpstr>
      <vt:lpstr>Identify revenue-impacting changes before customers feel them</vt:lpstr>
      <vt:lpstr>Reduce losses without blocking good customers</vt:lpstr>
      <vt:lpstr>Focus on evidence-based decisions, not evidence gathering.</vt:lpstr>
      <vt:lpstr>Prevent breaches before cases age out</vt:lpstr>
      <vt:lpstr>Provide earlier visibility into funding pressure</vt:lpstr>
      <vt:lpstr>Provide complete evidence and portfolio context before a decision</vt:lpstr>
      <vt:lpstr>Personalized insight that fits inside the product</vt:lpstr>
      <vt:lpstr>Your role determines the question, evidence, and stopping point</vt:lpstr>
      <vt:lpstr>Eight capabilities make each decision path credible, composable, and testable</vt:lpstr>
      <vt:lpstr>Tell–Show–Tell turns capabilities into a measurable decision story</vt:lpstr>
      <vt:lpstr>Trust requires explicit context, scoped access, inspectable evidence, and accountable humans</vt:lpstr>
      <vt:lpstr>Native APIs supply intelligence while your team owns the embedded experience</vt:lpstr>
      <vt:lpstr>Session formats keep one decision story while changing depth</vt:lpstr>
      <vt:lpstr>PowerPoint Presentation</vt:lpstr>
      <vt:lpstr>Six questions turn an interesting session into a shared business case</vt:lpstr>
      <vt:lpstr>Proceed, reshape, or stop based on testable value and feasibility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Analyst for Fintech: Decision Playbook</dc:title>
  <cp:lastModifiedBy>Kevin Ng</cp:lastModifiedBy>
  <cp:revision>2</cp:revision>
  <dcterms:modified xsi:type="dcterms:W3CDTF">2026-10-01T15:43:26Z</dcterms:modified>
</cp:coreProperties>
</file>