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which decision grows more valuable if time-to-know falls.
• Anchor on cost of delay before showing any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which conversion outcome has the highest value, the current baseline, and the event creating the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revenue thresholds, revenue-at-risk calculation, and upcoming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priority loss category, acceptable false-positive trade-off, and deadline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policy outcome at risk, backlog targets, and examination or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highest-exposure SLA, cost drivers, and volume or scrutiny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measure driving action, cost of delayed visibility, and settlement or funding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delayed decision stage, concentration thresholds, and review or policy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high-volume customer questions, the monetization behavior, and release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assets/wordmark_footer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82512"/>
            <a:ext cx="1225296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assets/wordmark_foot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82512"/>
            <a:ext cx="1225296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02920"/>
            <a:ext cx="11018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Discovery demos earn attention by making one costly decision materially faster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85216" y="178308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85216" y="214884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with a consequential customer decision, its current time-to-know, and the cost of delay.</a:t>
            </a:r>
            <a:endParaRPr lang="en-US" sz="1400" dirty="0"/>
          </a:p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the observable customer delta before selecting capabilities or screens.</a:t>
            </a:r>
            <a:endParaRPr lang="en-US" sz="1400" dirty="0"/>
          </a:p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business outcome, regulated risk, and technical feasibility from the first minute.</a:t>
            </a:r>
            <a:endParaRPr lang="en-US" sz="1400" dirty="0"/>
          </a:p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every business delta as a hypothesis until customer owners validate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205740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LATENCY: SIGNAL TO 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126480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Signal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63206" y="2935224"/>
            <a:ext cx="164592" cy="0"/>
          </a:xfrm>
          <a:prstGeom prst="line">
            <a:avLst/>
          </a:prstGeom>
          <a:noFill/>
          <a:ln w="15875">
            <a:solidFill>
              <a:srgbClr val="5252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527798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527798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Investigation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64524" y="2935224"/>
            <a:ext cx="164592" cy="0"/>
          </a:xfrm>
          <a:prstGeom prst="line">
            <a:avLst/>
          </a:prstGeom>
          <a:noFill/>
          <a:ln w="15875">
            <a:solidFill>
              <a:srgbClr val="5252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29116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29116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165842" y="2935224"/>
            <a:ext cx="164592" cy="0"/>
          </a:xfrm>
          <a:prstGeom prst="line">
            <a:avLst/>
          </a:prstGeom>
          <a:noFill/>
          <a:ln w="15875">
            <a:solidFill>
              <a:srgbClr val="5252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30434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330434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0" y="370332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CURRENT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922776"/>
            <a:ext cx="5440680" cy="310896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26480" y="392277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Days to weeks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48056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4700016"/>
            <a:ext cx="1849831" cy="310896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0" y="4700016"/>
            <a:ext cx="18498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Minutes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5166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Falling time-to-know is the demo's central promise.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02920"/>
            <a:ext cx="11018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modular system connects eight customer decisions to eight reusable proofs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691640"/>
            <a:ext cx="11018520" cy="12802"/>
          </a:xfrm>
          <a:prstGeom prst="rect">
            <a:avLst/>
          </a:prstGeom>
          <a:solidFill>
            <a:srgbClr val="2A2A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85216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ANCHORS — CUSTOMER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23957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5216" y="239572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2395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Funnel Performance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" y="28300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5216" y="283006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5216" y="28300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8300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Performance Management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" y="32644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5216" y="326440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85216" y="32644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3264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Strategy Optimization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" y="369874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85216" y="369874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5216" y="36987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36987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Crime Operations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" y="413308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85216" y="413308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5216" y="41330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133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Dispute Operations Performance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" y="45674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85216" y="456742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5216" y="45674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45674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Liquidity and Funding Management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85216" y="50017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85216" y="500176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5216" y="50017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98448" y="5001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and Exposure Management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85216" y="54361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85216" y="543610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85216" y="54361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98448" y="54361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Insights Strategy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031736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CB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PROOFS — REUSABLE CAPABILITIES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31736" y="23957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031736" y="239572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031736" y="2395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44968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Drill-Down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031736" y="28300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031736" y="283006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031736" y="28300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44968" y="28300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Event Impact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031736" y="32644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031736" y="326440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031736" y="32644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44968" y="3264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Answer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031736" y="369874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031736" y="369874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031736" y="36987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44968" y="36987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Governed Business Context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031736" y="413308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031736" y="413308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031736" y="41330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744968" y="4133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Access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031736" y="45674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031736" y="456742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031736" y="45674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744968" y="45674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Streaming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7031736" y="50017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031736" y="500176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031736" y="50017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P7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44968" y="5001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Integration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7031736" y="54361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7031736" y="543610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031736" y="54361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744968" y="54361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Decision View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5157216" y="257860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5157216" y="301294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5157216" y="344728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5157216" y="388162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5157216" y="431596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5157216" y="475030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5157216" y="518464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5157216" y="561898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585216" y="6355080"/>
            <a:ext cx="11018520" cy="914"/>
          </a:xfrm>
          <a:prstGeom prst="rect">
            <a:avLst/>
          </a:prstGeom>
          <a:solidFill>
            <a:srgbClr val="0B0B0F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585216" y="598932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 each path:  </a:t>
            </a:r>
            <a:pPr algn="ctr" indent="0" marL="0">
              <a:buNone/>
            </a:pPr>
            <a:r>
              <a:rPr lang="en-US" sz="13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Anchor</a:t>
            </a:r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CB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Proof</a:t>
            </a:r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 value</a:t>
            </a:r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Validated delta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Digital Banking needs to turn journey friction into conversion action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Intent Earlier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Digital Banking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digital account-opening conversion and act on customer intent before opportunities are lost.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reporting delays intervention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Onboarding, behavioral, and relationship data stay disconnected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Manual-review friction and affected cohorts are hard to isolate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[campaign, product release, or planning date], because findings must inform the next journey or investment decision.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the funnel by step and channel in natural language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straight-through and manual-review journeys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relationship-aware abandonment or intent cohorts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governed results as tables, charts, and supporting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Question-to-answer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requests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Completion rate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Payments needs to identify revenue-impacting changes before customers feel them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Protect Every Payment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Payments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payment revenue and customer experience by keeping approval rates and latency within thresholds.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reports expose changes too late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Processor, rail, merchant, region, and decline data are fragmented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cannot quickly isolate the affected window and segment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[peak-volume event, processor migration, or contract renewal], because performance must be validated before the commercial commitment.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hourly approval, latency, and decline trends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the affected period with a baseline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processors and rails by performance change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into merchant category, region, and response code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the query without executing payment actions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at risk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Investigation time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 hrs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 min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Fraud Strategy needs to reduce losses without blocking good customers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Trace Loss Faster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Fraud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fraud loss while controlling false positives and preserving legitimate revenue.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Fraud-type reporting obscures cross-channel patterns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Investigators lack merchant, device, account-age, and velocity context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segmentation delays response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[seasonal peak, product launch, or fraud-strategy review], because controls must be validated before exposure increases.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fraud loss and false-positive rates by segment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across channel, merchant, device, account age, velocity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an evidence-rich cohort for investigator review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supporting query and source data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 human case decisions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loss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positives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Pattern-isolation time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AML Operations needs reviewers working evidence, not gathering it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Assemble Evidence Faster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AML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alerts within policy while improving review quality and preserving human disposition.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Reviewers manually gather transactions, entities, counterparties, history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Aging backlogs obscure consequential cohorts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Fragmented evidence raises effort and inconsistent escalation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[regulatory examination, policy review, or backlog milestone], because operations must show policy adherence and sufficient capacity.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backlog by age, rule, risk band, and queue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cohorts with customer-defined criteria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 linked transactions, entities, counterparties, prior activity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scoped access and inspectable evidence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structured evidence without recommending disposition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 alert 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Cases per reviewer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Disputes Operations needs to prevent breaches before cases age out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Resolve Cases Earlier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Disputes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 disputes within SLA at lower cost while protecting customer trust.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Queue, transaction, contact, and credit data sit in separate systems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Totals do not explain breach risk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manually reconstruct customer and case timelines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[peak dispute period, SLA review, or regulatory milestone], because capacity must be in place before case volume increases.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disputes approaching SLA breach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drivers by reason, age, volume, and workload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transaction, contact, credit, and case events into one timeline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Preserve decision context for reuse and audit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 authorized human resolution and credit decisions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 breaches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case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Corporate Treasurer needs earlier visibility into funding pressure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Funding Pressure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Corporate Treasurer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sufficient liquidity and meet settlement obligations at the lowest practical funding cost.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Positions, settlements, queued payments, forecasts use separate reports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and expected cash diverge without explanation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Reconciliation delays conceal funding pressure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[peak settlement cycle, funding window, or reporting date], because treasury needs time to act before obligations become exceptions.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current positions by entity and currency with freshness timestamps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actual cash flow with forecast and rank variance drivers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payments inside the next funding window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new-event impact on liquidity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scoped access without releasing or stopping payments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 freshness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Reconciliation 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funding cost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Credit Officer needs complete evidence and portfolio context before a decision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Context Before Decision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Credit Officer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timely, policy-compliant credit decisions while controlling concentration risk.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Applicant evidence and portfolio exposure reside in separate tools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evidence and manual review increase backlog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Concentration by industry, geography, and risk grade is hard to assess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[portfolio review, policy update, examination, or planning date], because leadership must show timely decisions and controlled exposure.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review volume, backlog, manual-review rate, and decision time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submitted evidence and flag missing items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requested exposure with current portfolio concentration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Domain context, scoped access, supporting evidence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Exclude approval, decline, pricing, and policy decisions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Missing-evidence cases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Concentration off policy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Product Officer needs personalized insight that fits inside the product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Explain Engage Monetize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Product Officer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digital engagement and monetization through trusted, personalized financial explanations.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lack context for changes in financial activity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repeatedly answers common analytical questions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experiences need scoped data, continuity, security, disclosures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[digital release or premium-product launch], because security, disclosures, experience design, and measurement must be validated before rollout.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 Aura Analyst through /chat with SSE streaming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 contextual multi-turn sessions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 answers to the authenticated customer's Domain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explanations with relevant data and charts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/query for structured output; fintech owns UI and actions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deflection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adoption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 selection determines the question, evidence, and stopping point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1691640"/>
            <a:ext cx="3529584" cy="379476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5216" y="1691640"/>
            <a:ext cx="3529584" cy="566928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16916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Business personas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growth, conversion, margin, liquidity, and decision speed.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" y="3657600"/>
            <a:ext cx="3090672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04672" y="3813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Preferred proofs: P1, P2, P8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4434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signal: faster, higher-value decisions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34256" y="1691640"/>
            <a:ext cx="3529584" cy="379476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334256" y="1691640"/>
            <a:ext cx="3529584" cy="566928"/>
          </a:xfrm>
          <a:prstGeom prst="rect">
            <a:avLst/>
          </a:prstGeom>
          <a:solidFill>
            <a:srgbClr val="4B47FF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8379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01184" y="16916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Risk personas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53712" y="24414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evidence, policy context, access scope, explainability, and accountable ownership.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53712" y="3657600"/>
            <a:ext cx="3090672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553712" y="3813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Preferred proofs: P3, P4, P5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53712" y="4434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signal: defensible, inspectable decisions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83296" y="1691640"/>
            <a:ext cx="3529584" cy="379476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083296" y="1691640"/>
            <a:ext cx="3529584" cy="566928"/>
          </a:xfrm>
          <a:prstGeom prst="rect">
            <a:avLst/>
          </a:prstGeom>
          <a:solidFill>
            <a:srgbClr val="FF6C02"/>
          </a:solidFill>
          <a:ln/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83794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50224" y="16916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personas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02752" y="24414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data paths, latency, concurrency, integration contracts, and operational boundaries.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302752" y="3657600"/>
            <a:ext cx="3090672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8302752" y="3813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Preferred proofs: P6, P7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02752" y="4434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signal: feasible, ownable integration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85216" y="571500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Choose one primary persona and no more than two supporting personas.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Domain and access views only when they prove how context and permissions shape the decision.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Eight proofs make each decision path credible, composable, and testable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8521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1984248"/>
            <a:ext cx="2697480" cy="18288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521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Drill-Down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Investigative speed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Event Impact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6557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TRUST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65576" y="1984248"/>
            <a:ext cx="2697480" cy="18288"/>
          </a:xfrm>
          <a:prstGeom prst="rect">
            <a:avLst/>
          </a:prstGeom>
          <a:solidFill>
            <a:srgbClr val="4B47F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46557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1188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1188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Transparent Answer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1188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Inspectability, not guaranteed correctness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6557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1188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1188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Governed Business Context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1188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Configured business context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4593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5936" y="1984248"/>
            <a:ext cx="2697480" cy="18288"/>
          </a:xfrm>
          <a:prstGeom prst="rect">
            <a:avLst/>
          </a:prstGeom>
          <a:solidFill>
            <a:srgbClr val="FF6C0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4593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9224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Scoped Access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Configured permissions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4593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9224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Embedded Streaming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9224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/chat, SSE, sessions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2629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6006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REUSE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26296" y="1984248"/>
            <a:ext cx="2697480" cy="18288"/>
          </a:xfrm>
          <a:prstGeom prst="rect">
            <a:avLst/>
          </a:prstGeom>
          <a:solidFill>
            <a:srgbClr val="360061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22629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37260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6006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37260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Structured Integration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37260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/query, structured JSON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2629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37260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6006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37260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Reusable Decision View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37260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use and validation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Tell–Show–Tell turns a capability demonstration into a measurable decision story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1828800"/>
            <a:ext cx="3383280" cy="2011680"/>
          </a:xfrm>
          <a:prstGeom prst="rect">
            <a:avLst/>
          </a:prstGeom>
          <a:solidFill>
            <a:srgbClr val="F5F3F7"/>
          </a:solidFill>
          <a:ln w="12700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85216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" y="26060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the decision, baseline time-to-know, consequence, and hypothesized delta.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68496" y="2834640"/>
            <a:ext cx="548640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17136" y="1828800"/>
            <a:ext cx="3383280" cy="2011680"/>
          </a:xfrm>
          <a:prstGeom prst="rect">
            <a:avLst/>
          </a:prstGeom>
          <a:solidFill>
            <a:srgbClr val="F5F3F7"/>
          </a:solidFill>
          <a:ln w="12700">
            <a:solidFill>
              <a:srgbClr val="4B47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17136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91456" y="26060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one anchor-led path using only the proofs required to reach evidence.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00416" y="2834640"/>
            <a:ext cx="548640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49056" y="1828800"/>
            <a:ext cx="3383280" cy="2011680"/>
          </a:xfrm>
          <a:prstGeom prst="rect">
            <a:avLst/>
          </a:prstGeom>
          <a:solidFill>
            <a:srgbClr val="F5F3F7"/>
          </a:solidFill>
          <a:ln w="12700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49056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23376" y="26060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what changed, who acts, and which customer-owned metric validates value.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11018520" cy="1600200"/>
          </a:xfrm>
          <a:prstGeom prst="rect">
            <a:avLst/>
          </a:prstGeom>
          <a:solidFill>
            <a:srgbClr val="F7F4FB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5262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 THE BEFORE-AND-AFTER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Investigation time and handoffs</a:t>
            </a:r>
            <a:endParaRPr lang="en-US" sz="1200" dirty="0"/>
          </a:p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retrieval effort</a:t>
            </a:r>
            <a:endParaRPr lang="en-US" sz="1200" dirty="0"/>
          </a:p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Decision-cycle duration</a:t>
            </a:r>
            <a:endParaRPr lang="en-US" sz="1200" dirty="0"/>
          </a:p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Avoided rework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5262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KEEP THE STORY TIGHT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anything that does not strengthen the decision-to-delta argument. Every proof shown must move the before-and-after time gauge.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Trust requires explicit context, scoped access, inspectable evidence, and accountable humans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1783080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5216" y="1783080"/>
            <a:ext cx="82296" cy="1024128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9397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Domain context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19202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weak or missing Domain context visible rather than implying universal accuracy.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2916936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85216" y="2916936"/>
            <a:ext cx="82296" cy="1024128"/>
          </a:xfrm>
          <a:prstGeom prst="rect">
            <a:avLst/>
          </a:prstGeom>
          <a:solidFill>
            <a:srgbClr val="4B47FF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278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16936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Scoped access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305409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scoped access rather than claiming universal governance; it depends on configuration, identity, policy, and deployment.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85216" y="4050792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85216" y="4050792"/>
            <a:ext cx="82296" cy="1024128"/>
          </a:xfrm>
          <a:prstGeom prst="rect">
            <a:avLst/>
          </a:prstGeom>
          <a:solidFill>
            <a:srgbClr val="FF6C02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6168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Inspectable evidence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480560" y="418795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inspectability to support review without presenting it as guaranteed correctness.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85216" y="5184648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585216" y="5184648"/>
            <a:ext cx="82296" cy="1024128"/>
          </a:xfrm>
          <a:prstGeom prst="rect">
            <a:avLst/>
          </a:prstGeom>
          <a:solidFill>
            <a:srgbClr val="360061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9554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84648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Human ownership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480560" y="5321808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regulated decisions with accountable humans; Preview capabilities are not autonomous controls.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Native APIs supply intelligence while customer engineering owns the embedded experience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1737360"/>
            <a:ext cx="5212080" cy="3977640"/>
          </a:xfrm>
          <a:prstGeom prst="rect">
            <a:avLst/>
          </a:prstGeom>
          <a:solidFill>
            <a:srgbClr val="F7F4FB"/>
          </a:solidFill>
          <a:ln w="12700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5216" y="1737360"/>
            <a:ext cx="5212080" cy="54864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3816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Native Aura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/chat provides conversation, SSE streaming, and session continuity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/query provides structured JSON for downstream rendering and integration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includes Aura Analyst and API response patterns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capabilities remain Preview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91656" y="1737360"/>
            <a:ext cx="5212080" cy="3977640"/>
          </a:xfrm>
          <a:prstGeom prst="rect">
            <a:avLst/>
          </a:prstGeom>
          <a:solidFill>
            <a:srgbClr val="F5F3F7"/>
          </a:solidFill>
          <a:ln w="12700">
            <a:solidFill>
              <a:srgbClr val="52525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391656" y="1737360"/>
            <a:ext cx="5212080" cy="548640"/>
          </a:xfrm>
          <a:prstGeom prst="rect">
            <a:avLst/>
          </a:prstGeom>
          <a:solidFill>
            <a:srgbClr val="5252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0256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Customer-owned experience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0256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UI and workflow actions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Telemetry and downstream orchestration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Security, disclosures, and approved actions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Engineering, product, security, and operational work beyond the intelligence layer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97296" y="3726180"/>
            <a:ext cx="594360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dash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97296" y="34701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boundary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" y="589788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delivery is a joint effort: native intelligence plus customer engineering, product, security, and operations.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2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Variable-length recipes preserve one decision spine while changing proof depth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3337560"/>
            <a:ext cx="2084832" cy="2011680"/>
          </a:xfrm>
          <a:prstGeom prst="rect">
            <a:avLst/>
          </a:prstGeom>
          <a:solidFill>
            <a:srgbClr val="F7F4FB"/>
          </a:solidFill>
          <a:ln w="9525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5216" y="333756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33375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04488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persona, one anchor, one proof, and one delta hypothesis.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6352" y="2834640"/>
            <a:ext cx="2084832" cy="2514600"/>
          </a:xfrm>
          <a:prstGeom prst="rect">
            <a:avLst/>
          </a:prstGeom>
          <a:solidFill>
            <a:srgbClr val="EFE6FB"/>
          </a:solidFill>
          <a:ln w="9525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16352" y="283464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16352" y="2834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 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62656" y="3401568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anchor, two proofs, Tell–Show–Tell, and one measurable delta.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47488" y="2331720"/>
            <a:ext cx="2084832" cy="3017520"/>
          </a:xfrm>
          <a:prstGeom prst="rect">
            <a:avLst/>
          </a:prstGeom>
          <a:solidFill>
            <a:srgbClr val="E7D8FB"/>
          </a:solidFill>
          <a:ln w="9525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47488" y="233172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47488" y="23317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15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898648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and supporting personas, one anchor, three proofs, and the native-versus-custom boundary.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78624" y="1828800"/>
            <a:ext cx="2084832" cy="3520440"/>
          </a:xfrm>
          <a:prstGeom prst="rect">
            <a:avLst/>
          </a:prstGeom>
          <a:solidFill>
            <a:srgbClr val="D9BFF6"/>
          </a:solidFill>
          <a:ln w="9525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78624" y="182880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78624" y="1828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25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4928" y="2395728"/>
            <a:ext cx="17922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related anchors, all three persona perspectives, an API path, guardrails, and a validation plan.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09760" y="1325880"/>
            <a:ext cx="2084832" cy="4023360"/>
          </a:xfrm>
          <a:prstGeom prst="rect">
            <a:avLst/>
          </a:prstGeom>
          <a:solidFill>
            <a:srgbClr val="CBA8F2"/>
          </a:solidFill>
          <a:ln w="9525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09760" y="132588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09760" y="13258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6064" y="1892808"/>
            <a:ext cx="179222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Discovery-led assembly, architecture review, ownership mapping, delta validation, and a workshop gate.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" y="594360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and audience coverage increase from left to right; the decision spine stays constant.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Recommended module combinations cover common fintech buying conversations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2A2A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85216" y="16916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79776" y="16916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D199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907792" y="16916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A1 Digital Funnel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11368" y="20848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775960" y="16916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D199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03976" y="16916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 Conversational Drill-Down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07552" y="20848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772144" y="16916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D199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00160" y="16916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P8 Reusable Decision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" y="26060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CB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79776" y="26060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CB2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07792" y="26060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A2 Payment Performance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11368" y="29992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775960" y="26060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CB2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03976" y="26060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P2 Live Event Impact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07552" y="29992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772144" y="26060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CB2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00160" y="26060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P6 Embedded Streaming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" y="35204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Financial crime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79776" y="35204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6C0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07792" y="35204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A3 Fraud Strategy Optimization / A4 Financial Crime Operations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11368" y="39136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775960" y="35204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6C0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03976" y="35204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P3 Transparent Answer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07552" y="39136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772144" y="35204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6C0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900160" y="35204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P5 Scoped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" y="44348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79776" y="44348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4B47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07792" y="44348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A5 Dispute Operations Performance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11368" y="48280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775960" y="44348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4B47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03976" y="44348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P4 Governed Business Context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07552" y="48280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772144" y="44348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4B47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900160" y="44348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P8 Reusable Decision View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" y="53492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Embedded product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79776" y="53492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907792" y="53492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A8 Embedded Insights Strategy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11368" y="57424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775960" y="53492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03976" y="53492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P6 Embedded Streaming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07552" y="57424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772144" y="53492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900160" y="53492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P7 Structured Integration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Situation-slide discovery turns an interesting demo into a qualified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3574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63574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one specific job title, not a department or broad persona.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3996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55164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33522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33522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46604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4892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the CBI and the problems preventing progress.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23944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25112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903470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03470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16552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the reasons progress stalls today.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93892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95060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773418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7341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86500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4788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only the capabilities the prospect calls must-have.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065008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643366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43366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56448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74736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 with customer-owned baselines, targets, and methods.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33788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934956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13314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513314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26396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44684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 to a consequential business, regulatory, product, or operating event.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" y="489204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link must hold before the opportunity is qualified.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Proceed, reshape, or stop based on testable value and feasibility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" y="1828800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5216" y="1828800"/>
            <a:ext cx="82296" cy="96012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anchor, primary job title, decision owner, consequential question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" y="2898648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85216" y="2898648"/>
            <a:ext cx="82296" cy="96012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6384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32826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and events, Domain context, API 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3968496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85216" y="3968496"/>
            <a:ext cx="82296" cy="96012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4078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43525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Access, engineering needs, ownership boundaries, governance dependencies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" y="5038344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5216" y="5038344"/>
            <a:ext cx="82296" cy="96012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5148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5422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proofs, customer-owned success evidence, delta assumptions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651760"/>
            <a:ext cx="1828800" cy="1554480"/>
          </a:xfrm>
          <a:prstGeom prst="rect">
            <a:avLst/>
          </a:prstGeom>
          <a:solidFill>
            <a:srgbClr val="820DD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gate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0016" y="3429000"/>
            <a:ext cx="329184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06640" y="1828800"/>
            <a:ext cx="418795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820DD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0" y="1828800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Proceed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validation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3429000"/>
            <a:ext cx="54864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dot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06640" y="3008376"/>
            <a:ext cx="418795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6C0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80960" y="3008376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Reshape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hypothesis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0" y="3429000"/>
            <a:ext cx="54864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dot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06640" y="4187952"/>
            <a:ext cx="418795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2525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680960" y="4187952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Stop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disqualify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3429000"/>
            <a:ext cx="54864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dot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85216" y="580644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inspectability limits, human accountability, and Preview status before deciding.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Aura Analyst Modular Demo Playbook</dc:title>
  <dc:subject>PptxGenJS Presentation</dc:subject>
  <dc:creator>SingleStore</dc:creator>
  <cp:lastModifiedBy>SingleStore</cp:lastModifiedBy>
  <cp:revision>1</cp:revision>
  <dcterms:created xsi:type="dcterms:W3CDTF">2026-07-25T09:02:11Z</dcterms:created>
  <dcterms:modified xsi:type="dcterms:W3CDTF">2026-07-25T09:02:11Z</dcterms:modified>
</cp:coreProperties>
</file>